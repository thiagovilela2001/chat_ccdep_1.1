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2" r:id="rId3"/>
    <p:sldMasterId id="214748370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Abertura (30 s). Boa tarde a todos. Esta apresentação trata da Nadia, o aplicativo de consulta documental desenvolvido no projeto RAG CCDEP.</a:t>
            </a:r>
          </a:p>
          <a:p/>
          <a:p>
            <a:r>
              <a:t>O percurso tem três partes: primeiro explico o que é RAG, o método que sustenta o aplicativo; em seguida conto como o projeto foi desenvolvido, o que travou no caminho e o que aprendemos; por fim, mostro a Nadia em funcionamento, com a interface real.</a:t>
            </a:r>
          </a:p>
          <a:p/>
          <a:p>
            <a:r>
              <a:t>Peço que guardem uma distinção que vou repetir ao longo de toda a fala: há coisas já implementadas, coisas já demonstradas e coisas que ainda dependem de validação. Vou marcar cada uma delas.</a:t>
            </a:r>
          </a:p>
          <a:p/>
          <a:p>
            <a:r>
              <a:t>Transição: começo situando o problema que motivou o projeto.</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Roteiro (30 s). Organizei a fala em três blocos, do conceito ao produto.</a:t>
            </a:r>
          </a:p>
          <a:p/>
          <a:p>
            <a:r>
              <a:t>No primeiro, explico o método. Pode parecer básico para parte da plateia, mas é o que permite julgar, mais adiante, se as decisões técnicas foram razoáveis.</a:t>
            </a:r>
          </a:p>
          <a:p/>
          <a:p>
            <a:r>
              <a:t>No segundo, abro o processo de desenvolvimento: o que travou, o que funcionou e o que mudamos por causa disso.</a:t>
            </a:r>
          </a:p>
          <a:p/>
          <a:p>
            <a:r>
              <a:t>No terceiro, mostro a Nadia na tela, com perguntas reais e respostas reais.</a:t>
            </a:r>
          </a:p>
          <a:p/>
          <a:p>
            <a:r>
              <a:t>Ao fim de cada bloco há um quadro de status, para que ninguém saia daqui confundindo o que já existe com o que ainda é promessa.</a:t>
            </a:r>
          </a:p>
          <a:p/>
          <a:p>
            <a:r>
              <a:t>Transição: antes do conceito, o problema concreto que originou o projeto.</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 problema (50 s). Comecemos pelo que existe hoje.</a:t>
            </a:r>
          </a:p>
          <a:p/>
          <a:p>
            <a:r>
              <a:t>Quem trabalha com estatística pública em São Paulo conhece esta cena: a pergunta do gestor, do jornalista ou do pesquisador chega em linguagem natural, mas a resposta está espalhada em boletins trimestrais diferentes.</a:t>
            </a:r>
          </a:p>
          <a:p/>
          <a:p>
            <a:r>
              <a:t>A pergunta do quadro à direita é real e é do nosso conjunto de teste. Repare no que ela exige: encontrar o boletim do primeiro trimestre de 2024, localizar a tabela de PIB, respeitar o ajuste sazonal e ainda dizer de onde veio o número. São quatro operações distintas para uma frase.</a:t>
            </a:r>
          </a:p>
          <a:p/>
          <a:p>
            <a:r>
              <a:t>A conferência manual disso é lenta. É exatamente esse custo que o projeto ataca.</a:t>
            </a:r>
          </a:p>
          <a:p/>
          <a:p>
            <a:r>
              <a:t>Uma observação importante sobre o escopo: a proposta não é substituir o dado original nem o trabalho do analista. É aproximar a pergunta das evidências publicadas, com rastreabilidade.</a:t>
            </a:r>
          </a:p>
          <a:p/>
          <a:p>
            <a:r>
              <a:t>Transição: para fazer isso, precisamos de um método. É o RAG.</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Definição (60 s). Fixemos o conceito com uma frase: RAG é recuperar primeiro, gerar depois.</a:t>
            </a:r>
          </a:p>
          <a:p/>
          <a:p>
            <a:r>
              <a:t>A comparação das duas colunas é o coração da ideia. À esquerda, o comportamento usual de um assistente: ele responde com o que memorizou durante o treinamento. Para estatística pública isso é um problema grave, porque o dado tem data, tem revisão e tem periodicidade.</a:t>
            </a:r>
          </a:p>
          <a:p/>
          <a:p>
            <a:r>
              <a:t>À direita, o modelo recebe trechos do nosso acervo e escreve a partir deles. Ganhamos três coisas: atualização sem retreinar, rastreabilidade e aderência ao documento oficial.</a:t>
            </a:r>
          </a:p>
          <a:p/>
          <a:p>
            <a:r>
              <a:t>A analogia que costumo usar é a do pesquisador: sem RAG, ele responde de cabeça; com RAG, ele vai ao arquivo, separa as páginas certas e só então escreve — mostrando de onde tirou cada número.</a:t>
            </a:r>
          </a:p>
          <a:p/>
          <a:p>
            <a:r>
              <a:t>Transição: vejamos como esse fluxo se organiza em etapas.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Funcionamento (70 s). O fluxo tem quatro etapas.</a:t>
            </a:r>
          </a:p>
          <a:p/>
          <a:p>
            <a:r>
              <a:t>Na preparação, os documentos são lidos e divididos em trechos. Aqui aparece a primeira especificidade do nosso acervo: texto e tabela não podem receber o mesmo tratamento, porque uma tabela fatiada perde justamente o alinhamento entre linha e coluna.</a:t>
            </a:r>
          </a:p>
          <a:p/>
          <a:p>
            <a:r>
              <a:t>Na indexação, cada trecho vira um vetor — uma representação numérica de significado — e entra no índice.</a:t>
            </a:r>
          </a:p>
          <a:p/>
          <a:p>
            <a:r>
              <a:t>Na recuperação, a pergunta do usuário é transformada do mesmo modo e comparada com os trechos.</a:t>
            </a:r>
          </a:p>
          <a:p/>
          <a:p>
            <a:r>
              <a:t>Na geração, o modelo escreve a resposta. E aqui está o ponto que eu quero sublinhar, no quadro azul: o modelo não recebe a pergunta sozinha, recebe a pergunta mais os trechos. É essa diferença que permite exigir citação e conferir o número.</a:t>
            </a:r>
          </a:p>
          <a:p/>
          <a:p>
            <a:r>
              <a:t>Transição: com o fluxo claro, vejamos como ele foi aplicado a documentos estatísticos.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Preparação (70 s). Esta etapa costuma ser tratada como trabalho braçal, e no nosso caso ela decidiu a qualidade de tudo o que veio depois.</a:t>
            </a:r>
          </a:p>
          <a:p/>
          <a:p>
            <a:r>
              <a:t>O acervo é composto pelos Boletins de Conjuntura Paulista, do SEADE, cobrindo 2020 a 2025 — cerca de 22 arquivos. São PDFs que misturam análise escrita, tabelas e gráficos.</a:t>
            </a:r>
          </a:p>
          <a:p/>
          <a:p>
            <a:r>
              <a:t>A decisão mais importante está no terceiro item da coluna da esquerda: separar formatos. Texto narrativo e tabela não podem seguir o mesmo caminho.</a:t>
            </a:r>
          </a:p>
          <a:p/>
          <a:p>
            <a:r>
              <a:t>O bloco da direita explica por quê. Se você fatia uma tabela como se fosse parágrafo, o número se descola do cabeçalho e do período — e um número sem período é um número errado em estatística.</a:t>
            </a:r>
          </a:p>
          <a:p/>
          <a:p>
            <a:r>
              <a:t>O segundo ponto é o que viabiliza tudo o que vem depois: cada trecho guarda o arquivo e a página de origem desde a preparação. Sem esse metadado, a citação final seria impossível.</a:t>
            </a:r>
          </a:p>
          <a:p/>
          <a:p>
            <a:r>
              <a:t>Transição: com o acervo preparado, vejamos como a pergunta é traduzida em busca.</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 pergunta à busca (60 s). Esta etapa é onde a maior parte dos sistemas de busca falha em acervo técnico.</a:t>
            </a:r>
          </a:p>
          <a:p/>
          <a:p>
            <a:r>
              <a:t>O fluxo da esquerda mostra que a pergunta não vai direto para o índice. Ela é interpretada: identificamos indicador, território e período. Depois é reescrita com termos que existem no acervo. Só então a consulta é feita.</a:t>
            </a:r>
          </a:p>
          <a:p/>
          <a:p>
            <a:r>
              <a:t>Os dois quadros da direita explicam por que isso é necessário. O primeiro é o desencontro de vocabulário: o cidadão pergunta por “desemprego”, o boletim técnico escreve “taxa de desocupação”. Uma busca literal falha; uma busca por significado encontra.</a:t>
            </a:r>
          </a:p>
          <a:p/>
          <a:p>
            <a:r>
              <a:t>O segundo é a vaguidade. Se a pergunta não diz o período, a busca devolve trechos plausíveis, mas possivelmente do trimestre errado. E um número de outro trimestre, apresentado sem essa marcação, é pior do que nenhuma resposta.</a:t>
            </a:r>
          </a:p>
          <a:p/>
          <a:p>
            <a:r>
              <a:t>É por isso que interpretar antes de buscar não é refinamento — é requisito.</a:t>
            </a:r>
          </a:p>
          <a:p/>
          <a:p>
            <a:r>
              <a:t>Transição: essas duas buscas complementares têm nome e são a base da nossa recuperação.</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Tipos de RAG (80 s). Nem todo RAG é igual. A tabela compara quatro configurações pelo modo de recuperar.</a:t>
            </a:r>
          </a:p>
          <a:p/>
          <a:p>
            <a:r>
              <a:t>O RAG simples faz uma busca vetorial e pronto. Funciona bem quando a resposta cabe em um trecho. É o ponto de partida correto, e foi o nosso.</a:t>
            </a:r>
          </a:p>
          <a:p/>
          <a:p>
            <a:r>
              <a:t>O RAG avançado acrescenta a busca híbrida e a reordenação. É a resposta ao problema de vocabulário que vimos no slide anterior.</a:t>
            </a:r>
          </a:p>
          <a:p/>
          <a:p>
            <a:r>
              <a:t>O RAG modular vai além: em vez de consultar tudo, roteia a pergunta para o recuperador adequado. É o que permite tratar tabela e série temporal com o cuidado que cada uma exige.</a:t>
            </a:r>
          </a:p>
          <a:p/>
          <a:p>
            <a:r>
              <a:t>O RAG agêntico deixa o modelo decidir os passos. Ganha flexibilidade em perguntas complexas e perde em previsibilidade e latência — o que, para um serviço público, é uma troca que precisa ser justificada.</a:t>
            </a:r>
          </a:p>
          <a:p/>
          <a:p>
            <a:r>
              <a:t>Peço atenção à linha final: a diferença entre esses tipos se resume a duas decisões — como recuperar e quem decide parar.</a:t>
            </a:r>
          </a:p>
          <a:p/>
          <a:p>
            <a:r>
              <a:t>Transição: vejamos o que isso significa em um número concreto.</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Exemplo (60 s). Vamos aplicar o conceito a um caso concreto, que é também o primeiro exemplo que a Nadia responde na demonstração.</a:t>
            </a:r>
          </a:p>
          <a:p/>
          <a:p>
            <a:r>
              <a:t>A pergunta está no topo. Os cinco passos mostram o caminho.</a:t>
            </a:r>
          </a:p>
          <a:p/>
          <a:p>
            <a:r>
              <a:t>O passo 1 é restrição de período. Sem ele, a busca pode trazer o boletim do trimestre errado.</a:t>
            </a:r>
          </a:p>
          <a:p/>
          <a:p>
            <a:r>
              <a:t>O passo 2 é a recuperação, e note que ela traz dois materiais diferentes: o texto que analisa e a tabela que contém o número.</a:t>
            </a:r>
          </a:p>
          <a:p/>
          <a:p>
            <a:r>
              <a:t>O passo 3 monta o contexto unificado — isso é o que garante que o modelo veja o valor junto com sua unidade e seu período.</a:t>
            </a:r>
          </a:p>
          <a:p/>
          <a:p>
            <a:r>
              <a:t>O passo 4 é a redação, já com a citação.</a:t>
            </a:r>
          </a:p>
          <a:p/>
          <a:p>
            <a:r>
              <a:t>O passo 5 é a conferência: o valor é checado contra o dado recuperado.</a:t>
            </a:r>
          </a:p>
          <a:p/>
          <a:p>
            <a:r>
              <a:t>O quadro azul resume o padrão que perseguimos: a resposta não é só o número. É o número com o período de comparação e com a fonte.</a:t>
            </a:r>
          </a:p>
          <a:p/>
          <a:p>
            <a:r>
              <a:t>Transição: com o método compreendido, passemos ao que aconteceu quando tentamos implementá-lo.</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 ponto de partida (55 s). Antes das dificuldades, é justo dizer o que existe.</a:t>
            </a:r>
          </a:p>
          <a:p/>
          <a:p>
            <a:r>
              <a:t>A decisão inicial foi começar simples: um pipeline linear de cinco passos. A tentação, em projeto de IA, é começar pelo componente sofisticado. Optamos pelo contrário — primeiro fazer a base funcionar ponta a ponta, para depois sofisticar.</a:t>
            </a:r>
          </a:p>
          <a:p/>
          <a:p>
            <a:r>
              <a:t>O resultado está na coluna da esquerda: extração de texto e tabela, índice vetorial local no ChromaDB, recuperação híbrida com reordenação, resposta com arquivo e página, e dois modos de uso — serviço HTTP e linha de comando.</a:t>
            </a:r>
          </a:p>
          <a:p/>
          <a:p>
            <a:r>
              <a:t>A coluna da direita mostra o desenho. Repare que a validação é um passo próprio, e não um detalhe embutido na geração. Isso foi uma escolha, e vou justificá-la adiante.</a:t>
            </a:r>
          </a:p>
          <a:p/>
          <a:p>
            <a:r>
              <a:t>Transição: com a base definida, vejamos onde ela travou.</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Dificuldades (75 s). Esta é a parte que costuma ser omitida em apresentações de projeto, e é a mais útil.</a:t>
            </a:r>
          </a:p>
          <a:p/>
          <a:p>
            <a:r>
              <a:t>O primeiro gargalo é a extração de tabela. Um boletim estatístico não é um texto com tabelas anexas: é uma página em que texto e tabela compartilham o espaço. Quando a extração automática falha, ela não falha ruidosamente — devolve algo plausível e errado. Esse é o pior tipo de falha.</a:t>
            </a:r>
          </a:p>
          <a:p/>
          <a:p>
            <a:r>
              <a:t>O segundo é conceitual. Em estatística, o número isolado não significa nada. Ele precisa do período, do recorte territorial e da unidade. Um sistema que devolve “0,4%” sem dizer 0,4% de quê, contra quando, já falhou.</a:t>
            </a:r>
          </a:p>
          <a:p/>
          <a:p>
            <a:r>
              <a:t>O terceiro é vocabulário. Cidadão e técnico falam línguas diferentes.</a:t>
            </a:r>
          </a:p>
          <a:p/>
          <a:p>
            <a:r>
              <a:t>O quarto é o acervo: alguns arquivos trazem o período no nome, outros não. Isso não é um problema de código, é um problema de dado — e nenhum modelo resolve isso sozinho.</a:t>
            </a:r>
          </a:p>
          <a:p/>
          <a:p>
            <a:r>
              <a:t>O quinto é honestidade sobre desempenho: as respostas que capturamos levaram entre quarenta e quarenta e seis segundos. Não é instantâneo, e não vou apresentar como se fosse.</a:t>
            </a:r>
          </a:p>
          <a:p/>
          <a:p>
            <a:r>
              <a:t>A linha final resume: nenhum desses problemas é de instalação. Todos vêm da natureza do acervo.</a:t>
            </a:r>
          </a:p>
          <a:p/>
          <a:p>
            <a:r>
              <a:t>Transição: se o risco principal é devolver um número plausível e errado, foi aí que concentramos esforço.</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Alucinação (70 s). Concentro aqui o esforço de projeto porque é o risco que importa neste domínio.</a:t>
            </a:r>
          </a:p>
          <a:p/>
          <a:p>
            <a:r>
              <a:t>O quadro do topo explica o problema: em texto corrido, uma frase inventada soa estranha e o leitor desconfia. Em estatística, um número inventado é indistinguível de um número verdadeiro. Não há alarme.</a:t>
            </a:r>
          </a:p>
          <a:p/>
          <a:p>
            <a:r>
              <a:t>Por isso montamos quatro camadas.</a:t>
            </a:r>
          </a:p>
          <a:p/>
          <a:p>
            <a:r>
              <a:t>A primeira é de instrução: o prompt proíbe inventar e exige citar arquivo e página.</a:t>
            </a:r>
          </a:p>
          <a:p/>
          <a:p>
            <a:r>
              <a:t>A segunda é estrutural: os metadados de origem viajam com o trecho. A citação não é enfeite — é o que permite a alguém conferir.</a:t>
            </a:r>
          </a:p>
          <a:p/>
          <a:p>
            <a:r>
              <a:t>A terceira é o validador numérico. Ele compara os números da resposta com os números presentes nos trechos recuperados. Se um valor não aparece no contexto, isso é sinalizado.</a:t>
            </a:r>
          </a:p>
          <a:p/>
          <a:p>
            <a:r>
              <a:t>A quarta é o conjunto adversarial: perguntas deliberadamente fora do acervo, para observar se o sistema recusa ou inventa.</a:t>
            </a:r>
          </a:p>
          <a:p/>
          <a:p>
            <a:r>
              <a:t>E o rodapé traz o limite com todas as letras: isso é uma checagem automática, não uma auditoria. A revisão humana continua necessária — e a própria interface diz isso ao usuário.</a:t>
            </a:r>
          </a:p>
          <a:p/>
          <a:p>
            <a:r>
              <a:t>Transição: essas camadas foram o resultado de decisões específicas. Vejamos quais.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Decisões (75 s). Seis decisões explicam a maior parte do resultado.</a:t>
            </a:r>
          </a:p>
          <a:p/>
          <a:p>
            <a:r>
              <a:t>A primeira e mais importante: separar formatos. Em vez de tratar tudo como texto, texto, tabela e série têm recuperadores próprios. Isso resolve o problema do número que se descola do cabeçalho.</a:t>
            </a:r>
          </a:p>
          <a:p/>
          <a:p>
            <a:r>
              <a:t>A segunda: combinar as duas formas de busca. Palavra-chave cobre sigla e termo exato; semelhança cobre sinônimo e intenção.</a:t>
            </a:r>
          </a:p>
          <a:p/>
          <a:p>
            <a:r>
              <a:t>A terceira: reescrever a pergunta antes de buscar. Parece um detalhe de engenharia, mas é o que evita buscas vazias.</a:t>
            </a:r>
          </a:p>
          <a:p/>
          <a:p>
            <a:r>
              <a:t>A quarta: isolar a validação como etapa própria. Se a checagem ficasse escondida dentro do prompt, a falha seria invisível.</a:t>
            </a:r>
          </a:p>
          <a:p/>
          <a:p>
            <a:r>
              <a:t>A quinta: não fixar o modelo no código. Isso protege o projeto de mudanças de fornecedor e de custo.</a:t>
            </a:r>
          </a:p>
          <a:p/>
          <a:p>
            <a:r>
              <a:t>A sexta: contêineres. Menos surpresa entre o ambiente de desenvolvimento e o de uso.</a:t>
            </a:r>
          </a:p>
          <a:p/>
          <a:p>
            <a:r>
              <a:t>Repare que nenhuma dessas decisões é exótica. São escolhas de organização.</a:t>
            </a:r>
          </a:p>
          <a:p/>
          <a:p>
            <a:r>
              <a:t>Transição: e nem tudo o que decidimos deu certo. Vejamos o que ficou pendente.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Status (60 s). Este é o quadro que eu pediria para guardarem.</a:t>
            </a:r>
          </a:p>
          <a:p/>
          <a:p>
            <a:r>
              <a:t>À esquerda, o que está implementado e em uso: extração, índice, busca híbrida, citação de fonte e validação numérica.</a:t>
            </a:r>
          </a:p>
          <a:p/>
          <a:p>
            <a:r>
              <a:t>No meio, o que foi demonstrado com ressalvas: a aplicação roda, a interface é real, respondeu a perguntas de PIB e de mercado de trabalho e permite conferir as fontes. Digo “com ressalvas” porque demonstração não é avaliação sistemática.</a:t>
            </a:r>
          </a:p>
          <a:p/>
          <a:p>
            <a:r>
              <a:t>À direita, o que ainda precisa de validação. E aqui quero ser explícito: o conjunto de referência tem dez perguntas, mas as respostas esperadas ainda não estão preenchidas. Sem esse gabarito não há como medir fidelidade, precisão numérica ou tempo de resposta de forma defensável.</a:t>
            </a:r>
          </a:p>
          <a:p/>
          <a:p>
            <a:r>
              <a:t>O rodapé é uma advertência metodológica: os relatórios de etapas anteriores descrevem versões anteriores do sistema. Eles não comprovam o desempenho da versão que está rodando hoje.</a:t>
            </a:r>
          </a:p>
          <a:p/>
          <a:p>
            <a:r>
              <a:t>Transição: fechando o bloco de desenvolvimento, o que fica de aprendizado.</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Aprendizados (70 s). Seis coisas que eu levaria para o próximo projeto.</a:t>
            </a:r>
          </a:p>
          <a:p/>
          <a:p>
            <a:r>
              <a:t>A primeira: a qualidade mora na preparação do dado. Passamos mais tempo discutindo extração e segmentação do que escolhendo modelo, e foi o tempo bem gasto.</a:t>
            </a:r>
          </a:p>
          <a:p/>
          <a:p>
            <a:r>
              <a:t>A segunda é a consequência: recuperar bem importa mais do que gerar bem. Um modelo mais caro sobre contexto ruim produz uma resposta ruim com mais fluência.</a:t>
            </a:r>
          </a:p>
          <a:p/>
          <a:p>
            <a:r>
              <a:t>A terceira é específica do domínio e vale repetir: em estatística, período e unidade são parte do dado, não do estilo.</a:t>
            </a:r>
          </a:p>
          <a:p/>
          <a:p>
            <a:r>
              <a:t>A quarta: rastreabilidade desde o início. Se os metadados de origem não nascem na preparação, não há como acrescentá-los depois.</a:t>
            </a:r>
          </a:p>
          <a:p/>
          <a:p>
            <a:r>
              <a:t>A quinta é a mais desconfortável: medir é mais difícil do que construir. Fizemos um sistema funcionar antes de conseguir provar que ele é bom — e essa ordem deveria ter sido invertida.</a:t>
            </a:r>
          </a:p>
          <a:p/>
          <a:p>
            <a:r>
              <a:t>A sexta: a interface também é confiabilidade. O aviso de limite, o botão de ver evidências e a citação fazem parte do argumento de confiança.</a:t>
            </a:r>
          </a:p>
          <a:p/>
          <a:p>
            <a:r>
              <a:t>Transição: com isso encerro o bloco de desenvolvimento e passo ao produto.</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 que é a Nadia (60 s). Entramos no produto.</a:t>
            </a:r>
          </a:p>
          <a:p/>
          <a:p>
            <a:r>
              <a:t>A definição do topo é deliberadamente contida: a Nadia é uma assistente de consulta documental da Fundação SEADE. Ela responde a partir dos documentos oficiais do acervo e indica onde está cada informação.</a:t>
            </a:r>
          </a:p>
          <a:p/>
          <a:p>
            <a:r>
              <a:t>Quero destacar três palavras dessa frase. A primeira é “documental”: ela não busca na internet nem usa conhecimento geral — ela consulta o nosso acervo. A segunda é “oficiais”: a fonte é o boletim publicado. A terceira é “indica”: toda resposta aponta o arquivo e a página.</a:t>
            </a:r>
          </a:p>
          <a:p/>
          <a:p>
            <a:r>
              <a:t>À esquerda, o público. Note que são perfis com necessidades diferentes: o gestor quer o número rápido, o pesquisador quer a referência para aprofundar, o cidadão quer o dado oficial. A mesma resposta serve aos três porque ela traz o número e a fonte.</a:t>
            </a:r>
          </a:p>
          <a:p/>
          <a:p>
            <a:r>
              <a:t>À direita, o escopo. E aqui está a ressalva que eu faço questão de deixar na tela: o alcance da Nadia é o acervo indexado. Fora dele, o comportamento correto não é improvisar — é dizer que não sabe.</a:t>
            </a:r>
          </a:p>
          <a:p/>
          <a:p>
            <a:r>
              <a:t>Transição: vejamos como isso aparece na interface.</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interface (65 s). Esta é a tela real da Nadia, capturada da aplicação em execução.</a:t>
            </a:r>
          </a:p>
          <a:p/>
          <a:p>
            <a:r>
              <a:t>À esquerda, o menu lateral: botão de nova análise, histórico das consultas anteriores e o indicador de status do sistema.</a:t>
            </a:r>
          </a:p>
          <a:p/>
          <a:p>
            <a:r>
              <a:t>No centro, a pergunta de boas-vindas — “O que você quer saber sobre São Paulo?” — e o campo de digitação. Abaixo, três sugestões de partida organizadas por tema: mercado de trabalho, atividade econômica e análise comparada.</a:t>
            </a:r>
          </a:p>
          <a:p/>
          <a:p>
            <a:r>
              <a:t>Ainda na tela inicial aparecem os três compromissos que sustentam o produto: fontes rastreáveis, validação numérica e síntese técnica. E há o aviso de que a Nadia pode cometer erros e que informações importantes devem ser confirmadas nas fontes.</a:t>
            </a:r>
          </a:p>
          <a:p/>
          <a:p>
            <a:r>
              <a:t>À direita, listei as funcionalidades. Duas merecem destaque. “Ver evidências” abre o trecho exato que sustenta cada número — não é só dizer a fonte, é mostrar o trecho. E “Fontes” lista todas as referências usadas naquela resposta.</a:t>
            </a:r>
          </a:p>
          <a:p/>
          <a:p>
            <a:r>
              <a:t>Transição: vejamos que tipos de pergunta ela foi projetada para responder.</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Tipos de pergunta (55 s). Nem toda pergunta é igual, e isso tem consequência técnica.</a:t>
            </a:r>
          </a:p>
          <a:p/>
          <a:p>
            <a:r>
              <a:t>O primeiro tipo é a consulta pontual: um valor, um período. É o caso do PIB do primeiro trimestre de 2024.</a:t>
            </a:r>
          </a:p>
          <a:p/>
          <a:p>
            <a:r>
              <a:t>O segundo é evolução no tempo: o comportamento de um indicador ao longo de vários períodos. Aqui a resposta não é um número, é uma trajetória — e isso exige reunir as séries de vários boletins.</a:t>
            </a:r>
          </a:p>
          <a:p/>
          <a:p>
            <a:r>
              <a:t>O terceiro é análise comparada: confrontar períodos, territórios ou indicadores.</a:t>
            </a:r>
          </a:p>
          <a:p/>
          <a:p>
            <a:r>
              <a:t>A linha de fecho explica por que insisti antes na separação de formatos: os três tipos acionam caminhos de recuperação diferentes. Uma consulta pontual precisa da tabela certa; uma evolução precisa da série; uma comparação precisa de dois conjuntos.</a:t>
            </a:r>
          </a:p>
          <a:p/>
          <a:p>
            <a:r>
              <a:t>Transição: passemos à demonstração.</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Demonstração — PIB (60 s). Esta é uma resposta real, capturada da aplicação.</a:t>
            </a:r>
          </a:p>
          <a:p/>
          <a:p>
            <a:r>
              <a:t>A pergunta pediu a variação do PIB paulista no primeiro trimestre de 2024 em relação ao trimestre imediatamente anterior, com ajuste sazonal.</a:t>
            </a:r>
          </a:p>
          <a:p/>
          <a:p>
            <a:r>
              <a:t>Repare em três coisas na resposta.</a:t>
            </a:r>
          </a:p>
          <a:p/>
          <a:p>
            <a:r>
              <a:t>Primeira: ela diz que o PIB registrou elevação de 0,4% na passagem do quarto trimestre de 2023 para o primeiro de 2024. Ou seja, explicita o período de comparação — não devolve um número solto.</a:t>
            </a:r>
          </a:p>
          <a:p/>
          <a:p>
            <a:r>
              <a:t>Segunda: o valor 0,4% aparece com uma marcação clicável. É o vínculo entre o número e a evidência.</a:t>
            </a:r>
          </a:p>
          <a:p/>
          <a:p>
            <a:r>
              <a:t>Terceira: ao final, ela nomeia a fonte — o Boletim de Conjuntura da Economia Paulista do primeiro trimestre de 2024.</a:t>
            </a:r>
          </a:p>
          <a:p/>
          <a:p>
            <a:r>
              <a:t>Abaixo da resposta aparecem as ações disponíveis: copiar, ver evidências, fontes — que neste caso são nove — e exportar. E o tempo de resposta: quarenta e um vírgula nove segundos.</a:t>
            </a:r>
          </a:p>
          <a:p/>
          <a:p>
            <a:r>
              <a:t>Sobre esse tempo, volto a ser direto: não é instantâneo. Está registrado ali pelo próprio aplicativo, e é um dos pontos a melhorar.</a:t>
            </a:r>
          </a:p>
          <a:p/>
          <a:p>
            <a:r>
              <a:t>Transição: a segunda demonstração é de mercado de trabalho.</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Demonstração — mercado de trabalho (60 s). A segunda pergunta é de outro tipo.</a:t>
            </a:r>
          </a:p>
          <a:p/>
          <a:p>
            <a:r>
              <a:t>Ela pede a taxa de desemprego em São Paulo no primeiro trimestre de 2024 e a comparação com o mesmo trimestre de 2023.</a:t>
            </a:r>
          </a:p>
          <a:p/>
          <a:p>
            <a:r>
              <a:t>A resposta traz quatro valores: a taxa de desocupação de 7,4%, a queda de 1,1 ponto percentual em relação ao ano anterior, o avanço de 0,7% na população ocupada e o crescimento de 1,9% na força de trabalho.</a:t>
            </a:r>
          </a:p>
          <a:p/>
          <a:p>
            <a:r>
              <a:t>Note que cada um desses números tem sua própria marcação de evidência. Não é uma citação genérica no fim do texto: é a ligação entre cada valor e o trecho que o sustenta.</a:t>
            </a:r>
          </a:p>
          <a:p/>
          <a:p>
            <a:r>
              <a:t>Aqui aparecem onze fontes, contra nove na resposta anterior. Isso ilustra bem o ponto da preparação: responder a uma pergunta comparativa exige reunir mais material.</a:t>
            </a:r>
          </a:p>
          <a:p/>
          <a:p>
            <a:r>
              <a:t>E o tempo subiu para quarenta e cinco vírgula sete segundos — o que faz sentido, porque a pergunta é mais complexa.</a:t>
            </a:r>
          </a:p>
          <a:p/>
          <a:p>
            <a:r>
              <a:t>Transição: vejamos como o sistema decide que caminho tomar para cada pergunta.</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Arquitetura (65 s). A arquitetura é simples e vale explicá-la de baixo para cima.</a:t>
            </a:r>
          </a:p>
          <a:p/>
          <a:p>
            <a:r>
              <a:t>Na base, o índice vetorial local em ChromaDB, que guarda os trechos com seus metadados de origem. Ao lado dele, o modelo de linguagem, que é configurável: não está fixo no código. Isso foi decisão consciente, para permitir trocar de fornecedor ou de faixa de custo sem reescrever o sistema.</a:t>
            </a:r>
          </a:p>
          <a:p/>
          <a:p>
            <a:r>
              <a:t>No meio, a camada de serviço em Python com FastAPI. É ela que interpreta a pergunta, decide quais recuperadores acionar e monta a resposta final.</a:t>
            </a:r>
          </a:p>
          <a:p/>
          <a:p>
            <a:r>
              <a:t>No topo, a interface em React, que é o que o usuário vê e onde estão a citação, o histórico e o acesso às evidências.</a:t>
            </a:r>
          </a:p>
          <a:p/>
          <a:p>
            <a:r>
              <a:t>O fluxo na base resume o caminho de uma pergunta: ela é interpretada, os três recuperadores são acionados — texto, tabelas e séries — e o resultado é consolidado numa resposta citada.</a:t>
            </a:r>
          </a:p>
          <a:p/>
          <a:p>
            <a:r>
              <a:t>Um detalhe de implantação: os serviços são organizados com contêineres, o que reduz a diferença entre o ambiente de desenvolvimento e o de uso.</a:t>
            </a:r>
          </a:p>
          <a:p/>
          <a:p>
            <a:r>
              <a:t>Transição: dentro dessa arquitetura, há quatro estratégias de recuperação. Vejamos o status real de cada uma.</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Estratégias (60 s). Este quadro é importante porque separa o que existe do que foi apenas estudado.</a:t>
            </a:r>
          </a:p>
          <a:p/>
          <a:p>
            <a:r>
              <a:t>A estratégia principal está implementada e em uso. É a busca híbrida com recuperadores dedicados: um para texto, um para tabelas e um para séries temporais.</a:t>
            </a:r>
          </a:p>
          <a:p/>
          <a:p>
            <a:r>
              <a:t>O modo agêntico está implementado, mas com uma ressalva concreta: ele funciona por linha de comando e a exposição pelo serviço não foi concluída. Ou seja, existe como capacidade, não como produto.</a:t>
            </a:r>
          </a:p>
          <a:p/>
          <a:p>
            <a:r>
              <a:t>RAPTOR e Self-RAG aparecem como estudadas e não validadas. Não quero que a menção a esses nomes na tela sugira mais do que existe: elas foram analisadas como alternativas, e não foram implementadas nem medidas.</a:t>
            </a:r>
          </a:p>
          <a:p/>
          <a:p>
            <a:r>
              <a:t>Essa distinção — implementada, implementada com ressalva, estudada — é o que evita que uma apresentação prometa o que o projeto ainda não entregou.</a:t>
            </a:r>
          </a:p>
          <a:p/>
          <a:p>
            <a:r>
              <a:t>Transição: e se o assunto é medir, vejamos o que temos hoje de avaliação.</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Avaliação (65 s). Chegamos ao ponto que considero o mais importante desta apresentação.</a:t>
            </a:r>
          </a:p>
          <a:p/>
          <a:p>
            <a:r>
              <a:t>O que existe: dez perguntas de referência, organizadas em três conjuntos — um para ajuste durante o desenvolvimento, um para teste e um terceiro com perguntas deliberadamente fora do escopo.</a:t>
            </a:r>
          </a:p>
          <a:p/>
          <a:p>
            <a:r>
              <a:t>O que falta: as respostas esperadas ainda não foram preenchidas.</a:t>
            </a:r>
          </a:p>
          <a:p/>
          <a:p>
            <a:r>
              <a:t>Isso tem uma consequência direta que quero deixar clara. Sem gabarito, não há medida. Podemos dizer que o sistema funciona — e ele funciona —, mas não podemos dizer que ele acerta oitenta por cento das vezes, nem que uma configuração é melhor que outra. Qualquer número desse tipo, hoje, seria inventado.</a:t>
            </a:r>
          </a:p>
          <a:p/>
          <a:p>
            <a:r>
              <a:t>Por isso o quadro da direita define o que uma nova rodada deve medir: fidelidade às fontes, precisão numérica, tempo de resposta e recusa adequada do que está fora do acervo.</a:t>
            </a:r>
          </a:p>
          <a:p/>
          <a:p>
            <a:r>
              <a:t>E o rodapé repete a advertência: os relatórios de etapas anteriores descrevem versões anteriores. Eles não são evidência sobre o sistema que está rodando hoje.</a:t>
            </a:r>
          </a:p>
          <a:p/>
          <a:p>
            <a:r>
              <a:t>Transição: com isso, o que propomos como próximo passo.</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Próximos passos (55 s). A ordem aqui não é acidental.</a:t>
            </a:r>
          </a:p>
          <a:p/>
          <a:p>
            <a:r>
              <a:t>O primeiro passo é preencher o gabarito. É o menos glamouroso e o mais determinante: sem ele, os passos seguintes não produzem conclusão.</a:t>
            </a:r>
          </a:p>
          <a:p/>
          <a:p>
            <a:r>
              <a:t>O segundo é a comparação controlada: as mesmas perguntas submetidas às diferentes estratégias. Só assim é possível afirmar que uma configuração é melhor.</a:t>
            </a:r>
          </a:p>
          <a:p/>
          <a:p>
            <a:r>
              <a:t>O terceiro é o teste com usuários. Quero observar três coisas: se a ferramenta é útil no trabalho real, se a apresentação das fontes é clara e quais falhas se repetem.</a:t>
            </a:r>
          </a:p>
          <a:p/>
          <a:p>
            <a:r>
              <a:t>O quarto é desempenho. Quarenta a quarenta e seis segundos é aceitável para uma consulta ocasional e insuficiente para uso intenso. É preciso entender onde o tempo é gasto.</a:t>
            </a:r>
          </a:p>
          <a:p/>
          <a:p>
            <a:r>
              <a:t>O quinto é concluir a exposição do modo agêntico pelo serviço, que hoje só existe por linha de comando.</a:t>
            </a:r>
          </a:p>
          <a:p/>
          <a:p>
            <a:r>
              <a:t>E o destaque final resume: o primeiro passo não depende de tecnologia nova. Depende de escrever o que se espera que o sistema responda.</a:t>
            </a:r>
          </a:p>
          <a:p/>
          <a:p>
            <a:r>
              <a:t>Transição: para encerrar, retomo o percurso.</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Síntese (45 s). Encerro com três pontos.</a:t>
            </a:r>
          </a:p>
          <a:p/>
          <a:p>
            <a:r>
              <a:t>Primeiro: o método resolve um problema real. RAG permite consultar documentos oficiais em linguagem natural preservando a fonte, e sem retreinar o modelo a cada atualização do acervo.</a:t>
            </a:r>
          </a:p>
          <a:p/>
          <a:p>
            <a:r>
              <a:t>Segundo: o trabalho difícil não está no modelo, está na preparação e na recuperação. Em acervo estatístico, a qualidade depende de separar texto, tabela e série, e de trazer o trecho certo com o período certo.</a:t>
            </a:r>
          </a:p>
          <a:p/>
          <a:p>
            <a:r>
              <a:t>Terceiro, e o mais importante: a validação é a etapa que falta. A aplicação funciona, a interface é real e foi demonstrada. Mas enquanto o gabarito não estiver preenchido, não temos como afirmar o quanto ela acerta.</a:t>
            </a:r>
          </a:p>
          <a:p/>
          <a:p>
            <a:r>
              <a:t>Prefiro encerrar com essa honestidade do que com um número que eu não possa sustentar.</a:t>
            </a:r>
          </a:p>
          <a:p/>
          <a:p>
            <a:r>
              <a:t>Obrigado. Fico à disposição para perguntas.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a">
  <p:cSld name="Capa">
    <p:spTree>
      <p:nvGrpSpPr>
        <p:cNvPr id="17" name="Shape 17"/>
        <p:cNvGrpSpPr/>
        <p:nvPr/>
      </p:nvGrpSpPr>
      <p:grpSpPr>
        <a:xfrm>
          <a:off x="0" y="0"/>
          <a:ext cx="0" cy="0"/>
          <a:chOff x="0" y="0"/>
          <a:chExt cx="0" cy="0"/>
        </a:xfrm>
      </p:grpSpPr>
      <p:sp>
        <p:nvSpPr>
          <p:cNvPr id="18" name="Google Shape;18;p2"/>
          <p:cNvSpPr/>
          <p:nvPr/>
        </p:nvSpPr>
        <p:spPr>
          <a:xfrm>
            <a:off x="0" y="0"/>
            <a:ext cx="9144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sp>
        <p:nvSpPr>
          <p:cNvPr id="19" name="Google Shape;19;p2"/>
          <p:cNvSpPr/>
          <p:nvPr/>
        </p:nvSpPr>
        <p:spPr>
          <a:xfrm>
            <a:off x="232172" y="0"/>
            <a:ext cx="627459" cy="206657"/>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accent3"/>
              </a:solidFill>
              <a:latin typeface="Calibri"/>
              <a:ea typeface="Calibri"/>
              <a:cs typeface="Calibri"/>
              <a:sym typeface="Calibri"/>
            </a:endParaRPr>
          </a:p>
        </p:txBody>
      </p:sp>
      <p:pic>
        <p:nvPicPr>
          <p:cNvPr id="20" name="Google Shape;20;p2"/>
          <p:cNvPicPr preferRelativeResize="0"/>
          <p:nvPr/>
        </p:nvPicPr>
        <p:blipFill rotWithShape="1">
          <a:blip r:embed="rId2">
            <a:alphaModFix/>
          </a:blip>
          <a:srcRect b="0" l="0" r="0" t="0"/>
          <a:stretch/>
        </p:blipFill>
        <p:spPr>
          <a:xfrm>
            <a:off x="230981" y="242549"/>
            <a:ext cx="628950" cy="215992"/>
          </a:xfrm>
          <a:prstGeom prst="rect">
            <a:avLst/>
          </a:prstGeom>
          <a:noFill/>
          <a:ln>
            <a:noFill/>
          </a:ln>
        </p:spPr>
      </p:pic>
      <p:sp>
        <p:nvSpPr>
          <p:cNvPr id="21" name="Google Shape;21;p2"/>
          <p:cNvSpPr/>
          <p:nvPr/>
        </p:nvSpPr>
        <p:spPr>
          <a:xfrm>
            <a:off x="884635" y="194750"/>
            <a:ext cx="6509147" cy="311944"/>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500"/>
              <a:buFont typeface="Arial"/>
              <a:buNone/>
            </a:pPr>
            <a:r>
              <a:t/>
            </a:r>
            <a:endParaRPr b="0" i="0" sz="1500" u="none" cap="none">
              <a:solidFill>
                <a:schemeClr val="lt1"/>
              </a:solidFill>
              <a:latin typeface="Calibri"/>
              <a:ea typeface="Calibri"/>
              <a:cs typeface="Calibri"/>
              <a:sym typeface="Calibri"/>
            </a:endParaRPr>
          </a:p>
        </p:txBody>
      </p:sp>
      <p:sp>
        <p:nvSpPr>
          <p:cNvPr id="22" name="Google Shape;22;p2"/>
          <p:cNvSpPr/>
          <p:nvPr/>
        </p:nvSpPr>
        <p:spPr>
          <a:xfrm>
            <a:off x="884635" y="410253"/>
            <a:ext cx="6516290" cy="230981"/>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100"/>
              <a:buFont typeface="Arial"/>
              <a:buNone/>
            </a:pPr>
            <a:r>
              <a:t/>
            </a:r>
            <a:endParaRPr b="0" i="0" sz="1100" u="none" cap="none">
              <a:solidFill>
                <a:srgbClr val="D3DFFF"/>
              </a:solidFill>
              <a:latin typeface="Calibri"/>
              <a:ea typeface="Calibri"/>
              <a:cs typeface="Calibri"/>
              <a:sym typeface="Calibri"/>
            </a:endParaRPr>
          </a:p>
        </p:txBody>
      </p:sp>
      <p:sp>
        <p:nvSpPr>
          <p:cNvPr id="23" name="Google Shape;23;p2"/>
          <p:cNvSpPr txBox="1"/>
          <p:nvPr>
            <p:ph type="title"/>
          </p:nvPr>
        </p:nvSpPr>
        <p:spPr>
          <a:xfrm>
            <a:off x="225461" y="1032273"/>
            <a:ext cx="8677054" cy="2176883"/>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lt1"/>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4" name="Google Shape;24;p2"/>
          <p:cNvSpPr txBox="1"/>
          <p:nvPr>
            <p:ph idx="1" type="body"/>
          </p:nvPr>
        </p:nvSpPr>
        <p:spPr>
          <a:xfrm>
            <a:off x="225461" y="3229396"/>
            <a:ext cx="8677054" cy="1125140"/>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i="0" sz="18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5" name="Google Shape;25;p2"/>
          <p:cNvSpPr txBox="1"/>
          <p:nvPr>
            <p:ph idx="2" type="body"/>
          </p:nvPr>
        </p:nvSpPr>
        <p:spPr>
          <a:xfrm>
            <a:off x="225461" y="3584684"/>
            <a:ext cx="4211999" cy="769852"/>
          </a:xfrm>
          <a:prstGeom prst="rect">
            <a:avLst/>
          </a:prstGeom>
          <a:noFill/>
          <a:ln>
            <a:noFill/>
          </a:ln>
        </p:spPr>
        <p:txBody>
          <a:bodyPr anchorCtr="0" anchor="b" bIns="34275" lIns="0" spcFirstLastPara="1" rIns="68575" wrap="square" tIns="34275">
            <a:noAutofit/>
          </a:bodyPr>
          <a:lstStyle>
            <a:lvl1pPr indent="-228600" lvl="0" marL="457200" algn="l">
              <a:lnSpc>
                <a:spcPct val="90000"/>
              </a:lnSpc>
              <a:spcBef>
                <a:spcPts val="800"/>
              </a:spcBef>
              <a:spcAft>
                <a:spcPts val="0"/>
              </a:spcAft>
              <a:buClr>
                <a:schemeClr val="lt1"/>
              </a:buClr>
              <a:buSzPts val="1400"/>
              <a:buNone/>
              <a:defRPr b="0" i="0" sz="14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Google Shape;26;p2"/>
          <p:cNvSpPr/>
          <p:nvPr/>
        </p:nvSpPr>
        <p:spPr>
          <a:xfrm>
            <a:off x="6912769" y="3473173"/>
            <a:ext cx="2231231" cy="92868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pic>
        <p:nvPicPr>
          <p:cNvPr id="27" name="Google Shape;27;p2"/>
          <p:cNvPicPr preferRelativeResize="0"/>
          <p:nvPr/>
        </p:nvPicPr>
        <p:blipFill rotWithShape="1">
          <a:blip r:embed="rId3">
            <a:alphaModFix/>
          </a:blip>
          <a:srcRect b="0" l="0" r="10690" t="0"/>
          <a:stretch/>
        </p:blipFill>
        <p:spPr>
          <a:xfrm>
            <a:off x="7073283" y="3304646"/>
            <a:ext cx="2038060" cy="12242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ções" type="title">
  <p:cSld name="TITLE">
    <p:spTree>
      <p:nvGrpSpPr>
        <p:cNvPr id="28" name="Shape 28"/>
        <p:cNvGrpSpPr/>
        <p:nvPr/>
      </p:nvGrpSpPr>
      <p:grpSpPr>
        <a:xfrm>
          <a:off x="0" y="0"/>
          <a:ext cx="0" cy="0"/>
          <a:chOff x="0" y="0"/>
          <a:chExt cx="0" cy="0"/>
        </a:xfrm>
      </p:grpSpPr>
      <p:sp>
        <p:nvSpPr>
          <p:cNvPr id="29" name="Google Shape;29;p3"/>
          <p:cNvSpPr txBox="1"/>
          <p:nvPr>
            <p:ph type="ctrTitle"/>
          </p:nvPr>
        </p:nvSpPr>
        <p:spPr>
          <a:xfrm>
            <a:off x="236904" y="1032272"/>
            <a:ext cx="8665611" cy="2155726"/>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dk2"/>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0" name="Google Shape;30;p3"/>
          <p:cNvSpPr txBox="1"/>
          <p:nvPr>
            <p:ph idx="1" type="subTitle"/>
          </p:nvPr>
        </p:nvSpPr>
        <p:spPr>
          <a:xfrm>
            <a:off x="236904" y="3193256"/>
            <a:ext cx="8665611" cy="1188244"/>
          </a:xfrm>
          <a:prstGeom prst="rect">
            <a:avLst/>
          </a:prstGeom>
          <a:noFill/>
          <a:ln>
            <a:noFill/>
          </a:ln>
        </p:spPr>
        <p:txBody>
          <a:bodyPr anchorCtr="0" anchor="t" bIns="34275" lIns="0" spcFirstLastPara="1" rIns="68575" wrap="square" tIns="34275">
            <a:noAutofit/>
          </a:bodyPr>
          <a:lstStyle>
            <a:lvl1pPr lvl="0" algn="l">
              <a:lnSpc>
                <a:spcPct val="90000"/>
              </a:lnSpc>
              <a:spcBef>
                <a:spcPts val="800"/>
              </a:spcBef>
              <a:spcAft>
                <a:spcPts val="0"/>
              </a:spcAft>
              <a:buClr>
                <a:srgbClr val="7F7F7F"/>
              </a:buClr>
              <a:buSzPts val="1800"/>
              <a:buNone/>
              <a:defRPr b="0" i="0" sz="1800">
                <a:solidFill>
                  <a:srgbClr val="7F7F7F"/>
                </a:solidFill>
                <a:latin typeface="Calibri"/>
                <a:ea typeface="Calibri"/>
                <a:cs typeface="Calibri"/>
                <a:sym typeface="Calibri"/>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1" name="Google Shape;31;p3"/>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3"/>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ra" type="secHead">
  <p:cSld name="SECTION_HEADER">
    <p:spTree>
      <p:nvGrpSpPr>
        <p:cNvPr id="33" name="Shape 33"/>
        <p:cNvGrpSpPr/>
        <p:nvPr/>
      </p:nvGrpSpPr>
      <p:grpSpPr>
        <a:xfrm>
          <a:off x="0" y="0"/>
          <a:ext cx="0" cy="0"/>
          <a:chOff x="0" y="0"/>
          <a:chExt cx="0" cy="0"/>
        </a:xfrm>
      </p:grpSpPr>
      <p:sp>
        <p:nvSpPr>
          <p:cNvPr id="34" name="Google Shape;34;p4"/>
          <p:cNvSpPr/>
          <p:nvPr/>
        </p:nvSpPr>
        <p:spPr>
          <a:xfrm>
            <a:off x="1" y="0"/>
            <a:ext cx="9143999" cy="3228975"/>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sp>
        <p:nvSpPr>
          <p:cNvPr id="35" name="Google Shape;35;p4"/>
          <p:cNvSpPr txBox="1"/>
          <p:nvPr>
            <p:ph type="title"/>
          </p:nvPr>
        </p:nvSpPr>
        <p:spPr>
          <a:xfrm>
            <a:off x="225461" y="1069602"/>
            <a:ext cx="8677054" cy="2139553"/>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lt1"/>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6" name="Google Shape;36;p4"/>
          <p:cNvSpPr txBox="1"/>
          <p:nvPr>
            <p:ph idx="1" type="body"/>
          </p:nvPr>
        </p:nvSpPr>
        <p:spPr>
          <a:xfrm>
            <a:off x="225461" y="3401198"/>
            <a:ext cx="4211999" cy="1117085"/>
          </a:xfrm>
          <a:prstGeom prst="rect">
            <a:avLst/>
          </a:prstGeom>
          <a:noFill/>
          <a:ln>
            <a:noFill/>
          </a:ln>
        </p:spPr>
        <p:txBody>
          <a:bodyPr anchorCtr="0" anchor="b" bIns="34275" lIns="0" spcFirstLastPara="1" rIns="68575" wrap="square" tIns="34275">
            <a:normAutofit/>
          </a:bodyPr>
          <a:lstStyle>
            <a:lvl1pPr indent="-228600" lvl="0" marL="457200" algn="l">
              <a:lnSpc>
                <a:spcPct val="90000"/>
              </a:lnSpc>
              <a:spcBef>
                <a:spcPts val="800"/>
              </a:spcBef>
              <a:spcAft>
                <a:spcPts val="0"/>
              </a:spcAft>
              <a:buClr>
                <a:srgbClr val="595959"/>
              </a:buClr>
              <a:buSzPts val="1400"/>
              <a:buNone/>
              <a:defRPr b="0" i="0" sz="1400">
                <a:solidFill>
                  <a:srgbClr val="595959"/>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7" name="Google Shape;37;p4"/>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8" name="Google Shape;38;p4"/>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
        <p:nvSpPr>
          <p:cNvPr id="39" name="Google Shape;39;p4"/>
          <p:cNvSpPr/>
          <p:nvPr/>
        </p:nvSpPr>
        <p:spPr>
          <a:xfrm>
            <a:off x="6912769" y="3473173"/>
            <a:ext cx="2231231" cy="92868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pic>
        <p:nvPicPr>
          <p:cNvPr id="40" name="Google Shape;40;p4"/>
          <p:cNvPicPr preferRelativeResize="0"/>
          <p:nvPr/>
        </p:nvPicPr>
        <p:blipFill rotWithShape="1">
          <a:blip r:embed="rId2">
            <a:alphaModFix/>
          </a:blip>
          <a:srcRect b="0" l="0" r="12305" t="0"/>
          <a:stretch/>
        </p:blipFill>
        <p:spPr>
          <a:xfrm>
            <a:off x="7073284" y="3267908"/>
            <a:ext cx="2007444" cy="122429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nteúdo">
  <p:cSld name="1 conteúdo">
    <p:spTree>
      <p:nvGrpSpPr>
        <p:cNvPr id="41" name="Shape 41"/>
        <p:cNvGrpSpPr/>
        <p:nvPr/>
      </p:nvGrpSpPr>
      <p:grpSpPr>
        <a:xfrm>
          <a:off x="0" y="0"/>
          <a:ext cx="0" cy="0"/>
          <a:chOff x="0" y="0"/>
          <a:chExt cx="0" cy="0"/>
        </a:xfrm>
      </p:grpSpPr>
      <p:sp>
        <p:nvSpPr>
          <p:cNvPr id="42" name="Google Shape;42;p5"/>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43" name="Google Shape;43;p5"/>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 name="Google Shape;44;p5"/>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 name="Google Shape;45;p5"/>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5"/>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 scores">
  <p:cSld name="Conteúdo + scores">
    <p:spTree>
      <p:nvGrpSpPr>
        <p:cNvPr id="47" name="Shape 47"/>
        <p:cNvGrpSpPr/>
        <p:nvPr/>
      </p:nvGrpSpPr>
      <p:grpSpPr>
        <a:xfrm>
          <a:off x="0" y="0"/>
          <a:ext cx="0" cy="0"/>
          <a:chOff x="0" y="0"/>
          <a:chExt cx="0" cy="0"/>
        </a:xfrm>
      </p:grpSpPr>
      <p:sp>
        <p:nvSpPr>
          <p:cNvPr id="48" name="Google Shape;48;p6"/>
          <p:cNvSpPr txBox="1"/>
          <p:nvPr>
            <p:ph idx="1"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 name="Google Shape;49;p6"/>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50" name="Google Shape;50;p6"/>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 name="Google Shape;51;p6"/>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 name="Google Shape;52;p6"/>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53" name="Google Shape;53;p6"/>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6"/>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nteúdos">
  <p:cSld name="2 conteúdos">
    <p:spTree>
      <p:nvGrpSpPr>
        <p:cNvPr id="55" name="Shape 55"/>
        <p:cNvGrpSpPr/>
        <p:nvPr/>
      </p:nvGrpSpPr>
      <p:grpSpPr>
        <a:xfrm>
          <a:off x="0" y="0"/>
          <a:ext cx="0" cy="0"/>
          <a:chOff x="0" y="0"/>
          <a:chExt cx="0" cy="0"/>
        </a:xfrm>
      </p:grpSpPr>
      <p:sp>
        <p:nvSpPr>
          <p:cNvPr id="56" name="Google Shape;56;p7"/>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57" name="Google Shape;57;p7"/>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 name="Google Shape;58;p7"/>
          <p:cNvSpPr txBox="1"/>
          <p:nvPr>
            <p:ph idx="2"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 name="Google Shape;59;p7"/>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 name="Google Shape;60;p7"/>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61" name="Google Shape;61;p7"/>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2" name="Google Shape;62;p7"/>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nteúdos subtítulo">
  <p:cSld name="2 conteúdos subtítulo">
    <p:spTree>
      <p:nvGrpSpPr>
        <p:cNvPr id="63" name="Shape 63"/>
        <p:cNvGrpSpPr/>
        <p:nvPr/>
      </p:nvGrpSpPr>
      <p:grpSpPr>
        <a:xfrm>
          <a:off x="0" y="0"/>
          <a:ext cx="0" cy="0"/>
          <a:chOff x="0" y="0"/>
          <a:chExt cx="0" cy="0"/>
        </a:xfrm>
      </p:grpSpPr>
      <p:sp>
        <p:nvSpPr>
          <p:cNvPr id="64" name="Google Shape;64;p8"/>
          <p:cNvSpPr txBox="1"/>
          <p:nvPr>
            <p:ph idx="1" type="body"/>
          </p:nvPr>
        </p:nvSpPr>
        <p:spPr>
          <a:xfrm>
            <a:off x="225028" y="1032693"/>
            <a:ext cx="421243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5" name="Google Shape;65;p8"/>
          <p:cNvSpPr txBox="1"/>
          <p:nvPr>
            <p:ph idx="2" type="body"/>
          </p:nvPr>
        </p:nvSpPr>
        <p:spPr>
          <a:xfrm>
            <a:off x="225028" y="1650626"/>
            <a:ext cx="4238625" cy="2859473"/>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8"/>
          <p:cNvSpPr txBox="1"/>
          <p:nvPr>
            <p:ph idx="3" type="body"/>
          </p:nvPr>
        </p:nvSpPr>
        <p:spPr>
          <a:xfrm>
            <a:off x="4706541" y="1032693"/>
            <a:ext cx="419576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7" name="Google Shape;67;p8"/>
          <p:cNvSpPr txBox="1"/>
          <p:nvPr>
            <p:ph idx="4" type="body"/>
          </p:nvPr>
        </p:nvSpPr>
        <p:spPr>
          <a:xfrm>
            <a:off x="4689872" y="1650626"/>
            <a:ext cx="4212430" cy="2867656"/>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 name="Google Shape;68;p8"/>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69" name="Google Shape;69;p8"/>
          <p:cNvSpPr txBox="1"/>
          <p:nvPr>
            <p:ph idx="5"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 name="Google Shape;70;p8"/>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71" name="Google Shape;71;p8"/>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2" name="Google Shape;72;p8"/>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 imagem(s)">
  <p:cSld name="Conteúdo + imagem(s)">
    <p:spTree>
      <p:nvGrpSpPr>
        <p:cNvPr id="73" name="Shape 73"/>
        <p:cNvGrpSpPr/>
        <p:nvPr/>
      </p:nvGrpSpPr>
      <p:grpSpPr>
        <a:xfrm>
          <a:off x="0" y="0"/>
          <a:ext cx="0" cy="0"/>
          <a:chOff x="0" y="0"/>
          <a:chExt cx="0" cy="0"/>
        </a:xfrm>
      </p:grpSpPr>
      <p:sp>
        <p:nvSpPr>
          <p:cNvPr id="74" name="Google Shape;74;p9"/>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75" name="Google Shape;75;p9"/>
          <p:cNvSpPr txBox="1"/>
          <p:nvPr>
            <p:ph idx="2" type="body"/>
          </p:nvPr>
        </p:nvSpPr>
        <p:spPr>
          <a:xfrm>
            <a:off x="241484" y="1861796"/>
            <a:ext cx="2701531" cy="1977668"/>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6" name="Google Shape;76;p9"/>
          <p:cNvSpPr txBox="1"/>
          <p:nvPr>
            <p:ph type="title"/>
          </p:nvPr>
        </p:nvSpPr>
        <p:spPr>
          <a:xfrm>
            <a:off x="225028" y="195263"/>
            <a:ext cx="2726531" cy="1666534"/>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77" name="Google Shape;77;p9"/>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9"/>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79" name="Google Shape;79;p9"/>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0" name="Google Shape;80;p9"/>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 chapéu + imagem(s)">
  <p:cSld name="Conteúdo + chapéu + imagem(s)">
    <p:spTree>
      <p:nvGrpSpPr>
        <p:cNvPr id="81" name="Shape 81"/>
        <p:cNvGrpSpPr/>
        <p:nvPr/>
      </p:nvGrpSpPr>
      <p:grpSpPr>
        <a:xfrm>
          <a:off x="0" y="0"/>
          <a:ext cx="0" cy="0"/>
          <a:chOff x="0" y="0"/>
          <a:chExt cx="0" cy="0"/>
        </a:xfrm>
      </p:grpSpPr>
      <p:sp>
        <p:nvSpPr>
          <p:cNvPr id="82" name="Google Shape;82;p10"/>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83" name="Google Shape;83;p10"/>
          <p:cNvSpPr txBox="1"/>
          <p:nvPr>
            <p:ph idx="2" type="body"/>
          </p:nvPr>
        </p:nvSpPr>
        <p:spPr>
          <a:xfrm>
            <a:off x="241484" y="2003342"/>
            <a:ext cx="2701531" cy="183612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4" name="Google Shape;84;p10"/>
          <p:cNvSpPr txBox="1"/>
          <p:nvPr>
            <p:ph type="title"/>
          </p:nvPr>
        </p:nvSpPr>
        <p:spPr>
          <a:xfrm>
            <a:off x="225028" y="542925"/>
            <a:ext cx="2726531" cy="1460417"/>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85" name="Google Shape;85;p10"/>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6" name="Google Shape;86;p10"/>
          <p:cNvSpPr txBox="1"/>
          <p:nvPr>
            <p:ph idx="4" type="body"/>
          </p:nvPr>
        </p:nvSpPr>
        <p:spPr>
          <a:xfrm>
            <a:off x="237479" y="210911"/>
            <a:ext cx="2705537" cy="33201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accent6"/>
              </a:buClr>
              <a:buSzPts val="1800"/>
              <a:buNone/>
              <a:defRPr b="1" i="0" sz="1800">
                <a:solidFill>
                  <a:schemeClr val="accent6"/>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87" name="Google Shape;87;p10"/>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88" name="Google Shape;88;p10"/>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10"/>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 livre">
  <p:cSld name="Título + livre">
    <p:spTree>
      <p:nvGrpSpPr>
        <p:cNvPr id="90" name="Shape 90"/>
        <p:cNvGrpSpPr/>
        <p:nvPr/>
      </p:nvGrpSpPr>
      <p:grpSpPr>
        <a:xfrm>
          <a:off x="0" y="0"/>
          <a:ext cx="0" cy="0"/>
          <a:chOff x="0" y="0"/>
          <a:chExt cx="0" cy="0"/>
        </a:xfrm>
      </p:grpSpPr>
      <p:sp>
        <p:nvSpPr>
          <p:cNvPr id="91" name="Google Shape;91;p11"/>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92" name="Google Shape;92;p11"/>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 name="Google Shape;93;p11"/>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94" name="Google Shape;94;p11"/>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11"/>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vre" type="blank">
  <p:cSld name="BLANK">
    <p:spTree>
      <p:nvGrpSpPr>
        <p:cNvPr id="96" name="Shape 96"/>
        <p:cNvGrpSpPr/>
        <p:nvPr/>
      </p:nvGrpSpPr>
      <p:grpSpPr>
        <a:xfrm>
          <a:off x="0" y="0"/>
          <a:ext cx="0" cy="0"/>
          <a:chOff x="0" y="0"/>
          <a:chExt cx="0" cy="0"/>
        </a:xfrm>
      </p:grpSpPr>
      <p:sp>
        <p:nvSpPr>
          <p:cNvPr id="97" name="Google Shape;97;p12"/>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98" name="Google Shape;98;p12"/>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99" name="Google Shape;99;p12"/>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de título" showMasterSp="0">
  <p:cSld name="1_Slide de título">
    <p:spTree>
      <p:nvGrpSpPr>
        <p:cNvPr id="100" name="Shape 100"/>
        <p:cNvGrpSpPr/>
        <p:nvPr/>
      </p:nvGrpSpPr>
      <p:grpSpPr>
        <a:xfrm>
          <a:off x="0" y="0"/>
          <a:ext cx="0" cy="0"/>
          <a:chOff x="0" y="0"/>
          <a:chExt cx="0" cy="0"/>
        </a:xfrm>
      </p:grpSpPr>
      <p:sp>
        <p:nvSpPr>
          <p:cNvPr id="101" name="Google Shape;101;p13"/>
          <p:cNvSpPr/>
          <p:nvPr/>
        </p:nvSpPr>
        <p:spPr>
          <a:xfrm>
            <a:off x="1" y="571499"/>
            <a:ext cx="1885950"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02" name="Google Shape;102;p13"/>
          <p:cNvSpPr/>
          <p:nvPr/>
        </p:nvSpPr>
        <p:spPr>
          <a:xfrm>
            <a:off x="2038350" y="571499"/>
            <a:ext cx="7108336"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pic>
        <p:nvPicPr>
          <p:cNvPr id="103" name="Google Shape;103;p13"/>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de título" showMasterSp="0">
  <p:cSld name="2_Slide de título">
    <p:spTree>
      <p:nvGrpSpPr>
        <p:cNvPr id="104" name="Shape 104"/>
        <p:cNvGrpSpPr/>
        <p:nvPr/>
      </p:nvGrpSpPr>
      <p:grpSpPr>
        <a:xfrm>
          <a:off x="0" y="0"/>
          <a:ext cx="0" cy="0"/>
          <a:chOff x="0" y="0"/>
          <a:chExt cx="0" cy="0"/>
        </a:xfrm>
      </p:grpSpPr>
      <p:sp>
        <p:nvSpPr>
          <p:cNvPr id="105" name="Google Shape;105;p14"/>
          <p:cNvSpPr/>
          <p:nvPr/>
        </p:nvSpPr>
        <p:spPr>
          <a:xfrm>
            <a:off x="8861897" y="571499"/>
            <a:ext cx="284788"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06" name="Google Shape;106;p14"/>
          <p:cNvSpPr/>
          <p:nvPr/>
        </p:nvSpPr>
        <p:spPr>
          <a:xfrm>
            <a:off x="-1" y="571499"/>
            <a:ext cx="8582498"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07" name="Google Shape;107;p14"/>
          <p:cNvSpPr/>
          <p:nvPr/>
        </p:nvSpPr>
        <p:spPr>
          <a:xfrm>
            <a:off x="5911850" y="4668171"/>
            <a:ext cx="3041651" cy="230833"/>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Clr>
                <a:srgbClr val="2791A6"/>
              </a:buClr>
              <a:buSzPts val="1100"/>
              <a:buFont typeface="Calibri"/>
              <a:buNone/>
            </a:pPr>
            <a:r>
              <a:rPr b="1" i="0" lang="en-US" sz="1100" u="none" cap="none">
                <a:solidFill>
                  <a:srgbClr val="2791A6"/>
                </a:solidFill>
                <a:latin typeface="Calibri"/>
                <a:ea typeface="Calibri"/>
                <a:cs typeface="Calibri"/>
                <a:sym typeface="Calibri"/>
              </a:rPr>
              <a:t>Título do trabalho</a:t>
            </a:r>
            <a:endParaRPr b="1" i="0" sz="1100" u="none" cap="none">
              <a:solidFill>
                <a:srgbClr val="2791A6"/>
              </a:solidFill>
              <a:latin typeface="Calibri"/>
              <a:ea typeface="Calibri"/>
              <a:cs typeface="Calibri"/>
              <a:sym typeface="Calibri"/>
            </a:endParaRPr>
          </a:p>
        </p:txBody>
      </p:sp>
      <p:pic>
        <p:nvPicPr>
          <p:cNvPr id="108" name="Google Shape;108;p14"/>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lide de título" showMasterSp="0">
  <p:cSld name="3_Slide de título">
    <p:spTree>
      <p:nvGrpSpPr>
        <p:cNvPr id="109" name="Shape 109"/>
        <p:cNvGrpSpPr/>
        <p:nvPr/>
      </p:nvGrpSpPr>
      <p:grpSpPr>
        <a:xfrm>
          <a:off x="0" y="0"/>
          <a:ext cx="0" cy="0"/>
          <a:chOff x="0" y="0"/>
          <a:chExt cx="0" cy="0"/>
        </a:xfrm>
      </p:grpSpPr>
      <p:sp>
        <p:nvSpPr>
          <p:cNvPr id="110" name="Google Shape;110;p15"/>
          <p:cNvSpPr/>
          <p:nvPr/>
        </p:nvSpPr>
        <p:spPr>
          <a:xfrm>
            <a:off x="7260736" y="571499"/>
            <a:ext cx="1885950"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11" name="Google Shape;111;p15"/>
          <p:cNvSpPr/>
          <p:nvPr/>
        </p:nvSpPr>
        <p:spPr>
          <a:xfrm>
            <a:off x="-1" y="571499"/>
            <a:ext cx="7108336"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12" name="Google Shape;112;p15"/>
          <p:cNvSpPr/>
          <p:nvPr/>
        </p:nvSpPr>
        <p:spPr>
          <a:xfrm>
            <a:off x="5911850" y="4668171"/>
            <a:ext cx="3041651" cy="230833"/>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Clr>
                <a:srgbClr val="2791A6"/>
              </a:buClr>
              <a:buSzPts val="1100"/>
              <a:buFont typeface="Calibri"/>
              <a:buNone/>
            </a:pPr>
            <a:r>
              <a:rPr b="1" i="0" lang="en-US" sz="1100" u="none" cap="none">
                <a:solidFill>
                  <a:srgbClr val="2791A6"/>
                </a:solidFill>
                <a:latin typeface="Calibri"/>
                <a:ea typeface="Calibri"/>
                <a:cs typeface="Calibri"/>
                <a:sym typeface="Calibri"/>
              </a:rPr>
              <a:t>Título do trabalho</a:t>
            </a:r>
            <a:endParaRPr b="1" i="0" sz="1100" u="none" cap="none">
              <a:solidFill>
                <a:srgbClr val="2791A6"/>
              </a:solidFill>
              <a:latin typeface="Calibri"/>
              <a:ea typeface="Calibri"/>
              <a:cs typeface="Calibri"/>
              <a:sym typeface="Calibri"/>
            </a:endParaRPr>
          </a:p>
        </p:txBody>
      </p:sp>
      <p:pic>
        <p:nvPicPr>
          <p:cNvPr id="113" name="Google Shape;113;p15"/>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pa">
  <p:cSld name="1_Capa">
    <p:spTree>
      <p:nvGrpSpPr>
        <p:cNvPr id="114" name="Shape 114"/>
        <p:cNvGrpSpPr/>
        <p:nvPr/>
      </p:nvGrpSpPr>
      <p:grpSpPr>
        <a:xfrm>
          <a:off x="0" y="0"/>
          <a:ext cx="0" cy="0"/>
          <a:chOff x="0" y="0"/>
          <a:chExt cx="0" cy="0"/>
        </a:xfrm>
      </p:grpSpPr>
      <p:sp>
        <p:nvSpPr>
          <p:cNvPr id="115" name="Google Shape;115;p16"/>
          <p:cNvSpPr/>
          <p:nvPr/>
        </p:nvSpPr>
        <p:spPr>
          <a:xfrm>
            <a:off x="0" y="0"/>
            <a:ext cx="9144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FFFFFF"/>
              </a:solidFill>
              <a:latin typeface="Calibri"/>
              <a:ea typeface="Calibri"/>
              <a:cs typeface="Calibri"/>
              <a:sym typeface="Calibri"/>
            </a:endParaRPr>
          </a:p>
        </p:txBody>
      </p:sp>
      <p:sp>
        <p:nvSpPr>
          <p:cNvPr id="116" name="Google Shape;116;p16"/>
          <p:cNvSpPr/>
          <p:nvPr/>
        </p:nvSpPr>
        <p:spPr>
          <a:xfrm>
            <a:off x="232172" y="0"/>
            <a:ext cx="627459" cy="206657"/>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D3DFFF"/>
              </a:solidFill>
              <a:latin typeface="Calibri"/>
              <a:ea typeface="Calibri"/>
              <a:cs typeface="Calibri"/>
              <a:sym typeface="Calibri"/>
            </a:endParaRPr>
          </a:p>
        </p:txBody>
      </p:sp>
      <p:pic>
        <p:nvPicPr>
          <p:cNvPr id="117" name="Google Shape;117;p16"/>
          <p:cNvPicPr preferRelativeResize="0"/>
          <p:nvPr/>
        </p:nvPicPr>
        <p:blipFill rotWithShape="1">
          <a:blip r:embed="rId2">
            <a:alphaModFix/>
          </a:blip>
          <a:srcRect b="0" l="0" r="0" t="0"/>
          <a:stretch/>
        </p:blipFill>
        <p:spPr>
          <a:xfrm>
            <a:off x="230981" y="242549"/>
            <a:ext cx="628950" cy="215992"/>
          </a:xfrm>
          <a:prstGeom prst="rect">
            <a:avLst/>
          </a:prstGeom>
          <a:noFill/>
          <a:ln>
            <a:noFill/>
          </a:ln>
        </p:spPr>
      </p:pic>
      <p:sp>
        <p:nvSpPr>
          <p:cNvPr id="118" name="Google Shape;118;p16"/>
          <p:cNvSpPr/>
          <p:nvPr/>
        </p:nvSpPr>
        <p:spPr>
          <a:xfrm>
            <a:off x="884635" y="194750"/>
            <a:ext cx="6509147" cy="311944"/>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500"/>
              <a:buFont typeface="Arial"/>
              <a:buNone/>
            </a:pPr>
            <a:r>
              <a:t/>
            </a:r>
            <a:endParaRPr b="0" i="0" sz="1500" u="none" cap="none">
              <a:solidFill>
                <a:srgbClr val="FFFFFF"/>
              </a:solidFill>
              <a:latin typeface="Calibri"/>
              <a:ea typeface="Calibri"/>
              <a:cs typeface="Calibri"/>
              <a:sym typeface="Calibri"/>
            </a:endParaRPr>
          </a:p>
        </p:txBody>
      </p:sp>
      <p:sp>
        <p:nvSpPr>
          <p:cNvPr id="119" name="Google Shape;119;p16"/>
          <p:cNvSpPr/>
          <p:nvPr/>
        </p:nvSpPr>
        <p:spPr>
          <a:xfrm>
            <a:off x="884635" y="410253"/>
            <a:ext cx="6516290" cy="230981"/>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100"/>
              <a:buFont typeface="Arial"/>
              <a:buNone/>
            </a:pPr>
            <a:r>
              <a:t/>
            </a:r>
            <a:endParaRPr b="0" i="0" sz="1100" u="none" cap="none">
              <a:solidFill>
                <a:srgbClr val="D3DFFF"/>
              </a:solidFill>
              <a:latin typeface="Calibri"/>
              <a:ea typeface="Calibri"/>
              <a:cs typeface="Calibri"/>
              <a:sym typeface="Calibri"/>
            </a:endParaRPr>
          </a:p>
        </p:txBody>
      </p:sp>
      <p:sp>
        <p:nvSpPr>
          <p:cNvPr id="120" name="Google Shape;120;p16"/>
          <p:cNvSpPr txBox="1"/>
          <p:nvPr>
            <p:ph type="title"/>
          </p:nvPr>
        </p:nvSpPr>
        <p:spPr>
          <a:xfrm>
            <a:off x="225461" y="1032273"/>
            <a:ext cx="8677054" cy="2176883"/>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lt1"/>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21" name="Google Shape;121;p16"/>
          <p:cNvSpPr txBox="1"/>
          <p:nvPr>
            <p:ph idx="1" type="body"/>
          </p:nvPr>
        </p:nvSpPr>
        <p:spPr>
          <a:xfrm>
            <a:off x="225461" y="3229396"/>
            <a:ext cx="8677054" cy="1125140"/>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i="0" sz="18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22" name="Google Shape;122;p16"/>
          <p:cNvSpPr txBox="1"/>
          <p:nvPr>
            <p:ph idx="2" type="body"/>
          </p:nvPr>
        </p:nvSpPr>
        <p:spPr>
          <a:xfrm>
            <a:off x="225461" y="3584684"/>
            <a:ext cx="4211999" cy="769852"/>
          </a:xfrm>
          <a:prstGeom prst="rect">
            <a:avLst/>
          </a:prstGeom>
          <a:noFill/>
          <a:ln>
            <a:noFill/>
          </a:ln>
        </p:spPr>
        <p:txBody>
          <a:bodyPr anchorCtr="0" anchor="b" bIns="34275" lIns="0" spcFirstLastPara="1" rIns="68575" wrap="square" tIns="34275">
            <a:noAutofit/>
          </a:bodyPr>
          <a:lstStyle>
            <a:lvl1pPr indent="-228600" lvl="0" marL="457200" algn="l">
              <a:lnSpc>
                <a:spcPct val="90000"/>
              </a:lnSpc>
              <a:spcBef>
                <a:spcPts val="800"/>
              </a:spcBef>
              <a:spcAft>
                <a:spcPts val="0"/>
              </a:spcAft>
              <a:buClr>
                <a:schemeClr val="lt1"/>
              </a:buClr>
              <a:buSzPts val="1400"/>
              <a:buNone/>
              <a:defRPr b="0" i="0" sz="14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23" name="Google Shape;123;p16"/>
          <p:cNvSpPr/>
          <p:nvPr/>
        </p:nvSpPr>
        <p:spPr>
          <a:xfrm>
            <a:off x="6912769" y="3473173"/>
            <a:ext cx="2231231" cy="92868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FFFFFF"/>
              </a:solidFill>
              <a:latin typeface="Calibri"/>
              <a:ea typeface="Calibri"/>
              <a:cs typeface="Calibri"/>
              <a:sym typeface="Calibri"/>
            </a:endParaRPr>
          </a:p>
        </p:txBody>
      </p:sp>
      <p:pic>
        <p:nvPicPr>
          <p:cNvPr id="124" name="Google Shape;124;p16"/>
          <p:cNvPicPr preferRelativeResize="0"/>
          <p:nvPr/>
        </p:nvPicPr>
        <p:blipFill rotWithShape="1">
          <a:blip r:embed="rId3">
            <a:alphaModFix/>
          </a:blip>
          <a:srcRect b="0" l="0" r="10690" t="0"/>
          <a:stretch/>
        </p:blipFill>
        <p:spPr>
          <a:xfrm>
            <a:off x="7073283" y="3304646"/>
            <a:ext cx="2038060" cy="12242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1 conteúdo">
  <p:cSld name="1_1 conteúdo">
    <p:spTree>
      <p:nvGrpSpPr>
        <p:cNvPr id="125" name="Shape 125"/>
        <p:cNvGrpSpPr/>
        <p:nvPr/>
      </p:nvGrpSpPr>
      <p:grpSpPr>
        <a:xfrm>
          <a:off x="0" y="0"/>
          <a:ext cx="0" cy="0"/>
          <a:chOff x="0" y="0"/>
          <a:chExt cx="0" cy="0"/>
        </a:xfrm>
      </p:grpSpPr>
      <p:sp>
        <p:nvSpPr>
          <p:cNvPr id="126" name="Google Shape;126;p17"/>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27" name="Google Shape;127;p17"/>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17"/>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9" name="Google Shape;129;p17"/>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0" name="Google Shape;130;p17"/>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údo + scores">
  <p:cSld name="1_Conteúdo + scores">
    <p:spTree>
      <p:nvGrpSpPr>
        <p:cNvPr id="131" name="Shape 131"/>
        <p:cNvGrpSpPr/>
        <p:nvPr/>
      </p:nvGrpSpPr>
      <p:grpSpPr>
        <a:xfrm>
          <a:off x="0" y="0"/>
          <a:ext cx="0" cy="0"/>
          <a:chOff x="0" y="0"/>
          <a:chExt cx="0" cy="0"/>
        </a:xfrm>
      </p:grpSpPr>
      <p:sp>
        <p:nvSpPr>
          <p:cNvPr id="132" name="Google Shape;132;p18"/>
          <p:cNvSpPr txBox="1"/>
          <p:nvPr>
            <p:ph idx="1"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3" name="Google Shape;133;p18"/>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34" name="Google Shape;134;p18"/>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5" name="Google Shape;135;p18"/>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6" name="Google Shape;136;p18"/>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37" name="Google Shape;137;p18"/>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18"/>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2 conteúdos">
  <p:cSld name="1_2 conteúdos">
    <p:spTree>
      <p:nvGrpSpPr>
        <p:cNvPr id="139" name="Shape 139"/>
        <p:cNvGrpSpPr/>
        <p:nvPr/>
      </p:nvGrpSpPr>
      <p:grpSpPr>
        <a:xfrm>
          <a:off x="0" y="0"/>
          <a:ext cx="0" cy="0"/>
          <a:chOff x="0" y="0"/>
          <a:chExt cx="0" cy="0"/>
        </a:xfrm>
      </p:grpSpPr>
      <p:sp>
        <p:nvSpPr>
          <p:cNvPr id="140" name="Google Shape;140;p19"/>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41" name="Google Shape;141;p19"/>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2" name="Google Shape;142;p19"/>
          <p:cNvSpPr txBox="1"/>
          <p:nvPr>
            <p:ph idx="2"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19"/>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4" name="Google Shape;144;p19"/>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45" name="Google Shape;145;p19"/>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6" name="Google Shape;146;p19"/>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2 conteúdos subtítulo">
  <p:cSld name="1_2 conteúdos subtítulo">
    <p:spTree>
      <p:nvGrpSpPr>
        <p:cNvPr id="147" name="Shape 147"/>
        <p:cNvGrpSpPr/>
        <p:nvPr/>
      </p:nvGrpSpPr>
      <p:grpSpPr>
        <a:xfrm>
          <a:off x="0" y="0"/>
          <a:ext cx="0" cy="0"/>
          <a:chOff x="0" y="0"/>
          <a:chExt cx="0" cy="0"/>
        </a:xfrm>
      </p:grpSpPr>
      <p:sp>
        <p:nvSpPr>
          <p:cNvPr id="148" name="Google Shape;148;p20"/>
          <p:cNvSpPr txBox="1"/>
          <p:nvPr>
            <p:ph idx="1" type="body"/>
          </p:nvPr>
        </p:nvSpPr>
        <p:spPr>
          <a:xfrm>
            <a:off x="225028" y="1032693"/>
            <a:ext cx="421243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49" name="Google Shape;149;p20"/>
          <p:cNvSpPr txBox="1"/>
          <p:nvPr>
            <p:ph idx="2" type="body"/>
          </p:nvPr>
        </p:nvSpPr>
        <p:spPr>
          <a:xfrm>
            <a:off x="225028" y="1650626"/>
            <a:ext cx="4238625" cy="2859473"/>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0" name="Google Shape;150;p20"/>
          <p:cNvSpPr txBox="1"/>
          <p:nvPr>
            <p:ph idx="3" type="body"/>
          </p:nvPr>
        </p:nvSpPr>
        <p:spPr>
          <a:xfrm>
            <a:off x="4706541" y="1032693"/>
            <a:ext cx="419576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51" name="Google Shape;151;p20"/>
          <p:cNvSpPr txBox="1"/>
          <p:nvPr>
            <p:ph idx="4" type="body"/>
          </p:nvPr>
        </p:nvSpPr>
        <p:spPr>
          <a:xfrm>
            <a:off x="4689872" y="1650626"/>
            <a:ext cx="4212430" cy="2867656"/>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20"/>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53" name="Google Shape;153;p20"/>
          <p:cNvSpPr txBox="1"/>
          <p:nvPr>
            <p:ph idx="5"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4" name="Google Shape;154;p20"/>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55" name="Google Shape;155;p20"/>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6" name="Google Shape;156;p20"/>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údo + imagem(s)">
  <p:cSld name="1_Conteúdo + imagem(s)">
    <p:spTree>
      <p:nvGrpSpPr>
        <p:cNvPr id="157" name="Shape 157"/>
        <p:cNvGrpSpPr/>
        <p:nvPr/>
      </p:nvGrpSpPr>
      <p:grpSpPr>
        <a:xfrm>
          <a:off x="0" y="0"/>
          <a:ext cx="0" cy="0"/>
          <a:chOff x="0" y="0"/>
          <a:chExt cx="0" cy="0"/>
        </a:xfrm>
      </p:grpSpPr>
      <p:sp>
        <p:nvSpPr>
          <p:cNvPr id="158" name="Google Shape;158;p21"/>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59" name="Google Shape;159;p21"/>
          <p:cNvSpPr txBox="1"/>
          <p:nvPr>
            <p:ph idx="2" type="body"/>
          </p:nvPr>
        </p:nvSpPr>
        <p:spPr>
          <a:xfrm>
            <a:off x="241484" y="1861796"/>
            <a:ext cx="2701531" cy="1977668"/>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0" name="Google Shape;160;p21"/>
          <p:cNvSpPr txBox="1"/>
          <p:nvPr>
            <p:ph type="title"/>
          </p:nvPr>
        </p:nvSpPr>
        <p:spPr>
          <a:xfrm>
            <a:off x="225028" y="195263"/>
            <a:ext cx="2726531" cy="1666534"/>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61" name="Google Shape;161;p21"/>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 name="Google Shape;162;p21"/>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63" name="Google Shape;163;p21"/>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64" name="Google Shape;164;p21"/>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údo + chapéu + imagem(s)">
  <p:cSld name="1_Conteúdo + chapéu + imagem(s)">
    <p:spTree>
      <p:nvGrpSpPr>
        <p:cNvPr id="165" name="Shape 165"/>
        <p:cNvGrpSpPr/>
        <p:nvPr/>
      </p:nvGrpSpPr>
      <p:grpSpPr>
        <a:xfrm>
          <a:off x="0" y="0"/>
          <a:ext cx="0" cy="0"/>
          <a:chOff x="0" y="0"/>
          <a:chExt cx="0" cy="0"/>
        </a:xfrm>
      </p:grpSpPr>
      <p:sp>
        <p:nvSpPr>
          <p:cNvPr id="166" name="Google Shape;166;p22"/>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67" name="Google Shape;167;p22"/>
          <p:cNvSpPr txBox="1"/>
          <p:nvPr>
            <p:ph idx="2" type="body"/>
          </p:nvPr>
        </p:nvSpPr>
        <p:spPr>
          <a:xfrm>
            <a:off x="241484" y="2003342"/>
            <a:ext cx="2701531" cy="183612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8" name="Google Shape;168;p22"/>
          <p:cNvSpPr txBox="1"/>
          <p:nvPr>
            <p:ph type="title"/>
          </p:nvPr>
        </p:nvSpPr>
        <p:spPr>
          <a:xfrm>
            <a:off x="225028" y="542925"/>
            <a:ext cx="2726531" cy="1460417"/>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69" name="Google Shape;169;p22"/>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0" name="Google Shape;170;p22"/>
          <p:cNvSpPr txBox="1"/>
          <p:nvPr>
            <p:ph idx="4" type="body"/>
          </p:nvPr>
        </p:nvSpPr>
        <p:spPr>
          <a:xfrm>
            <a:off x="237479" y="210911"/>
            <a:ext cx="2705537" cy="33201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accent6"/>
              </a:buClr>
              <a:buSzPts val="1800"/>
              <a:buNone/>
              <a:defRPr b="1" i="0" sz="1800">
                <a:solidFill>
                  <a:schemeClr val="accent6"/>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71" name="Google Shape;171;p22"/>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72" name="Google Shape;172;p22"/>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73" name="Google Shape;173;p22"/>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 livre">
  <p:cSld name="1_Título + livre">
    <p:spTree>
      <p:nvGrpSpPr>
        <p:cNvPr id="174" name="Shape 174"/>
        <p:cNvGrpSpPr/>
        <p:nvPr/>
      </p:nvGrpSpPr>
      <p:grpSpPr>
        <a:xfrm>
          <a:off x="0" y="0"/>
          <a:ext cx="0" cy="0"/>
          <a:chOff x="0" y="0"/>
          <a:chExt cx="0" cy="0"/>
        </a:xfrm>
      </p:grpSpPr>
      <p:sp>
        <p:nvSpPr>
          <p:cNvPr id="175" name="Google Shape;175;p23"/>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76" name="Google Shape;176;p23"/>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7" name="Google Shape;177;p23"/>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78" name="Google Shape;178;p23"/>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79" name="Google Shape;179;p23"/>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1 conteúdo">
  <p:cSld name="2_1 conteúdo">
    <p:spTree>
      <p:nvGrpSpPr>
        <p:cNvPr id="180" name="Shape 180"/>
        <p:cNvGrpSpPr/>
        <p:nvPr/>
      </p:nvGrpSpPr>
      <p:grpSpPr>
        <a:xfrm>
          <a:off x="0" y="0"/>
          <a:ext cx="0" cy="0"/>
          <a:chOff x="0" y="0"/>
          <a:chExt cx="0" cy="0"/>
        </a:xfrm>
      </p:grpSpPr>
      <p:sp>
        <p:nvSpPr>
          <p:cNvPr id="181" name="Google Shape;181;p24"/>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b="1">
                <a:solidFill>
                  <a:schemeClr val="accent6"/>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82" name="Google Shape;182;p24"/>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3" name="Google Shape;183;p24"/>
          <p:cNvSpPr txBox="1"/>
          <p:nvPr>
            <p:ph idx="12" type="sldNum"/>
          </p:nvPr>
        </p:nvSpPr>
        <p:spPr>
          <a:xfrm>
            <a:off x="8322257" y="4800309"/>
            <a:ext cx="596716"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apa">
  <p:cSld name="2_Capa">
    <p:spTree>
      <p:nvGrpSpPr>
        <p:cNvPr id="184" name="Shape 184"/>
        <p:cNvGrpSpPr/>
        <p:nvPr/>
      </p:nvGrpSpPr>
      <p:grpSpPr>
        <a:xfrm>
          <a:off x="0" y="0"/>
          <a:ext cx="0" cy="0"/>
          <a:chOff x="0" y="0"/>
          <a:chExt cx="0" cy="0"/>
        </a:xfrm>
      </p:grpSpPr>
      <p:sp>
        <p:nvSpPr>
          <p:cNvPr id="185" name="Google Shape;185;p25"/>
          <p:cNvSpPr/>
          <p:nvPr/>
        </p:nvSpPr>
        <p:spPr>
          <a:xfrm>
            <a:off x="0" y="0"/>
            <a:ext cx="9144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sp>
        <p:nvSpPr>
          <p:cNvPr id="186" name="Google Shape;186;p25"/>
          <p:cNvSpPr/>
          <p:nvPr/>
        </p:nvSpPr>
        <p:spPr>
          <a:xfrm>
            <a:off x="232172" y="0"/>
            <a:ext cx="627459" cy="206657"/>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accent3"/>
              </a:solidFill>
              <a:latin typeface="Calibri"/>
              <a:ea typeface="Calibri"/>
              <a:cs typeface="Calibri"/>
              <a:sym typeface="Calibri"/>
            </a:endParaRPr>
          </a:p>
        </p:txBody>
      </p:sp>
      <p:pic>
        <p:nvPicPr>
          <p:cNvPr id="187" name="Google Shape;187;p25"/>
          <p:cNvPicPr preferRelativeResize="0"/>
          <p:nvPr/>
        </p:nvPicPr>
        <p:blipFill rotWithShape="1">
          <a:blip r:embed="rId2">
            <a:alphaModFix/>
          </a:blip>
          <a:srcRect b="0" l="0" r="0" t="0"/>
          <a:stretch/>
        </p:blipFill>
        <p:spPr>
          <a:xfrm>
            <a:off x="230981" y="242549"/>
            <a:ext cx="628950" cy="215992"/>
          </a:xfrm>
          <a:prstGeom prst="rect">
            <a:avLst/>
          </a:prstGeom>
          <a:noFill/>
          <a:ln>
            <a:noFill/>
          </a:ln>
        </p:spPr>
      </p:pic>
      <p:sp>
        <p:nvSpPr>
          <p:cNvPr id="188" name="Google Shape;188;p25"/>
          <p:cNvSpPr/>
          <p:nvPr/>
        </p:nvSpPr>
        <p:spPr>
          <a:xfrm>
            <a:off x="884635" y="194750"/>
            <a:ext cx="6509147" cy="311944"/>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500"/>
              <a:buFont typeface="Arial"/>
              <a:buNone/>
            </a:pPr>
            <a:r>
              <a:t/>
            </a:r>
            <a:endParaRPr b="0" i="0" sz="1500" u="none" cap="none">
              <a:solidFill>
                <a:schemeClr val="lt1"/>
              </a:solidFill>
              <a:latin typeface="Calibri"/>
              <a:ea typeface="Calibri"/>
              <a:cs typeface="Calibri"/>
              <a:sym typeface="Calibri"/>
            </a:endParaRPr>
          </a:p>
        </p:txBody>
      </p:sp>
      <p:sp>
        <p:nvSpPr>
          <p:cNvPr id="189" name="Google Shape;189;p25"/>
          <p:cNvSpPr/>
          <p:nvPr/>
        </p:nvSpPr>
        <p:spPr>
          <a:xfrm>
            <a:off x="884635" y="410253"/>
            <a:ext cx="6516290" cy="230981"/>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100"/>
              <a:buFont typeface="Arial"/>
              <a:buNone/>
            </a:pPr>
            <a:r>
              <a:t/>
            </a:r>
            <a:endParaRPr b="0" i="0" sz="1100" u="none" cap="none">
              <a:solidFill>
                <a:srgbClr val="D3DFFF"/>
              </a:solidFill>
              <a:latin typeface="Calibri"/>
              <a:ea typeface="Calibri"/>
              <a:cs typeface="Calibri"/>
              <a:sym typeface="Calibri"/>
            </a:endParaRPr>
          </a:p>
        </p:txBody>
      </p:sp>
      <p:sp>
        <p:nvSpPr>
          <p:cNvPr id="190" name="Google Shape;190;p25"/>
          <p:cNvSpPr txBox="1"/>
          <p:nvPr>
            <p:ph type="title"/>
          </p:nvPr>
        </p:nvSpPr>
        <p:spPr>
          <a:xfrm>
            <a:off x="225461" y="1032273"/>
            <a:ext cx="8677054" cy="2176883"/>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lt1"/>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91" name="Google Shape;191;p25"/>
          <p:cNvSpPr txBox="1"/>
          <p:nvPr>
            <p:ph idx="1" type="body"/>
          </p:nvPr>
        </p:nvSpPr>
        <p:spPr>
          <a:xfrm>
            <a:off x="225461" y="3229396"/>
            <a:ext cx="8677054" cy="1125140"/>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i="0" sz="18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92" name="Google Shape;192;p25"/>
          <p:cNvSpPr txBox="1"/>
          <p:nvPr>
            <p:ph idx="2" type="body"/>
          </p:nvPr>
        </p:nvSpPr>
        <p:spPr>
          <a:xfrm>
            <a:off x="225461" y="3584684"/>
            <a:ext cx="4211999" cy="769852"/>
          </a:xfrm>
          <a:prstGeom prst="rect">
            <a:avLst/>
          </a:prstGeom>
          <a:noFill/>
          <a:ln>
            <a:noFill/>
          </a:ln>
        </p:spPr>
        <p:txBody>
          <a:bodyPr anchorCtr="0" anchor="b" bIns="34275" lIns="0" spcFirstLastPara="1" rIns="68575" wrap="square" tIns="34275">
            <a:noAutofit/>
          </a:bodyPr>
          <a:lstStyle>
            <a:lvl1pPr indent="-228600" lvl="0" marL="457200" algn="l">
              <a:lnSpc>
                <a:spcPct val="90000"/>
              </a:lnSpc>
              <a:spcBef>
                <a:spcPts val="800"/>
              </a:spcBef>
              <a:spcAft>
                <a:spcPts val="0"/>
              </a:spcAft>
              <a:buClr>
                <a:schemeClr val="lt1"/>
              </a:buClr>
              <a:buSzPts val="1400"/>
              <a:buNone/>
              <a:defRPr b="0" i="0" sz="14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93" name="Google Shape;193;p25"/>
          <p:cNvSpPr/>
          <p:nvPr/>
        </p:nvSpPr>
        <p:spPr>
          <a:xfrm>
            <a:off x="6912769" y="3473173"/>
            <a:ext cx="2231231" cy="92868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lt1"/>
              </a:solidFill>
              <a:latin typeface="Calibri"/>
              <a:ea typeface="Calibri"/>
              <a:cs typeface="Calibri"/>
              <a:sym typeface="Calibri"/>
            </a:endParaRPr>
          </a:p>
        </p:txBody>
      </p:sp>
      <p:pic>
        <p:nvPicPr>
          <p:cNvPr id="194" name="Google Shape;194;p25"/>
          <p:cNvPicPr preferRelativeResize="0"/>
          <p:nvPr/>
        </p:nvPicPr>
        <p:blipFill rotWithShape="1">
          <a:blip r:embed="rId3">
            <a:alphaModFix/>
          </a:blip>
          <a:srcRect b="0" l="0" r="10690" t="0"/>
          <a:stretch/>
        </p:blipFill>
        <p:spPr>
          <a:xfrm>
            <a:off x="7073283" y="3304646"/>
            <a:ext cx="2038060" cy="122429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1 conteúdo">
  <p:cSld name="3_1 conteúdo">
    <p:spTree>
      <p:nvGrpSpPr>
        <p:cNvPr id="195" name="Shape 195"/>
        <p:cNvGrpSpPr/>
        <p:nvPr/>
      </p:nvGrpSpPr>
      <p:grpSpPr>
        <a:xfrm>
          <a:off x="0" y="0"/>
          <a:ext cx="0" cy="0"/>
          <a:chOff x="0" y="0"/>
          <a:chExt cx="0" cy="0"/>
        </a:xfrm>
      </p:grpSpPr>
      <p:sp>
        <p:nvSpPr>
          <p:cNvPr id="196" name="Google Shape;196;p26"/>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97" name="Google Shape;197;p26"/>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8" name="Google Shape;198;p26"/>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9" name="Google Shape;199;p26"/>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00" name="Google Shape;200;p26"/>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údo + scores">
  <p:cSld name="2_Conteúdo + scores">
    <p:spTree>
      <p:nvGrpSpPr>
        <p:cNvPr id="201" name="Shape 201"/>
        <p:cNvGrpSpPr/>
        <p:nvPr/>
      </p:nvGrpSpPr>
      <p:grpSpPr>
        <a:xfrm>
          <a:off x="0" y="0"/>
          <a:ext cx="0" cy="0"/>
          <a:chOff x="0" y="0"/>
          <a:chExt cx="0" cy="0"/>
        </a:xfrm>
      </p:grpSpPr>
      <p:sp>
        <p:nvSpPr>
          <p:cNvPr id="202" name="Google Shape;202;p27"/>
          <p:cNvSpPr txBox="1"/>
          <p:nvPr>
            <p:ph idx="1"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3" name="Google Shape;203;p27"/>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04" name="Google Shape;204;p27"/>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5" name="Google Shape;205;p27"/>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6" name="Google Shape;206;p27"/>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07" name="Google Shape;207;p27"/>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08" name="Google Shape;208;p27"/>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2 conteúdos">
  <p:cSld name="2_2 conteúdos">
    <p:spTree>
      <p:nvGrpSpPr>
        <p:cNvPr id="209" name="Shape 209"/>
        <p:cNvGrpSpPr/>
        <p:nvPr/>
      </p:nvGrpSpPr>
      <p:grpSpPr>
        <a:xfrm>
          <a:off x="0" y="0"/>
          <a:ext cx="0" cy="0"/>
          <a:chOff x="0" y="0"/>
          <a:chExt cx="0" cy="0"/>
        </a:xfrm>
      </p:grpSpPr>
      <p:sp>
        <p:nvSpPr>
          <p:cNvPr id="210" name="Google Shape;210;p28"/>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11" name="Google Shape;211;p28"/>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2" name="Google Shape;212;p28"/>
          <p:cNvSpPr txBox="1"/>
          <p:nvPr>
            <p:ph idx="2"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3" name="Google Shape;213;p28"/>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4" name="Google Shape;214;p28"/>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15" name="Google Shape;215;p28"/>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16" name="Google Shape;216;p28"/>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2 conteúdos subtítulo">
  <p:cSld name="2_2 conteúdos subtítulo">
    <p:spTree>
      <p:nvGrpSpPr>
        <p:cNvPr id="217" name="Shape 217"/>
        <p:cNvGrpSpPr/>
        <p:nvPr/>
      </p:nvGrpSpPr>
      <p:grpSpPr>
        <a:xfrm>
          <a:off x="0" y="0"/>
          <a:ext cx="0" cy="0"/>
          <a:chOff x="0" y="0"/>
          <a:chExt cx="0" cy="0"/>
        </a:xfrm>
      </p:grpSpPr>
      <p:sp>
        <p:nvSpPr>
          <p:cNvPr id="218" name="Google Shape;218;p29"/>
          <p:cNvSpPr txBox="1"/>
          <p:nvPr>
            <p:ph idx="1" type="body"/>
          </p:nvPr>
        </p:nvSpPr>
        <p:spPr>
          <a:xfrm>
            <a:off x="225028" y="1032693"/>
            <a:ext cx="421243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19" name="Google Shape;219;p29"/>
          <p:cNvSpPr txBox="1"/>
          <p:nvPr>
            <p:ph idx="2" type="body"/>
          </p:nvPr>
        </p:nvSpPr>
        <p:spPr>
          <a:xfrm>
            <a:off x="225028" y="1650626"/>
            <a:ext cx="4238625" cy="2859473"/>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0" name="Google Shape;220;p29"/>
          <p:cNvSpPr txBox="1"/>
          <p:nvPr>
            <p:ph idx="3" type="body"/>
          </p:nvPr>
        </p:nvSpPr>
        <p:spPr>
          <a:xfrm>
            <a:off x="4706541" y="1032693"/>
            <a:ext cx="419576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21" name="Google Shape;221;p29"/>
          <p:cNvSpPr txBox="1"/>
          <p:nvPr>
            <p:ph idx="4" type="body"/>
          </p:nvPr>
        </p:nvSpPr>
        <p:spPr>
          <a:xfrm>
            <a:off x="4689872" y="1650626"/>
            <a:ext cx="4212430" cy="2867656"/>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2" name="Google Shape;222;p29"/>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23" name="Google Shape;223;p29"/>
          <p:cNvSpPr txBox="1"/>
          <p:nvPr>
            <p:ph idx="5"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4" name="Google Shape;224;p29"/>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25" name="Google Shape;225;p29"/>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26" name="Google Shape;226;p29"/>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údo + imagem(s)">
  <p:cSld name="2_Conteúdo + imagem(s)">
    <p:spTree>
      <p:nvGrpSpPr>
        <p:cNvPr id="227" name="Shape 227"/>
        <p:cNvGrpSpPr/>
        <p:nvPr/>
      </p:nvGrpSpPr>
      <p:grpSpPr>
        <a:xfrm>
          <a:off x="0" y="0"/>
          <a:ext cx="0" cy="0"/>
          <a:chOff x="0" y="0"/>
          <a:chExt cx="0" cy="0"/>
        </a:xfrm>
      </p:grpSpPr>
      <p:sp>
        <p:nvSpPr>
          <p:cNvPr id="228" name="Google Shape;228;p30"/>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29" name="Google Shape;229;p30"/>
          <p:cNvSpPr txBox="1"/>
          <p:nvPr>
            <p:ph idx="2" type="body"/>
          </p:nvPr>
        </p:nvSpPr>
        <p:spPr>
          <a:xfrm>
            <a:off x="241484" y="1861796"/>
            <a:ext cx="2701531" cy="1977668"/>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0" name="Google Shape;230;p30"/>
          <p:cNvSpPr txBox="1"/>
          <p:nvPr>
            <p:ph type="title"/>
          </p:nvPr>
        </p:nvSpPr>
        <p:spPr>
          <a:xfrm>
            <a:off x="225028" y="195263"/>
            <a:ext cx="2726531" cy="1666534"/>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31" name="Google Shape;231;p30"/>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2" name="Google Shape;232;p30"/>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33" name="Google Shape;233;p30"/>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34" name="Google Shape;234;p30"/>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údo + chapéu + imagem(s)">
  <p:cSld name="2_Conteúdo + chapéu + imagem(s)">
    <p:spTree>
      <p:nvGrpSpPr>
        <p:cNvPr id="235" name="Shape 235"/>
        <p:cNvGrpSpPr/>
        <p:nvPr/>
      </p:nvGrpSpPr>
      <p:grpSpPr>
        <a:xfrm>
          <a:off x="0" y="0"/>
          <a:ext cx="0" cy="0"/>
          <a:chOff x="0" y="0"/>
          <a:chExt cx="0" cy="0"/>
        </a:xfrm>
      </p:grpSpPr>
      <p:sp>
        <p:nvSpPr>
          <p:cNvPr id="236" name="Google Shape;236;p31"/>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37" name="Google Shape;237;p31"/>
          <p:cNvSpPr txBox="1"/>
          <p:nvPr>
            <p:ph idx="2" type="body"/>
          </p:nvPr>
        </p:nvSpPr>
        <p:spPr>
          <a:xfrm>
            <a:off x="241484" y="2003342"/>
            <a:ext cx="2701531" cy="183612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8" name="Google Shape;238;p31"/>
          <p:cNvSpPr txBox="1"/>
          <p:nvPr>
            <p:ph type="title"/>
          </p:nvPr>
        </p:nvSpPr>
        <p:spPr>
          <a:xfrm>
            <a:off x="225028" y="542925"/>
            <a:ext cx="2726531" cy="1460417"/>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39" name="Google Shape;239;p31"/>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0" name="Google Shape;240;p31"/>
          <p:cNvSpPr txBox="1"/>
          <p:nvPr>
            <p:ph idx="4" type="body"/>
          </p:nvPr>
        </p:nvSpPr>
        <p:spPr>
          <a:xfrm>
            <a:off x="237479" y="210911"/>
            <a:ext cx="2705537" cy="33201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accent6"/>
              </a:buClr>
              <a:buSzPts val="1800"/>
              <a:buNone/>
              <a:defRPr b="1" i="0" sz="1800">
                <a:solidFill>
                  <a:schemeClr val="accent6"/>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241" name="Google Shape;241;p31"/>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42" name="Google Shape;242;p31"/>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43" name="Google Shape;243;p31"/>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ítulo + livre">
  <p:cSld name="2_Título + livre">
    <p:spTree>
      <p:nvGrpSpPr>
        <p:cNvPr id="244" name="Shape 244"/>
        <p:cNvGrpSpPr/>
        <p:nvPr/>
      </p:nvGrpSpPr>
      <p:grpSpPr>
        <a:xfrm>
          <a:off x="0" y="0"/>
          <a:ext cx="0" cy="0"/>
          <a:chOff x="0" y="0"/>
          <a:chExt cx="0" cy="0"/>
        </a:xfrm>
      </p:grpSpPr>
      <p:sp>
        <p:nvSpPr>
          <p:cNvPr id="245" name="Google Shape;245;p32"/>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46" name="Google Shape;246;p32"/>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7" name="Google Shape;247;p32"/>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48" name="Google Shape;248;p32"/>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49" name="Google Shape;249;p32"/>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lide de título" showMasterSp="0">
  <p:cSld name="4_Slide de título">
    <p:spTree>
      <p:nvGrpSpPr>
        <p:cNvPr id="250" name="Shape 250"/>
        <p:cNvGrpSpPr/>
        <p:nvPr/>
      </p:nvGrpSpPr>
      <p:grpSpPr>
        <a:xfrm>
          <a:off x="0" y="0"/>
          <a:ext cx="0" cy="0"/>
          <a:chOff x="0" y="0"/>
          <a:chExt cx="0" cy="0"/>
        </a:xfrm>
      </p:grpSpPr>
      <p:sp>
        <p:nvSpPr>
          <p:cNvPr id="251" name="Google Shape;251;p33"/>
          <p:cNvSpPr/>
          <p:nvPr/>
        </p:nvSpPr>
        <p:spPr>
          <a:xfrm>
            <a:off x="1" y="571499"/>
            <a:ext cx="1885950"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52" name="Google Shape;252;p33"/>
          <p:cNvSpPr/>
          <p:nvPr/>
        </p:nvSpPr>
        <p:spPr>
          <a:xfrm>
            <a:off x="2038350" y="571499"/>
            <a:ext cx="7108336"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pic>
        <p:nvPicPr>
          <p:cNvPr id="253" name="Google Shape;253;p33"/>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lide de título" showMasterSp="0">
  <p:cSld name="5_Slide de título">
    <p:spTree>
      <p:nvGrpSpPr>
        <p:cNvPr id="254" name="Shape 254"/>
        <p:cNvGrpSpPr/>
        <p:nvPr/>
      </p:nvGrpSpPr>
      <p:grpSpPr>
        <a:xfrm>
          <a:off x="0" y="0"/>
          <a:ext cx="0" cy="0"/>
          <a:chOff x="0" y="0"/>
          <a:chExt cx="0" cy="0"/>
        </a:xfrm>
      </p:grpSpPr>
      <p:sp>
        <p:nvSpPr>
          <p:cNvPr id="255" name="Google Shape;255;p34"/>
          <p:cNvSpPr/>
          <p:nvPr/>
        </p:nvSpPr>
        <p:spPr>
          <a:xfrm>
            <a:off x="8861897" y="571499"/>
            <a:ext cx="284788"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56" name="Google Shape;256;p34"/>
          <p:cNvSpPr/>
          <p:nvPr/>
        </p:nvSpPr>
        <p:spPr>
          <a:xfrm>
            <a:off x="-1" y="571499"/>
            <a:ext cx="8582498"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57" name="Google Shape;257;p34"/>
          <p:cNvSpPr/>
          <p:nvPr/>
        </p:nvSpPr>
        <p:spPr>
          <a:xfrm>
            <a:off x="5911850" y="4668171"/>
            <a:ext cx="3041651" cy="230833"/>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Clr>
                <a:srgbClr val="2791A6"/>
              </a:buClr>
              <a:buSzPts val="1100"/>
              <a:buFont typeface="Calibri"/>
              <a:buNone/>
            </a:pPr>
            <a:r>
              <a:rPr b="1" i="0" lang="en-US" sz="1100" u="none" cap="none">
                <a:solidFill>
                  <a:srgbClr val="2791A6"/>
                </a:solidFill>
                <a:latin typeface="Calibri"/>
                <a:ea typeface="Calibri"/>
                <a:cs typeface="Calibri"/>
                <a:sym typeface="Calibri"/>
              </a:rPr>
              <a:t>Título do trabalho</a:t>
            </a:r>
            <a:endParaRPr b="1" i="0" sz="1100" u="none" cap="none">
              <a:solidFill>
                <a:srgbClr val="2791A6"/>
              </a:solidFill>
              <a:latin typeface="Calibri"/>
              <a:ea typeface="Calibri"/>
              <a:cs typeface="Calibri"/>
              <a:sym typeface="Calibri"/>
            </a:endParaRPr>
          </a:p>
        </p:txBody>
      </p:sp>
      <p:pic>
        <p:nvPicPr>
          <p:cNvPr id="258" name="Google Shape;258;p34"/>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lide de título" showMasterSp="0">
  <p:cSld name="6_Slide de título">
    <p:spTree>
      <p:nvGrpSpPr>
        <p:cNvPr id="259" name="Shape 259"/>
        <p:cNvGrpSpPr/>
        <p:nvPr/>
      </p:nvGrpSpPr>
      <p:grpSpPr>
        <a:xfrm>
          <a:off x="0" y="0"/>
          <a:ext cx="0" cy="0"/>
          <a:chOff x="0" y="0"/>
          <a:chExt cx="0" cy="0"/>
        </a:xfrm>
      </p:grpSpPr>
      <p:sp>
        <p:nvSpPr>
          <p:cNvPr id="260" name="Google Shape;260;p35"/>
          <p:cNvSpPr/>
          <p:nvPr/>
        </p:nvSpPr>
        <p:spPr>
          <a:xfrm>
            <a:off x="7260736" y="571499"/>
            <a:ext cx="1885950" cy="4000501"/>
          </a:xfrm>
          <a:prstGeom prst="rect">
            <a:avLst/>
          </a:prstGeom>
          <a:solidFill>
            <a:srgbClr val="0037DE"/>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61" name="Google Shape;261;p35"/>
          <p:cNvSpPr/>
          <p:nvPr/>
        </p:nvSpPr>
        <p:spPr>
          <a:xfrm>
            <a:off x="-1" y="571499"/>
            <a:ext cx="7108336" cy="4000501"/>
          </a:xfrm>
          <a:prstGeom prst="rect">
            <a:avLst/>
          </a:prstGeom>
          <a:solidFill>
            <a:srgbClr val="C8C8C8">
              <a:alpha val="49804"/>
            </a:srgbClr>
          </a:solidFill>
          <a:ln>
            <a:noFill/>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62" name="Google Shape;262;p35"/>
          <p:cNvSpPr/>
          <p:nvPr/>
        </p:nvSpPr>
        <p:spPr>
          <a:xfrm>
            <a:off x="5911850" y="4668171"/>
            <a:ext cx="3041651" cy="230833"/>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Clr>
                <a:srgbClr val="2791A6"/>
              </a:buClr>
              <a:buSzPts val="1100"/>
              <a:buFont typeface="Calibri"/>
              <a:buNone/>
            </a:pPr>
            <a:r>
              <a:rPr b="1" i="0" lang="en-US" sz="1100" u="none" cap="none">
                <a:solidFill>
                  <a:srgbClr val="2791A6"/>
                </a:solidFill>
                <a:latin typeface="Calibri"/>
                <a:ea typeface="Calibri"/>
                <a:cs typeface="Calibri"/>
                <a:sym typeface="Calibri"/>
              </a:rPr>
              <a:t>Título do trabalho</a:t>
            </a:r>
            <a:endParaRPr b="1" i="0" sz="1100" u="none" cap="none">
              <a:solidFill>
                <a:srgbClr val="2791A6"/>
              </a:solidFill>
              <a:latin typeface="Calibri"/>
              <a:ea typeface="Calibri"/>
              <a:cs typeface="Calibri"/>
              <a:sym typeface="Calibri"/>
            </a:endParaRPr>
          </a:p>
        </p:txBody>
      </p:sp>
      <p:pic>
        <p:nvPicPr>
          <p:cNvPr id="263" name="Google Shape;263;p35"/>
          <p:cNvPicPr preferRelativeResize="0"/>
          <p:nvPr/>
        </p:nvPicPr>
        <p:blipFill rotWithShape="1">
          <a:blip r:embed="rId2">
            <a:alphaModFix/>
          </a:blip>
          <a:srcRect b="0" l="0" r="0" t="0"/>
          <a:stretch/>
        </p:blipFill>
        <p:spPr>
          <a:xfrm>
            <a:off x="269158" y="4746625"/>
            <a:ext cx="636191" cy="125167"/>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apa">
  <p:cSld name="3_Capa">
    <p:spTree>
      <p:nvGrpSpPr>
        <p:cNvPr id="264" name="Shape 264"/>
        <p:cNvGrpSpPr/>
        <p:nvPr/>
      </p:nvGrpSpPr>
      <p:grpSpPr>
        <a:xfrm>
          <a:off x="0" y="0"/>
          <a:ext cx="0" cy="0"/>
          <a:chOff x="0" y="0"/>
          <a:chExt cx="0" cy="0"/>
        </a:xfrm>
      </p:grpSpPr>
      <p:sp>
        <p:nvSpPr>
          <p:cNvPr id="265" name="Google Shape;265;p36"/>
          <p:cNvSpPr/>
          <p:nvPr/>
        </p:nvSpPr>
        <p:spPr>
          <a:xfrm>
            <a:off x="0" y="0"/>
            <a:ext cx="91440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FFFFFF"/>
              </a:solidFill>
              <a:latin typeface="Calibri"/>
              <a:ea typeface="Calibri"/>
              <a:cs typeface="Calibri"/>
              <a:sym typeface="Calibri"/>
            </a:endParaRPr>
          </a:p>
        </p:txBody>
      </p:sp>
      <p:sp>
        <p:nvSpPr>
          <p:cNvPr id="266" name="Google Shape;266;p36"/>
          <p:cNvSpPr/>
          <p:nvPr/>
        </p:nvSpPr>
        <p:spPr>
          <a:xfrm>
            <a:off x="232172" y="0"/>
            <a:ext cx="627459" cy="206657"/>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D3DFFF"/>
              </a:solidFill>
              <a:latin typeface="Calibri"/>
              <a:ea typeface="Calibri"/>
              <a:cs typeface="Calibri"/>
              <a:sym typeface="Calibri"/>
            </a:endParaRPr>
          </a:p>
        </p:txBody>
      </p:sp>
      <p:pic>
        <p:nvPicPr>
          <p:cNvPr id="267" name="Google Shape;267;p36"/>
          <p:cNvPicPr preferRelativeResize="0"/>
          <p:nvPr/>
        </p:nvPicPr>
        <p:blipFill rotWithShape="1">
          <a:blip r:embed="rId2">
            <a:alphaModFix/>
          </a:blip>
          <a:srcRect b="0" l="0" r="0" t="0"/>
          <a:stretch/>
        </p:blipFill>
        <p:spPr>
          <a:xfrm>
            <a:off x="230981" y="242549"/>
            <a:ext cx="628950" cy="215992"/>
          </a:xfrm>
          <a:prstGeom prst="rect">
            <a:avLst/>
          </a:prstGeom>
          <a:noFill/>
          <a:ln>
            <a:noFill/>
          </a:ln>
        </p:spPr>
      </p:pic>
      <p:sp>
        <p:nvSpPr>
          <p:cNvPr id="268" name="Google Shape;268;p36"/>
          <p:cNvSpPr/>
          <p:nvPr/>
        </p:nvSpPr>
        <p:spPr>
          <a:xfrm>
            <a:off x="884635" y="194750"/>
            <a:ext cx="6509147" cy="311944"/>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500"/>
              <a:buFont typeface="Arial"/>
              <a:buNone/>
            </a:pPr>
            <a:r>
              <a:t/>
            </a:r>
            <a:endParaRPr b="0" i="0" sz="1500" u="none" cap="none">
              <a:solidFill>
                <a:srgbClr val="FFFFFF"/>
              </a:solidFill>
              <a:latin typeface="Calibri"/>
              <a:ea typeface="Calibri"/>
              <a:cs typeface="Calibri"/>
              <a:sym typeface="Calibri"/>
            </a:endParaRPr>
          </a:p>
        </p:txBody>
      </p:sp>
      <p:sp>
        <p:nvSpPr>
          <p:cNvPr id="269" name="Google Shape;269;p36"/>
          <p:cNvSpPr/>
          <p:nvPr/>
        </p:nvSpPr>
        <p:spPr>
          <a:xfrm>
            <a:off x="884635" y="410253"/>
            <a:ext cx="6516290" cy="230981"/>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SzPts val="1100"/>
              <a:buFont typeface="Arial"/>
              <a:buNone/>
            </a:pPr>
            <a:r>
              <a:t/>
            </a:r>
            <a:endParaRPr b="0" i="0" sz="1100" u="none" cap="none">
              <a:solidFill>
                <a:srgbClr val="D3DFFF"/>
              </a:solidFill>
              <a:latin typeface="Calibri"/>
              <a:ea typeface="Calibri"/>
              <a:cs typeface="Calibri"/>
              <a:sym typeface="Calibri"/>
            </a:endParaRPr>
          </a:p>
        </p:txBody>
      </p:sp>
      <p:sp>
        <p:nvSpPr>
          <p:cNvPr id="270" name="Google Shape;270;p36"/>
          <p:cNvSpPr txBox="1"/>
          <p:nvPr>
            <p:ph type="title"/>
          </p:nvPr>
        </p:nvSpPr>
        <p:spPr>
          <a:xfrm>
            <a:off x="225461" y="1032273"/>
            <a:ext cx="8677054" cy="2176883"/>
          </a:xfrm>
          <a:prstGeom prst="rect">
            <a:avLst/>
          </a:prstGeom>
          <a:noFill/>
          <a:ln>
            <a:noFill/>
          </a:ln>
        </p:spPr>
        <p:txBody>
          <a:bodyPr anchorCtr="0" anchor="b" bIns="34275" lIns="0" spcFirstLastPara="1" rIns="68575" wrap="square" tIns="34275">
            <a:noAutofit/>
          </a:bodyPr>
          <a:lstStyle>
            <a:lvl1pPr lvl="0" algn="l">
              <a:lnSpc>
                <a:spcPct val="90000"/>
              </a:lnSpc>
              <a:spcBef>
                <a:spcPts val="0"/>
              </a:spcBef>
              <a:spcAft>
                <a:spcPts val="0"/>
              </a:spcAft>
              <a:buSzPts val="1100"/>
              <a:buNone/>
              <a:defRPr b="0" i="0" sz="4500">
                <a:solidFill>
                  <a:schemeClr val="lt1"/>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71" name="Google Shape;271;p36"/>
          <p:cNvSpPr txBox="1"/>
          <p:nvPr>
            <p:ph idx="1" type="body"/>
          </p:nvPr>
        </p:nvSpPr>
        <p:spPr>
          <a:xfrm>
            <a:off x="225461" y="3229396"/>
            <a:ext cx="8677054" cy="1125140"/>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i="0" sz="18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72" name="Google Shape;272;p36"/>
          <p:cNvSpPr txBox="1"/>
          <p:nvPr>
            <p:ph idx="2" type="body"/>
          </p:nvPr>
        </p:nvSpPr>
        <p:spPr>
          <a:xfrm>
            <a:off x="225461" y="3584684"/>
            <a:ext cx="4211999" cy="769852"/>
          </a:xfrm>
          <a:prstGeom prst="rect">
            <a:avLst/>
          </a:prstGeom>
          <a:noFill/>
          <a:ln>
            <a:noFill/>
          </a:ln>
        </p:spPr>
        <p:txBody>
          <a:bodyPr anchorCtr="0" anchor="b" bIns="34275" lIns="0" spcFirstLastPara="1" rIns="68575" wrap="square" tIns="34275">
            <a:noAutofit/>
          </a:bodyPr>
          <a:lstStyle>
            <a:lvl1pPr indent="-228600" lvl="0" marL="457200" algn="l">
              <a:lnSpc>
                <a:spcPct val="90000"/>
              </a:lnSpc>
              <a:spcBef>
                <a:spcPts val="800"/>
              </a:spcBef>
              <a:spcAft>
                <a:spcPts val="0"/>
              </a:spcAft>
              <a:buClr>
                <a:schemeClr val="lt1"/>
              </a:buClr>
              <a:buSzPts val="1400"/>
              <a:buNone/>
              <a:defRPr b="0" i="0" sz="1400">
                <a:solidFill>
                  <a:schemeClr val="lt1"/>
                </a:solidFill>
                <a:latin typeface="Calibri"/>
                <a:ea typeface="Calibri"/>
                <a:cs typeface="Calibri"/>
                <a:sym typeface="Calibri"/>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73" name="Google Shape;273;p36"/>
          <p:cNvSpPr/>
          <p:nvPr/>
        </p:nvSpPr>
        <p:spPr>
          <a:xfrm>
            <a:off x="6912769" y="3473173"/>
            <a:ext cx="2231231" cy="92868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rgbClr val="FFFFFF"/>
              </a:solidFill>
              <a:latin typeface="Calibri"/>
              <a:ea typeface="Calibri"/>
              <a:cs typeface="Calibri"/>
              <a:sym typeface="Calibri"/>
            </a:endParaRPr>
          </a:p>
        </p:txBody>
      </p:sp>
      <p:pic>
        <p:nvPicPr>
          <p:cNvPr id="274" name="Google Shape;274;p36"/>
          <p:cNvPicPr preferRelativeResize="0"/>
          <p:nvPr/>
        </p:nvPicPr>
        <p:blipFill rotWithShape="1">
          <a:blip r:embed="rId3">
            <a:alphaModFix/>
          </a:blip>
          <a:srcRect b="0" l="0" r="10690" t="0"/>
          <a:stretch/>
        </p:blipFill>
        <p:spPr>
          <a:xfrm>
            <a:off x="7073283" y="3304646"/>
            <a:ext cx="2038060" cy="1224299"/>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1 conteúdo">
  <p:cSld name="4_1 conteúdo">
    <p:spTree>
      <p:nvGrpSpPr>
        <p:cNvPr id="275" name="Shape 275"/>
        <p:cNvGrpSpPr/>
        <p:nvPr/>
      </p:nvGrpSpPr>
      <p:grpSpPr>
        <a:xfrm>
          <a:off x="0" y="0"/>
          <a:ext cx="0" cy="0"/>
          <a:chOff x="0" y="0"/>
          <a:chExt cx="0" cy="0"/>
        </a:xfrm>
      </p:grpSpPr>
      <p:sp>
        <p:nvSpPr>
          <p:cNvPr id="276" name="Google Shape;276;p37"/>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77" name="Google Shape;277;p37"/>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8" name="Google Shape;278;p37"/>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9" name="Google Shape;279;p37"/>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80" name="Google Shape;280;p37"/>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údo + scores">
  <p:cSld name="3_Conteúdo + scores">
    <p:spTree>
      <p:nvGrpSpPr>
        <p:cNvPr id="281" name="Shape 281"/>
        <p:cNvGrpSpPr/>
        <p:nvPr/>
      </p:nvGrpSpPr>
      <p:grpSpPr>
        <a:xfrm>
          <a:off x="0" y="0"/>
          <a:ext cx="0" cy="0"/>
          <a:chOff x="0" y="0"/>
          <a:chExt cx="0" cy="0"/>
        </a:xfrm>
      </p:grpSpPr>
      <p:sp>
        <p:nvSpPr>
          <p:cNvPr id="282" name="Google Shape;282;p38"/>
          <p:cNvSpPr txBox="1"/>
          <p:nvPr>
            <p:ph idx="1"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3" name="Google Shape;283;p38"/>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84" name="Google Shape;284;p38"/>
          <p:cNvSpPr txBox="1"/>
          <p:nvPr>
            <p:ph idx="2"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5" name="Google Shape;285;p38"/>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6" name="Google Shape;286;p38"/>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87" name="Google Shape;287;p38"/>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88" name="Google Shape;288;p38"/>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2 conteúdos">
  <p:cSld name="3_2 conteúdos">
    <p:spTree>
      <p:nvGrpSpPr>
        <p:cNvPr id="289" name="Shape 289"/>
        <p:cNvGrpSpPr/>
        <p:nvPr/>
      </p:nvGrpSpPr>
      <p:grpSpPr>
        <a:xfrm>
          <a:off x="0" y="0"/>
          <a:ext cx="0" cy="0"/>
          <a:chOff x="0" y="0"/>
          <a:chExt cx="0" cy="0"/>
        </a:xfrm>
      </p:grpSpPr>
      <p:sp>
        <p:nvSpPr>
          <p:cNvPr id="290" name="Google Shape;290;p39"/>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291" name="Google Shape;291;p39"/>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2" name="Google Shape;292;p39"/>
          <p:cNvSpPr txBox="1"/>
          <p:nvPr>
            <p:ph idx="2" type="body"/>
          </p:nvPr>
        </p:nvSpPr>
        <p:spPr>
          <a:xfrm>
            <a:off x="231081"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3" name="Google Shape;293;p39"/>
          <p:cNvSpPr txBox="1"/>
          <p:nvPr>
            <p:ph idx="3" type="body"/>
          </p:nvPr>
        </p:nvSpPr>
        <p:spPr>
          <a:xfrm>
            <a:off x="4678696" y="1032272"/>
            <a:ext cx="4232573" cy="3477827"/>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b="0" i="0">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4" name="Google Shape;294;p39"/>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295" name="Google Shape;295;p39"/>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96" name="Google Shape;296;p39"/>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2 conteúdos subtítulo">
  <p:cSld name="3_2 conteúdos subtítulo">
    <p:spTree>
      <p:nvGrpSpPr>
        <p:cNvPr id="297" name="Shape 297"/>
        <p:cNvGrpSpPr/>
        <p:nvPr/>
      </p:nvGrpSpPr>
      <p:grpSpPr>
        <a:xfrm>
          <a:off x="0" y="0"/>
          <a:ext cx="0" cy="0"/>
          <a:chOff x="0" y="0"/>
          <a:chExt cx="0" cy="0"/>
        </a:xfrm>
      </p:grpSpPr>
      <p:sp>
        <p:nvSpPr>
          <p:cNvPr id="298" name="Google Shape;298;p40"/>
          <p:cNvSpPr txBox="1"/>
          <p:nvPr>
            <p:ph idx="1" type="body"/>
          </p:nvPr>
        </p:nvSpPr>
        <p:spPr>
          <a:xfrm>
            <a:off x="225028" y="1032693"/>
            <a:ext cx="421243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299" name="Google Shape;299;p40"/>
          <p:cNvSpPr txBox="1"/>
          <p:nvPr>
            <p:ph idx="2" type="body"/>
          </p:nvPr>
        </p:nvSpPr>
        <p:spPr>
          <a:xfrm>
            <a:off x="225028" y="1650626"/>
            <a:ext cx="4238625" cy="2859473"/>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0" name="Google Shape;300;p40"/>
          <p:cNvSpPr txBox="1"/>
          <p:nvPr>
            <p:ph idx="3" type="body"/>
          </p:nvPr>
        </p:nvSpPr>
        <p:spPr>
          <a:xfrm>
            <a:off x="4706541" y="1032693"/>
            <a:ext cx="4195761" cy="61793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2"/>
              </a:buClr>
              <a:buSzPts val="2400"/>
              <a:buNone/>
              <a:defRPr b="1" i="0" sz="2400">
                <a:solidFill>
                  <a:schemeClr val="dk2"/>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01" name="Google Shape;301;p40"/>
          <p:cNvSpPr txBox="1"/>
          <p:nvPr>
            <p:ph idx="4" type="body"/>
          </p:nvPr>
        </p:nvSpPr>
        <p:spPr>
          <a:xfrm>
            <a:off x="4689872" y="1650626"/>
            <a:ext cx="4212430" cy="2867656"/>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2" name="Google Shape;302;p40"/>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03" name="Google Shape;303;p40"/>
          <p:cNvSpPr txBox="1"/>
          <p:nvPr>
            <p:ph idx="5"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4" name="Google Shape;304;p40"/>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05" name="Google Shape;305;p40"/>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06" name="Google Shape;306;p40"/>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údo + imagem(s)">
  <p:cSld name="3_Conteúdo + imagem(s)">
    <p:spTree>
      <p:nvGrpSpPr>
        <p:cNvPr id="307" name="Shape 307"/>
        <p:cNvGrpSpPr/>
        <p:nvPr/>
      </p:nvGrpSpPr>
      <p:grpSpPr>
        <a:xfrm>
          <a:off x="0" y="0"/>
          <a:ext cx="0" cy="0"/>
          <a:chOff x="0" y="0"/>
          <a:chExt cx="0" cy="0"/>
        </a:xfrm>
      </p:grpSpPr>
      <p:sp>
        <p:nvSpPr>
          <p:cNvPr id="308" name="Google Shape;308;p41"/>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09" name="Google Shape;309;p41"/>
          <p:cNvSpPr txBox="1"/>
          <p:nvPr>
            <p:ph idx="2" type="body"/>
          </p:nvPr>
        </p:nvSpPr>
        <p:spPr>
          <a:xfrm>
            <a:off x="241484" y="1861796"/>
            <a:ext cx="2701531" cy="1977668"/>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0" name="Google Shape;310;p41"/>
          <p:cNvSpPr txBox="1"/>
          <p:nvPr>
            <p:ph type="title"/>
          </p:nvPr>
        </p:nvSpPr>
        <p:spPr>
          <a:xfrm>
            <a:off x="225028" y="195263"/>
            <a:ext cx="2726531" cy="1666534"/>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11" name="Google Shape;311;p41"/>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2" name="Google Shape;312;p41"/>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13" name="Google Shape;313;p41"/>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14" name="Google Shape;314;p41"/>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údo + chapéu + imagem(s)">
  <p:cSld name="3_Conteúdo + chapéu + imagem(s)">
    <p:spTree>
      <p:nvGrpSpPr>
        <p:cNvPr id="315" name="Shape 315"/>
        <p:cNvGrpSpPr/>
        <p:nvPr/>
      </p:nvGrpSpPr>
      <p:grpSpPr>
        <a:xfrm>
          <a:off x="0" y="0"/>
          <a:ext cx="0" cy="0"/>
          <a:chOff x="0" y="0"/>
          <a:chExt cx="0" cy="0"/>
        </a:xfrm>
      </p:grpSpPr>
      <p:sp>
        <p:nvSpPr>
          <p:cNvPr id="316" name="Google Shape;316;p42"/>
          <p:cNvSpPr txBox="1"/>
          <p:nvPr>
            <p:ph idx="1" type="body"/>
          </p:nvPr>
        </p:nvSpPr>
        <p:spPr>
          <a:xfrm>
            <a:off x="237479" y="3878036"/>
            <a:ext cx="2705537" cy="49870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200"/>
              <a:buNone/>
              <a:defRPr b="0" i="0" sz="1200">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17" name="Google Shape;317;p42"/>
          <p:cNvSpPr txBox="1"/>
          <p:nvPr>
            <p:ph idx="2" type="body"/>
          </p:nvPr>
        </p:nvSpPr>
        <p:spPr>
          <a:xfrm>
            <a:off x="241484" y="2003342"/>
            <a:ext cx="2701531" cy="1836121"/>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2100"/>
              <a:buFont typeface="Calibri"/>
              <a:buNone/>
              <a:defRPr b="1">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8" name="Google Shape;318;p42"/>
          <p:cNvSpPr txBox="1"/>
          <p:nvPr>
            <p:ph type="title"/>
          </p:nvPr>
        </p:nvSpPr>
        <p:spPr>
          <a:xfrm>
            <a:off x="225028" y="542925"/>
            <a:ext cx="2726531" cy="1460417"/>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19" name="Google Shape;319;p42"/>
          <p:cNvSpPr txBox="1"/>
          <p:nvPr>
            <p:ph idx="3" type="body"/>
          </p:nvPr>
        </p:nvSpPr>
        <p:spPr>
          <a:xfrm>
            <a:off x="3194447" y="195263"/>
            <a:ext cx="5724525" cy="4320779"/>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0" name="Google Shape;320;p42"/>
          <p:cNvSpPr txBox="1"/>
          <p:nvPr>
            <p:ph idx="4" type="body"/>
          </p:nvPr>
        </p:nvSpPr>
        <p:spPr>
          <a:xfrm>
            <a:off x="237479" y="210911"/>
            <a:ext cx="2705537" cy="33201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accent6"/>
              </a:buClr>
              <a:buSzPts val="1800"/>
              <a:buNone/>
              <a:defRPr b="1" i="0" sz="1800">
                <a:solidFill>
                  <a:schemeClr val="accent6"/>
                </a:solidFill>
                <a:latin typeface="Calibri"/>
                <a:ea typeface="Calibri"/>
                <a:cs typeface="Calibri"/>
                <a:sym typeface="Calibri"/>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21" name="Google Shape;321;p42"/>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22" name="Google Shape;322;p42"/>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23" name="Google Shape;323;p42"/>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ítulo + livre">
  <p:cSld name="3_Título + livre">
    <p:spTree>
      <p:nvGrpSpPr>
        <p:cNvPr id="324" name="Shape 324"/>
        <p:cNvGrpSpPr/>
        <p:nvPr/>
      </p:nvGrpSpPr>
      <p:grpSpPr>
        <a:xfrm>
          <a:off x="0" y="0"/>
          <a:ext cx="0" cy="0"/>
          <a:chOff x="0" y="0"/>
          <a:chExt cx="0" cy="0"/>
        </a:xfrm>
      </p:grpSpPr>
      <p:sp>
        <p:nvSpPr>
          <p:cNvPr id="325" name="Google Shape;325;p43"/>
          <p:cNvSpPr txBox="1"/>
          <p:nvPr>
            <p:ph type="title"/>
          </p:nvPr>
        </p:nvSpPr>
        <p:spPr>
          <a:xfrm>
            <a:off x="231080" y="195263"/>
            <a:ext cx="86878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26" name="Google Shape;326;p43"/>
          <p:cNvSpPr txBox="1"/>
          <p:nvPr>
            <p:ph idx="1" type="body"/>
          </p:nvPr>
        </p:nvSpPr>
        <p:spPr>
          <a:xfrm>
            <a:off x="231079" y="646197"/>
            <a:ext cx="8687990" cy="273844"/>
          </a:xfrm>
          <a:prstGeom prst="rect">
            <a:avLst/>
          </a:prstGeom>
          <a:noFill/>
          <a:ln>
            <a:noFill/>
          </a:ln>
        </p:spPr>
        <p:txBody>
          <a:bodyPr anchorCtr="0" anchor="t" bIns="34275" lIns="0" spcFirstLastPara="1" rIns="68575" wrap="square" tIns="34275">
            <a:noAutofit/>
          </a:bodyPr>
          <a:lstStyle>
            <a:lvl1pPr indent="-228600" lvl="0" marL="457200" algn="l">
              <a:lnSpc>
                <a:spcPct val="90000"/>
              </a:lnSpc>
              <a:spcBef>
                <a:spcPts val="800"/>
              </a:spcBef>
              <a:spcAft>
                <a:spcPts val="0"/>
              </a:spcAft>
              <a:buClr>
                <a:schemeClr val="dk1"/>
              </a:buClr>
              <a:buSzPts val="1400"/>
              <a:buFont typeface="Calibri"/>
              <a:buNone/>
              <a:defRPr sz="1400">
                <a:latin typeface="Calibri"/>
                <a:ea typeface="Calibri"/>
                <a:cs typeface="Calibri"/>
                <a:sym typeface="Calibri"/>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7" name="Google Shape;327;p43"/>
          <p:cNvSpPr txBox="1"/>
          <p:nvPr>
            <p:ph idx="10" type="dt"/>
          </p:nvPr>
        </p:nvSpPr>
        <p:spPr>
          <a:xfrm>
            <a:off x="6794897" y="4830366"/>
            <a:ext cx="1438275" cy="461963"/>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1"/>
              </a:buClr>
              <a:buSzPts val="1100"/>
              <a:buFont typeface="Calibri"/>
              <a:buNone/>
              <a:defRPr b="0" i="0" sz="14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328" name="Google Shape;328;p43"/>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29" name="Google Shape;329;p43"/>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algn="l">
              <a:spcBef>
                <a:spcPts val="0"/>
              </a:spcBef>
              <a:spcAft>
                <a:spcPts val="0"/>
              </a:spcAft>
              <a:buClr>
                <a:schemeClr val="dk1"/>
              </a:buClr>
              <a:buSzPts val="1100"/>
              <a:buFont typeface="Calibri"/>
              <a:buNone/>
              <a:defRPr b="0" i="0" sz="900">
                <a:solidFill>
                  <a:schemeClr val="dk1"/>
                </a:solidFill>
                <a:latin typeface="Calibri"/>
                <a:ea typeface="Calibri"/>
                <a:cs typeface="Calibri"/>
                <a:sym typeface="Calibri"/>
              </a:defRPr>
            </a:lvl1pPr>
            <a:lvl2pPr lvl="1" algn="l">
              <a:spcBef>
                <a:spcPts val="0"/>
              </a:spcBef>
              <a:spcAft>
                <a:spcPts val="0"/>
              </a:spcAft>
              <a:buClr>
                <a:schemeClr val="dk1"/>
              </a:buClr>
              <a:buSzPts val="1100"/>
              <a:buFont typeface="Calibri"/>
              <a:buNone/>
              <a:defRPr/>
            </a:lvl2pPr>
            <a:lvl3pPr lvl="2" algn="l">
              <a:spcBef>
                <a:spcPts val="0"/>
              </a:spcBef>
              <a:spcAft>
                <a:spcPts val="0"/>
              </a:spcAft>
              <a:buClr>
                <a:schemeClr val="dk1"/>
              </a:buClr>
              <a:buSzPts val="1100"/>
              <a:buFont typeface="Calibri"/>
              <a:buNone/>
              <a:defRPr/>
            </a:lvl3pPr>
            <a:lvl4pPr lvl="3" algn="l">
              <a:spcBef>
                <a:spcPts val="0"/>
              </a:spcBef>
              <a:spcAft>
                <a:spcPts val="0"/>
              </a:spcAft>
              <a:buClr>
                <a:schemeClr val="dk1"/>
              </a:buClr>
              <a:buSzPts val="1100"/>
              <a:buFont typeface="Calibri"/>
              <a:buNone/>
              <a:defRPr/>
            </a:lvl4pPr>
            <a:lvl5pPr lvl="4" algn="l">
              <a:spcBef>
                <a:spcPts val="0"/>
              </a:spcBef>
              <a:spcAft>
                <a:spcPts val="0"/>
              </a:spcAft>
              <a:buClr>
                <a:schemeClr val="dk1"/>
              </a:buClr>
              <a:buSzPts val="1100"/>
              <a:buFont typeface="Calibri"/>
              <a:buNone/>
              <a:defRPr/>
            </a:lvl5pPr>
            <a:lvl6pPr lvl="5" algn="l">
              <a:spcBef>
                <a:spcPts val="0"/>
              </a:spcBef>
              <a:spcAft>
                <a:spcPts val="0"/>
              </a:spcAft>
              <a:buClr>
                <a:schemeClr val="dk1"/>
              </a:buClr>
              <a:buSzPts val="1100"/>
              <a:buFont typeface="Calibri"/>
              <a:buNone/>
              <a:defRPr/>
            </a:lvl6pPr>
            <a:lvl7pPr lvl="6" algn="l">
              <a:spcBef>
                <a:spcPts val="0"/>
              </a:spcBef>
              <a:spcAft>
                <a:spcPts val="0"/>
              </a:spcAft>
              <a:buClr>
                <a:schemeClr val="dk1"/>
              </a:buClr>
              <a:buSzPts val="1100"/>
              <a:buFont typeface="Calibri"/>
              <a:buNone/>
              <a:defRPr/>
            </a:lvl7pPr>
            <a:lvl8pPr lvl="7" algn="l">
              <a:spcBef>
                <a:spcPts val="0"/>
              </a:spcBef>
              <a:spcAft>
                <a:spcPts val="0"/>
              </a:spcAft>
              <a:buClr>
                <a:schemeClr val="dk1"/>
              </a:buClr>
              <a:buSzPts val="1100"/>
              <a:buFont typeface="Calibri"/>
              <a:buNone/>
              <a:defRPr/>
            </a:lvl8pPr>
            <a:lvl9pPr lvl="8" algn="l">
              <a:spcBef>
                <a:spcPts val="0"/>
              </a:spcBef>
              <a:spcAft>
                <a:spcPts val="0"/>
              </a:spcAft>
              <a:buClr>
                <a:schemeClr val="dk1"/>
              </a:buClr>
              <a:buSzPts val="1100"/>
              <a:buFont typeface="Calibri"/>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1 conteúdo">
  <p:cSld name="5_1 conteúdo">
    <p:spTree>
      <p:nvGrpSpPr>
        <p:cNvPr id="330" name="Shape 330"/>
        <p:cNvGrpSpPr/>
        <p:nvPr/>
      </p:nvGrpSpPr>
      <p:grpSpPr>
        <a:xfrm>
          <a:off x="0" y="0"/>
          <a:ext cx="0" cy="0"/>
          <a:chOff x="0" y="0"/>
          <a:chExt cx="0" cy="0"/>
        </a:xfrm>
      </p:grpSpPr>
      <p:sp>
        <p:nvSpPr>
          <p:cNvPr id="331" name="Google Shape;331;p44"/>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algn="l">
              <a:lnSpc>
                <a:spcPct val="90000"/>
              </a:lnSpc>
              <a:spcBef>
                <a:spcPts val="0"/>
              </a:spcBef>
              <a:spcAft>
                <a:spcPts val="0"/>
              </a:spcAft>
              <a:buSzPts val="1100"/>
              <a:buNone/>
              <a:defRPr b="1">
                <a:solidFill>
                  <a:schemeClr val="accent6"/>
                </a:solidFill>
                <a:latin typeface="Calibri"/>
                <a:ea typeface="Calibri"/>
                <a:cs typeface="Calibri"/>
                <a:sym typeface="Calibri"/>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332" name="Google Shape;332;p44"/>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algn="l">
              <a:lnSpc>
                <a:spcPct val="90000"/>
              </a:lnSpc>
              <a:spcBef>
                <a:spcPts val="8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4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400"/>
              </a:spcBef>
              <a:spcAft>
                <a:spcPts val="0"/>
              </a:spcAft>
              <a:buClr>
                <a:schemeClr val="dk1"/>
              </a:buClr>
              <a:buSzPts val="1500"/>
              <a:buChar char="•"/>
              <a:defRPr>
                <a:latin typeface="Calibri"/>
                <a:ea typeface="Calibri"/>
                <a:cs typeface="Calibri"/>
                <a:sym typeface="Calibri"/>
              </a:defRPr>
            </a:lvl3pPr>
            <a:lvl4pPr indent="-317500" lvl="3" marL="1828800" algn="l">
              <a:lnSpc>
                <a:spcPct val="90000"/>
              </a:lnSpc>
              <a:spcBef>
                <a:spcPts val="400"/>
              </a:spcBef>
              <a:spcAft>
                <a:spcPts val="0"/>
              </a:spcAft>
              <a:buClr>
                <a:schemeClr val="dk1"/>
              </a:buClr>
              <a:buSzPts val="1400"/>
              <a:buChar char="•"/>
              <a:defRPr>
                <a:latin typeface="Calibri"/>
                <a:ea typeface="Calibri"/>
                <a:cs typeface="Calibri"/>
                <a:sym typeface="Calibri"/>
              </a:defRPr>
            </a:lvl4pPr>
            <a:lvl5pPr indent="-317500" lvl="4" marL="2286000" algn="l">
              <a:lnSpc>
                <a:spcPct val="90000"/>
              </a:lnSpc>
              <a:spcBef>
                <a:spcPts val="400"/>
              </a:spcBef>
              <a:spcAft>
                <a:spcPts val="0"/>
              </a:spcAft>
              <a:buClr>
                <a:schemeClr val="dk1"/>
              </a:buClr>
              <a:buSzPts val="1400"/>
              <a:buChar char="•"/>
              <a:defRPr>
                <a:latin typeface="Calibri"/>
                <a:ea typeface="Calibri"/>
                <a:cs typeface="Calibri"/>
                <a:sym typeface="Calibri"/>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3" name="Google Shape;333;p44"/>
          <p:cNvSpPr txBox="1"/>
          <p:nvPr>
            <p:ph idx="12" type="sldNum"/>
          </p:nvPr>
        </p:nvSpPr>
        <p:spPr>
          <a:xfrm>
            <a:off x="8322257" y="4800309"/>
            <a:ext cx="596716" cy="273844"/>
          </a:xfrm>
          <a:prstGeom prst="rect">
            <a:avLst/>
          </a:prstGeom>
          <a:noFill/>
          <a:ln>
            <a:noFill/>
          </a:ln>
        </p:spPr>
        <p:txBody>
          <a:bodyPr anchorCtr="0" anchor="ctr" bIns="34275" lIns="68575" spcFirstLastPara="1" rIns="0" wrap="square" tIns="34275">
            <a:noAutofit/>
          </a:bodyPr>
          <a:lstStyle>
            <a:lvl1pPr indent="0" lvl="0"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8" name="Shape 338"/>
        <p:cNvGrpSpPr/>
        <p:nvPr/>
      </p:nvGrpSpPr>
      <p:grpSpPr>
        <a:xfrm>
          <a:off x="0" y="0"/>
          <a:ext cx="0" cy="0"/>
          <a:chOff x="0" y="0"/>
          <a:chExt cx="0" cy="0"/>
        </a:xfrm>
      </p:grpSpPr>
      <p:sp>
        <p:nvSpPr>
          <p:cNvPr id="339" name="Google Shape;339;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40" name="Google Shape;340;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41" name="Google Shape;34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2" name="Shape 342"/>
        <p:cNvGrpSpPr/>
        <p:nvPr/>
      </p:nvGrpSpPr>
      <p:grpSpPr>
        <a:xfrm>
          <a:off x="0" y="0"/>
          <a:ext cx="0" cy="0"/>
          <a:chOff x="0" y="0"/>
          <a:chExt cx="0" cy="0"/>
        </a:xfrm>
      </p:grpSpPr>
      <p:sp>
        <p:nvSpPr>
          <p:cNvPr id="343" name="Google Shape;343;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44" name="Google Shape;344;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5" name="Shape 345"/>
        <p:cNvGrpSpPr/>
        <p:nvPr/>
      </p:nvGrpSpPr>
      <p:grpSpPr>
        <a:xfrm>
          <a:off x="0" y="0"/>
          <a:ext cx="0" cy="0"/>
          <a:chOff x="0" y="0"/>
          <a:chExt cx="0" cy="0"/>
        </a:xfrm>
      </p:grpSpPr>
      <p:sp>
        <p:nvSpPr>
          <p:cNvPr id="346" name="Google Shape;346;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7" name="Google Shape;347;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48" name="Google Shape;348;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9" name="Shape 349"/>
        <p:cNvGrpSpPr/>
        <p:nvPr/>
      </p:nvGrpSpPr>
      <p:grpSpPr>
        <a:xfrm>
          <a:off x="0" y="0"/>
          <a:ext cx="0" cy="0"/>
          <a:chOff x="0" y="0"/>
          <a:chExt cx="0" cy="0"/>
        </a:xfrm>
      </p:grpSpPr>
      <p:sp>
        <p:nvSpPr>
          <p:cNvPr id="350" name="Google Shape;350;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1" name="Google Shape;351;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2" name="Google Shape;352;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3" name="Google Shape;353;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4" name="Shape 354"/>
        <p:cNvGrpSpPr/>
        <p:nvPr/>
      </p:nvGrpSpPr>
      <p:grpSpPr>
        <a:xfrm>
          <a:off x="0" y="0"/>
          <a:ext cx="0" cy="0"/>
          <a:chOff x="0" y="0"/>
          <a:chExt cx="0" cy="0"/>
        </a:xfrm>
      </p:grpSpPr>
      <p:sp>
        <p:nvSpPr>
          <p:cNvPr id="355" name="Google Shape;355;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6" name="Google Shape;356;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7" name="Shape 357"/>
        <p:cNvGrpSpPr/>
        <p:nvPr/>
      </p:nvGrpSpPr>
      <p:grpSpPr>
        <a:xfrm>
          <a:off x="0" y="0"/>
          <a:ext cx="0" cy="0"/>
          <a:chOff x="0" y="0"/>
          <a:chExt cx="0" cy="0"/>
        </a:xfrm>
      </p:grpSpPr>
      <p:sp>
        <p:nvSpPr>
          <p:cNvPr id="358" name="Google Shape;358;p5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59" name="Google Shape;359;p5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0" name="Google Shape;360;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1" name="Shape 361"/>
        <p:cNvGrpSpPr/>
        <p:nvPr/>
      </p:nvGrpSpPr>
      <p:grpSpPr>
        <a:xfrm>
          <a:off x="0" y="0"/>
          <a:ext cx="0" cy="0"/>
          <a:chOff x="0" y="0"/>
          <a:chExt cx="0" cy="0"/>
        </a:xfrm>
      </p:grpSpPr>
      <p:sp>
        <p:nvSpPr>
          <p:cNvPr id="362" name="Google Shape;362;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3" name="Google Shape;363;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4" name="Shape 364"/>
        <p:cNvGrpSpPr/>
        <p:nvPr/>
      </p:nvGrpSpPr>
      <p:grpSpPr>
        <a:xfrm>
          <a:off x="0" y="0"/>
          <a:ext cx="0" cy="0"/>
          <a:chOff x="0" y="0"/>
          <a:chExt cx="0" cy="0"/>
        </a:xfrm>
      </p:grpSpPr>
      <p:sp>
        <p:nvSpPr>
          <p:cNvPr id="365" name="Google Shape;365;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366" name="Google Shape;366;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67" name="Google Shape;367;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8" name="Google Shape;368;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69" name="Google Shape;369;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0" name="Shape 370"/>
        <p:cNvGrpSpPr/>
        <p:nvPr/>
      </p:nvGrpSpPr>
      <p:grpSpPr>
        <a:xfrm>
          <a:off x="0" y="0"/>
          <a:ext cx="0" cy="0"/>
          <a:chOff x="0" y="0"/>
          <a:chExt cx="0" cy="0"/>
        </a:xfrm>
      </p:grpSpPr>
      <p:sp>
        <p:nvSpPr>
          <p:cNvPr id="371" name="Google Shape;371;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372" name="Google Shape;372;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73" name="Shape 373"/>
        <p:cNvGrpSpPr/>
        <p:nvPr/>
      </p:nvGrpSpPr>
      <p:grpSpPr>
        <a:xfrm>
          <a:off x="0" y="0"/>
          <a:ext cx="0" cy="0"/>
          <a:chOff x="0" y="0"/>
          <a:chExt cx="0" cy="0"/>
        </a:xfrm>
      </p:grpSpPr>
      <p:sp>
        <p:nvSpPr>
          <p:cNvPr id="374" name="Google Shape;374;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75" name="Google Shape;375;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376" name="Google Shape;376;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7" name="Shape 377"/>
        <p:cNvGrpSpPr/>
        <p:nvPr/>
      </p:nvGrpSpPr>
      <p:grpSpPr>
        <a:xfrm>
          <a:off x="0" y="0"/>
          <a:ext cx="0" cy="0"/>
          <a:chOff x="0" y="0"/>
          <a:chExt cx="0" cy="0"/>
        </a:xfrm>
      </p:grpSpPr>
      <p:sp>
        <p:nvSpPr>
          <p:cNvPr id="378" name="Google Shape;378;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dk2"/>
              </a:buClr>
              <a:buSzPts val="1000"/>
              <a:buNone/>
              <a:defRPr/>
            </a:lvl1pPr>
            <a:lvl2pPr indent="0" lvl="1" marL="0" marR="0" algn="r">
              <a:spcBef>
                <a:spcPts val="0"/>
              </a:spcBef>
              <a:spcAft>
                <a:spcPts val="0"/>
              </a:spcAft>
              <a:buClr>
                <a:schemeClr val="dk2"/>
              </a:buClr>
              <a:buSzPts val="1000"/>
              <a:buNone/>
              <a:defRPr/>
            </a:lvl2pPr>
            <a:lvl3pPr indent="0" lvl="2" marL="0" marR="0" algn="r">
              <a:spcBef>
                <a:spcPts val="0"/>
              </a:spcBef>
              <a:spcAft>
                <a:spcPts val="0"/>
              </a:spcAft>
              <a:buClr>
                <a:schemeClr val="dk2"/>
              </a:buClr>
              <a:buSzPts val="1000"/>
              <a:buNone/>
              <a:defRPr/>
            </a:lvl3pPr>
            <a:lvl4pPr indent="0" lvl="3" marL="0" marR="0" algn="r">
              <a:spcBef>
                <a:spcPts val="0"/>
              </a:spcBef>
              <a:spcAft>
                <a:spcPts val="0"/>
              </a:spcAft>
              <a:buClr>
                <a:schemeClr val="dk2"/>
              </a:buClr>
              <a:buSzPts val="1000"/>
              <a:buNone/>
              <a:defRPr/>
            </a:lvl4pPr>
            <a:lvl5pPr indent="0" lvl="4" marL="0" marR="0" algn="r">
              <a:spcBef>
                <a:spcPts val="0"/>
              </a:spcBef>
              <a:spcAft>
                <a:spcPts val="0"/>
              </a:spcAft>
              <a:buClr>
                <a:schemeClr val="dk2"/>
              </a:buClr>
              <a:buSzPts val="1000"/>
              <a:buNone/>
              <a:defRPr/>
            </a:lvl5pPr>
            <a:lvl6pPr indent="0" lvl="5" marL="0" marR="0" algn="r">
              <a:spcBef>
                <a:spcPts val="0"/>
              </a:spcBef>
              <a:spcAft>
                <a:spcPts val="0"/>
              </a:spcAft>
              <a:buClr>
                <a:schemeClr val="dk2"/>
              </a:buClr>
              <a:buSzPts val="1000"/>
              <a:buNone/>
              <a:defRPr/>
            </a:lvl6pPr>
            <a:lvl7pPr indent="0" lvl="6" marL="0" marR="0" algn="r">
              <a:spcBef>
                <a:spcPts val="0"/>
              </a:spcBef>
              <a:spcAft>
                <a:spcPts val="0"/>
              </a:spcAft>
              <a:buClr>
                <a:schemeClr val="dk2"/>
              </a:buClr>
              <a:buSzPts val="1000"/>
              <a:buNone/>
              <a:defRPr/>
            </a:lvl7pPr>
            <a:lvl8pPr indent="0" lvl="7" marL="0" marR="0" algn="r">
              <a:spcBef>
                <a:spcPts val="0"/>
              </a:spcBef>
              <a:spcAft>
                <a:spcPts val="0"/>
              </a:spcAft>
              <a:buClr>
                <a:schemeClr val="dk2"/>
              </a:buClr>
              <a:buSzPts val="1000"/>
              <a:buNone/>
              <a:defRPr/>
            </a:lvl8pPr>
            <a:lvl9pPr indent="0" lvl="8" marL="0" marR="0" algn="r">
              <a:spcBef>
                <a:spcPts val="0"/>
              </a:spcBef>
              <a:spcAft>
                <a:spcPts val="0"/>
              </a:spcAft>
              <a:buClr>
                <a:schemeClr val="dk2"/>
              </a:buClr>
              <a:buSzPts val="1000"/>
              <a:buNone/>
              <a:defRPr/>
            </a:lvl9pPr>
          </a:lstStyle>
          <a:p>
            <a:pPr indent="0" lvl="0" marL="0" rtl="0" algn="r">
              <a:spcBef>
                <a:spcPts val="0"/>
              </a:spcBef>
              <a:spcAft>
                <a:spcPts val="0"/>
              </a:spcAft>
              <a:buNone/>
            </a:pPr>
            <a:fld id="{00000000-1234-1234-1234-123412341234}" type="slidenum">
              <a:rPr lang="en-US"/>
              <a:t>‹#›</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30981" y="195263"/>
            <a:ext cx="8687991" cy="837010"/>
          </a:xfrm>
          <a:prstGeom prst="rect">
            <a:avLst/>
          </a:prstGeom>
          <a:noFill/>
          <a:ln>
            <a:noFill/>
          </a:ln>
        </p:spPr>
        <p:txBody>
          <a:bodyPr anchorCtr="0" anchor="t" bIns="34275" lIns="0" spcFirstLastPara="1" rIns="68575" wrap="square" tIns="34275">
            <a:noAutofit/>
          </a:bodyPr>
          <a:lstStyle>
            <a:lvl1pPr lvl="0"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100"/>
              <a:buFont typeface="Arial"/>
              <a:buNone/>
              <a:defRPr b="0" i="0" sz="33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230981" y="1040606"/>
            <a:ext cx="8687991" cy="3476625"/>
          </a:xfrm>
          <a:prstGeom prst="rect">
            <a:avLst/>
          </a:prstGeom>
          <a:noFill/>
          <a:ln>
            <a:noFill/>
          </a:ln>
        </p:spPr>
        <p:txBody>
          <a:bodyPr anchorCtr="0" anchor="t" bIns="34275" lIns="0" spcFirstLastPara="1" rIns="68575" wrap="square" tIns="342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8322469" y="4800600"/>
            <a:ext cx="596504" cy="273844"/>
          </a:xfrm>
          <a:prstGeom prst="rect">
            <a:avLst/>
          </a:prstGeom>
          <a:noFill/>
          <a:ln>
            <a:noFill/>
          </a:ln>
        </p:spPr>
        <p:txBody>
          <a:bodyPr anchorCtr="0" anchor="ctr" bIns="34275" lIns="68575" spcFirstLastPara="1" rIns="0" wrap="square" tIns="34275">
            <a:noAutofit/>
          </a:bodyPr>
          <a:lstStyle>
            <a:lvl1pPr indent="0" lvl="0"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1pPr>
            <a:lvl2pPr indent="0" lvl="1"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2pPr>
            <a:lvl3pPr indent="0" lvl="2"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3pPr>
            <a:lvl4pPr indent="0" lvl="3"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4pPr>
            <a:lvl5pPr indent="0" lvl="4"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5pPr>
            <a:lvl6pPr indent="0" lvl="5"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6pPr>
            <a:lvl7pPr indent="0" lvl="6"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7pPr>
            <a:lvl8pPr indent="0" lvl="7"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8pPr>
            <a:lvl9pPr indent="0" lvl="8" marL="0" marR="0" rtl="0" algn="r">
              <a:spcBef>
                <a:spcPts val="0"/>
              </a:spcBef>
              <a:spcAft>
                <a:spcPts val="0"/>
              </a:spcAft>
              <a:buClr>
                <a:srgbClr val="3A3838"/>
              </a:buClr>
              <a:buSzPts val="900"/>
              <a:buFont typeface="Calibri"/>
              <a:buNone/>
              <a:defRPr b="1" i="0" sz="900" u="none" cap="none">
                <a:solidFill>
                  <a:srgbClr val="3A383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1"/>
          <p:cNvSpPr/>
          <p:nvPr/>
        </p:nvSpPr>
        <p:spPr>
          <a:xfrm>
            <a:off x="0" y="4793456"/>
            <a:ext cx="603647" cy="47625"/>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SzPts val="1400"/>
              <a:buFont typeface="Arial"/>
              <a:buNone/>
            </a:pPr>
            <a:r>
              <a:t/>
            </a:r>
            <a:endParaRPr b="0" i="0" sz="1400" u="none" cap="none">
              <a:solidFill>
                <a:schemeClr val="accent1"/>
              </a:solidFill>
              <a:latin typeface="Calibri"/>
              <a:ea typeface="Calibri"/>
              <a:cs typeface="Calibri"/>
              <a:sym typeface="Calibri"/>
            </a:endParaRPr>
          </a:p>
        </p:txBody>
      </p:sp>
      <p:pic>
        <p:nvPicPr>
          <p:cNvPr id="14" name="Google Shape;14;p1"/>
          <p:cNvPicPr preferRelativeResize="0"/>
          <p:nvPr/>
        </p:nvPicPr>
        <p:blipFill rotWithShape="1">
          <a:blip r:embed="rId1">
            <a:alphaModFix/>
          </a:blip>
          <a:srcRect b="0" l="0" r="0" t="0"/>
          <a:stretch/>
        </p:blipFill>
        <p:spPr>
          <a:xfrm>
            <a:off x="230981" y="4876800"/>
            <a:ext cx="372666" cy="128588"/>
          </a:xfrm>
          <a:prstGeom prst="rect">
            <a:avLst/>
          </a:prstGeom>
          <a:noFill/>
          <a:ln>
            <a:noFill/>
          </a:ln>
        </p:spPr>
      </p:pic>
      <p:sp>
        <p:nvSpPr>
          <p:cNvPr id="15" name="Google Shape;15;p1"/>
          <p:cNvSpPr txBox="1"/>
          <p:nvPr>
            <p:ph idx="11" type="ftr"/>
          </p:nvPr>
        </p:nvSpPr>
        <p:spPr>
          <a:xfrm>
            <a:off x="230981" y="4518422"/>
            <a:ext cx="8687991" cy="273844"/>
          </a:xfrm>
          <a:prstGeom prst="rect">
            <a:avLst/>
          </a:prstGeom>
          <a:noFill/>
          <a:ln>
            <a:noFill/>
          </a:ln>
        </p:spPr>
        <p:txBody>
          <a:bodyPr anchorCtr="0" anchor="ctr" bIns="34275" lIns="0" spcFirstLastPara="1" rIns="0" wrap="square" tIns="35100">
            <a:noAutofit/>
          </a:bodyPr>
          <a:lstStyle>
            <a:lvl1pPr lvl="0" marR="0" rtl="0" algn="l">
              <a:spcBef>
                <a:spcPts val="0"/>
              </a:spcBef>
              <a:spcAft>
                <a:spcPts val="0"/>
              </a:spcAft>
              <a:buClr>
                <a:schemeClr val="dk1"/>
              </a:buClr>
              <a:buSzPts val="1100"/>
              <a:buFont typeface="Calibri"/>
              <a:buNone/>
              <a:defRPr b="0" i="0" sz="900" u="none" cap="none">
                <a:solidFill>
                  <a:schemeClr val="dk1"/>
                </a:solidFill>
                <a:latin typeface="Calibri"/>
                <a:ea typeface="Calibri"/>
                <a:cs typeface="Calibri"/>
                <a:sym typeface="Calibri"/>
              </a:defRPr>
            </a:lvl1pPr>
            <a:lvl2pPr lvl="1"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100"/>
              <a:buFont typeface="Calibri"/>
              <a:buNone/>
              <a:defRPr b="0" i="0" sz="1400" u="none" cap="none" strike="noStrike">
                <a:solidFill>
                  <a:schemeClr val="dk1"/>
                </a:solidFill>
                <a:latin typeface="Calibri"/>
                <a:ea typeface="Calibri"/>
                <a:cs typeface="Calibri"/>
                <a:sym typeface="Calibri"/>
              </a:defRPr>
            </a:lvl9pPr>
          </a:lstStyle>
          <a:p/>
        </p:txBody>
      </p:sp>
      <p:sp>
        <p:nvSpPr>
          <p:cNvPr id="16" name="Google Shape;16;p1"/>
          <p:cNvSpPr/>
          <p:nvPr/>
        </p:nvSpPr>
        <p:spPr>
          <a:xfrm>
            <a:off x="603647" y="4833938"/>
            <a:ext cx="6510338" cy="20774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58595B"/>
              </a:buClr>
              <a:buSzPts val="900"/>
              <a:buFont typeface="Calibri"/>
              <a:buNone/>
            </a:pPr>
            <a:r>
              <a:rPr b="0" i="0" lang="en-US" sz="900" u="none" cap="none">
                <a:solidFill>
                  <a:srgbClr val="58595B"/>
                </a:solidFill>
                <a:latin typeface="Calibri"/>
                <a:ea typeface="Calibri"/>
                <a:cs typeface="Calibri"/>
                <a:sym typeface="Calibri"/>
              </a:rPr>
              <a:t>CENTRO DE CIÊNCIA DE DADOS PARA ESTATÍSTICAS PÚBLICAS</a:t>
            </a:r>
            <a:r>
              <a:rPr b="0" i="0" lang="en-US" sz="900" u="none" cap="none">
                <a:solidFill>
                  <a:schemeClr val="accent1"/>
                </a:solidFill>
                <a:latin typeface="Calibri"/>
                <a:ea typeface="Calibri"/>
                <a:cs typeface="Calibri"/>
                <a:sym typeface="Calibri"/>
              </a:rPr>
              <a:t> | CCDEP</a:t>
            </a:r>
            <a:endParaRPr sz="1100"/>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34" name="Shape 334"/>
        <p:cNvGrpSpPr/>
        <p:nvPr/>
      </p:nvGrpSpPr>
      <p:grpSpPr>
        <a:xfrm>
          <a:off x="0" y="0"/>
          <a:ext cx="0" cy="0"/>
          <a:chOff x="0" y="0"/>
          <a:chExt cx="0" cy="0"/>
        </a:xfrm>
      </p:grpSpPr>
      <p:sp>
        <p:nvSpPr>
          <p:cNvPr id="335" name="Google Shape;335;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336" name="Google Shape;336;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337" name="Google Shape;33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spcBef>
                <a:spcPts val="0"/>
              </a:spcBef>
              <a:spcAft>
                <a:spcPts val="0"/>
              </a:spcAft>
              <a:buClr>
                <a:schemeClr val="dk2"/>
              </a:buClr>
              <a:buSzPts val="1000"/>
              <a:buFont typeface="Arial"/>
              <a:buNone/>
              <a:defRPr sz="1000">
                <a:solidFill>
                  <a:schemeClr val="dk2"/>
                </a:solidFill>
              </a:defRPr>
            </a:lvl1pPr>
            <a:lvl2pPr indent="0" lvl="1" marL="0" marR="0" rtl="0" algn="r">
              <a:spcBef>
                <a:spcPts val="0"/>
              </a:spcBef>
              <a:spcAft>
                <a:spcPts val="0"/>
              </a:spcAft>
              <a:buClr>
                <a:schemeClr val="dk2"/>
              </a:buClr>
              <a:buSzPts val="1000"/>
              <a:buFont typeface="Arial"/>
              <a:buNone/>
              <a:defRPr sz="1000">
                <a:solidFill>
                  <a:schemeClr val="dk2"/>
                </a:solidFill>
              </a:defRPr>
            </a:lvl2pPr>
            <a:lvl3pPr indent="0" lvl="2" marL="0" marR="0" rtl="0" algn="r">
              <a:spcBef>
                <a:spcPts val="0"/>
              </a:spcBef>
              <a:spcAft>
                <a:spcPts val="0"/>
              </a:spcAft>
              <a:buClr>
                <a:schemeClr val="dk2"/>
              </a:buClr>
              <a:buSzPts val="1000"/>
              <a:buFont typeface="Arial"/>
              <a:buNone/>
              <a:defRPr sz="1000">
                <a:solidFill>
                  <a:schemeClr val="dk2"/>
                </a:solidFill>
              </a:defRPr>
            </a:lvl3pPr>
            <a:lvl4pPr indent="0" lvl="3" marL="0" marR="0" rtl="0" algn="r">
              <a:spcBef>
                <a:spcPts val="0"/>
              </a:spcBef>
              <a:spcAft>
                <a:spcPts val="0"/>
              </a:spcAft>
              <a:buClr>
                <a:schemeClr val="dk2"/>
              </a:buClr>
              <a:buSzPts val="1000"/>
              <a:buFont typeface="Arial"/>
              <a:buNone/>
              <a:defRPr sz="1000">
                <a:solidFill>
                  <a:schemeClr val="dk2"/>
                </a:solidFill>
              </a:defRPr>
            </a:lvl4pPr>
            <a:lvl5pPr indent="0" lvl="4" marL="0" marR="0" rtl="0" algn="r">
              <a:spcBef>
                <a:spcPts val="0"/>
              </a:spcBef>
              <a:spcAft>
                <a:spcPts val="0"/>
              </a:spcAft>
              <a:buClr>
                <a:schemeClr val="dk2"/>
              </a:buClr>
              <a:buSzPts val="1000"/>
              <a:buFont typeface="Arial"/>
              <a:buNone/>
              <a:defRPr sz="1000">
                <a:solidFill>
                  <a:schemeClr val="dk2"/>
                </a:solidFill>
              </a:defRPr>
            </a:lvl5pPr>
            <a:lvl6pPr indent="0" lvl="5" marL="0" marR="0" rtl="0" algn="r">
              <a:spcBef>
                <a:spcPts val="0"/>
              </a:spcBef>
              <a:spcAft>
                <a:spcPts val="0"/>
              </a:spcAft>
              <a:buClr>
                <a:schemeClr val="dk2"/>
              </a:buClr>
              <a:buSzPts val="1000"/>
              <a:buFont typeface="Arial"/>
              <a:buNone/>
              <a:defRPr sz="1000">
                <a:solidFill>
                  <a:schemeClr val="dk2"/>
                </a:solidFill>
              </a:defRPr>
            </a:lvl6pPr>
            <a:lvl7pPr indent="0" lvl="6" marL="0" marR="0" rtl="0" algn="r">
              <a:spcBef>
                <a:spcPts val="0"/>
              </a:spcBef>
              <a:spcAft>
                <a:spcPts val="0"/>
              </a:spcAft>
              <a:buClr>
                <a:schemeClr val="dk2"/>
              </a:buClr>
              <a:buSzPts val="1000"/>
              <a:buFont typeface="Arial"/>
              <a:buNone/>
              <a:defRPr sz="1000">
                <a:solidFill>
                  <a:schemeClr val="dk2"/>
                </a:solidFill>
              </a:defRPr>
            </a:lvl7pPr>
            <a:lvl8pPr indent="0" lvl="7" marL="0" marR="0" rtl="0" algn="r">
              <a:spcBef>
                <a:spcPts val="0"/>
              </a:spcBef>
              <a:spcAft>
                <a:spcPts val="0"/>
              </a:spcAft>
              <a:buClr>
                <a:schemeClr val="dk2"/>
              </a:buClr>
              <a:buSzPts val="1000"/>
              <a:buFont typeface="Arial"/>
              <a:buNone/>
              <a:defRPr sz="1000">
                <a:solidFill>
                  <a:schemeClr val="dk2"/>
                </a:solidFill>
              </a:defRPr>
            </a:lvl8pPr>
            <a:lvl9pPr indent="0" lvl="8" marL="0" marR="0" rtl="0" algn="r">
              <a:spcBef>
                <a:spcPts val="0"/>
              </a:spcBef>
              <a:spcAft>
                <a:spcPts val="0"/>
              </a:spcAft>
              <a:buClr>
                <a:schemeClr val="dk2"/>
              </a:buClr>
              <a:buSzPts val="1000"/>
              <a:buFont typeface="Arial"/>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itle 1"/>
          <p:cNvSpPr>
            <a:spLocks noGrp="1"/>
          </p:cNvSpPr>
          <p:nvPr>
            <p:ph type="title"/>
          </p:nvPr>
        </p:nvSpPr>
        <p:spPr/>
        <p:txBody>
          <a:bodyPr wrap="square"/>
          <a:lstStyle/>
          <a:p>
            <a:r>
              <a:rPr sz="4000" b="1">
                <a:solidFill>
                  <a:srgbClr val="FFFFFF"/>
                </a:solidFill>
                <a:latin typeface="Calibri"/>
              </a:rPr>
              <a:t>Nadia</a:t>
            </a:r>
            <a:r>
              <a:rPr sz="2000" b="0">
                <a:solidFill>
                  <a:srgbClr val="D3DFFF"/>
                </a:solidFill>
                <a:latin typeface="Calibri"/>
              </a:rPr>
              <a:t> — consulta inteligente aos dados de São Paulo</a:t>
            </a:r>
          </a:p>
        </p:txBody>
      </p:sp>
      <p:sp>
        <p:nvSpPr>
          <p:cNvPr id="3" name="Text Placeholder 2"/>
          <p:cNvSpPr>
            <a:spLocks noGrp="1"/>
          </p:cNvSpPr>
          <p:nvPr>
            <p:ph type="body" idx="1"/>
          </p:nvPr>
        </p:nvSpPr>
        <p:spPr/>
        <p:txBody>
          <a:bodyPr wrap="square"/>
          <a:lstStyle/>
          <a:p/>
        </p:txBody>
      </p:sp>
      <p:sp>
        <p:nvSpPr>
          <p:cNvPr id="4" name="Text Placeholder 3"/>
          <p:cNvSpPr>
            <a:spLocks noGrp="1"/>
          </p:cNvSpPr>
          <p:nvPr>
            <p:ph type="body" idx="2"/>
          </p:nvPr>
        </p:nvSpPr>
        <p:spPr/>
        <p:txBody>
          <a:bodyPr wrap="square"/>
          <a:lstStyle/>
          <a:p>
            <a:r>
              <a:rPr sz="1500" b="1">
                <a:solidFill>
                  <a:srgbClr val="FFFFFF"/>
                </a:solidFill>
                <a:latin typeface="Calibri"/>
              </a:rPr>
              <a:t>Projeto RAG CCDEP</a:t>
            </a:r>
          </a:p>
          <a:p>
            <a:r>
              <a:rPr sz="1250">
                <a:solidFill>
                  <a:srgbClr val="D3DFFF"/>
                </a:solidFill>
                <a:latin typeface="Arial"/>
              </a:rPr>
              <a:t>Centro de Ciência de Dados para Estatísticas Públicas</a:t>
            </a:r>
          </a:p>
        </p:txBody>
      </p:sp>
      <p:sp>
        <p:nvSpPr>
          <p:cNvPr id="5" name="Rectangle 4"/>
          <p:cNvSpPr/>
          <p:nvPr/>
        </p:nvSpPr>
        <p:spPr>
          <a:xfrm>
            <a:off x="219456" y="1033272"/>
            <a:ext cx="8695944" cy="1892808"/>
          </a:xfrm>
          <a:prstGeom prst="rect">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Roteiro da apresentação</a:t>
            </a:r>
          </a:p>
        </p:txBody>
      </p:sp>
      <p:sp>
        <p:nvSpPr>
          <p:cNvPr id="3" name="Rounded Rectangle 2"/>
          <p:cNvSpPr/>
          <p:nvPr/>
        </p:nvSpPr>
        <p:spPr>
          <a:xfrm>
            <a:off x="402336" y="1152144"/>
            <a:ext cx="566928" cy="566928"/>
          </a:xfrm>
          <a:prstGeom prst="roundRect">
            <a:avLst>
              <a:gd name="adj" fmla="val 22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02336" y="1271016"/>
            <a:ext cx="566928" cy="329184"/>
          </a:xfrm>
          <a:prstGeom prst="rect">
            <a:avLst/>
          </a:prstGeom>
          <a:noFill/>
        </p:spPr>
        <p:txBody>
          <a:bodyPr wrap="square" anchor="t" lIns="0" rIns="0" tIns="0" bIns="0">
            <a:spAutoFit/>
          </a:bodyPr>
          <a:lstStyle/>
          <a:p>
            <a:pPr algn="ctr"/>
            <a:r>
              <a:rPr sz="2000" b="1" i="0">
                <a:solidFill>
                  <a:srgbClr val="FFFFFF"/>
                </a:solidFill>
                <a:latin typeface="Arial"/>
              </a:rPr>
              <a:t>1</a:t>
            </a:r>
          </a:p>
        </p:txBody>
      </p:sp>
      <p:sp>
        <p:nvSpPr>
          <p:cNvPr id="5" name="TextBox 4"/>
          <p:cNvSpPr txBox="1"/>
          <p:nvPr/>
        </p:nvSpPr>
        <p:spPr>
          <a:xfrm>
            <a:off x="1188720" y="1152144"/>
            <a:ext cx="4754880" cy="310896"/>
          </a:xfrm>
          <a:prstGeom prst="rect">
            <a:avLst/>
          </a:prstGeom>
          <a:noFill/>
        </p:spPr>
        <p:txBody>
          <a:bodyPr wrap="square" anchor="t" lIns="0" rIns="0" tIns="0" bIns="0">
            <a:spAutoFit/>
          </a:bodyPr>
          <a:lstStyle/>
          <a:p>
            <a:pPr algn="l"/>
            <a:r>
              <a:rPr sz="1750" b="1" i="0">
                <a:solidFill>
                  <a:srgbClr val="1A1A1A"/>
                </a:solidFill>
                <a:latin typeface="Arial"/>
              </a:rPr>
              <a:t>O que é RAG</a:t>
            </a:r>
          </a:p>
        </p:txBody>
      </p:sp>
      <p:sp>
        <p:nvSpPr>
          <p:cNvPr id="6" name="TextBox 5"/>
          <p:cNvSpPr txBox="1"/>
          <p:nvPr/>
        </p:nvSpPr>
        <p:spPr>
          <a:xfrm>
            <a:off x="1188720" y="1453896"/>
            <a:ext cx="4754880" cy="274320"/>
          </a:xfrm>
          <a:prstGeom prst="rect">
            <a:avLst/>
          </a:prstGeom>
          <a:noFill/>
        </p:spPr>
        <p:txBody>
          <a:bodyPr wrap="square" anchor="t" lIns="0" rIns="0" tIns="0" bIns="0">
            <a:spAutoFit/>
          </a:bodyPr>
          <a:lstStyle/>
          <a:p>
            <a:pPr algn="l"/>
            <a:r>
              <a:rPr sz="1250" b="0" i="0">
                <a:solidFill>
                  <a:srgbClr val="4A4A4A"/>
                </a:solidFill>
                <a:latin typeface="Arial"/>
              </a:rPr>
              <a:t>Conceito, funcionamento, tipos, diferenças e um exemplo prático.</a:t>
            </a:r>
          </a:p>
        </p:txBody>
      </p:sp>
      <p:sp>
        <p:nvSpPr>
          <p:cNvPr id="7" name="Rectangle 6"/>
          <p:cNvSpPr/>
          <p:nvPr/>
        </p:nvSpPr>
        <p:spPr>
          <a:xfrm>
            <a:off x="6254496" y="1280160"/>
            <a:ext cx="248716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54496" y="1371600"/>
            <a:ext cx="2487168" cy="256032"/>
          </a:xfrm>
          <a:prstGeom prst="rect">
            <a:avLst/>
          </a:prstGeom>
          <a:noFill/>
        </p:spPr>
        <p:txBody>
          <a:bodyPr wrap="square" anchor="t" lIns="0" rIns="0" tIns="0" bIns="0">
            <a:spAutoFit/>
          </a:bodyPr>
          <a:lstStyle/>
          <a:p>
            <a:pPr algn="l"/>
            <a:r>
              <a:rPr sz="1100" b="0" i="0">
                <a:solidFill>
                  <a:srgbClr val="767676"/>
                </a:solidFill>
                <a:latin typeface="Arial"/>
              </a:rPr>
              <a:t>Conceito e fundamentos</a:t>
            </a:r>
          </a:p>
        </p:txBody>
      </p:sp>
      <p:sp>
        <p:nvSpPr>
          <p:cNvPr id="9" name="Rounded Rectangle 8"/>
          <p:cNvSpPr/>
          <p:nvPr/>
        </p:nvSpPr>
        <p:spPr>
          <a:xfrm>
            <a:off x="402336" y="2066544"/>
            <a:ext cx="566928" cy="566928"/>
          </a:xfrm>
          <a:prstGeom prst="roundRect">
            <a:avLst>
              <a:gd name="adj" fmla="val 22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02336" y="2185416"/>
            <a:ext cx="566928" cy="329184"/>
          </a:xfrm>
          <a:prstGeom prst="rect">
            <a:avLst/>
          </a:prstGeom>
          <a:noFill/>
        </p:spPr>
        <p:txBody>
          <a:bodyPr wrap="square" anchor="t" lIns="0" rIns="0" tIns="0" bIns="0">
            <a:spAutoFit/>
          </a:bodyPr>
          <a:lstStyle/>
          <a:p>
            <a:pPr algn="ctr"/>
            <a:r>
              <a:rPr sz="2000" b="1" i="0">
                <a:solidFill>
                  <a:srgbClr val="FFFFFF"/>
                </a:solidFill>
                <a:latin typeface="Arial"/>
              </a:rPr>
              <a:t>2</a:t>
            </a:r>
          </a:p>
        </p:txBody>
      </p:sp>
      <p:sp>
        <p:nvSpPr>
          <p:cNvPr id="11" name="TextBox 10"/>
          <p:cNvSpPr txBox="1"/>
          <p:nvPr/>
        </p:nvSpPr>
        <p:spPr>
          <a:xfrm>
            <a:off x="1188720" y="2066544"/>
            <a:ext cx="4754880" cy="310896"/>
          </a:xfrm>
          <a:prstGeom prst="rect">
            <a:avLst/>
          </a:prstGeom>
          <a:noFill/>
        </p:spPr>
        <p:txBody>
          <a:bodyPr wrap="square" anchor="t" lIns="0" rIns="0" tIns="0" bIns="0">
            <a:spAutoFit/>
          </a:bodyPr>
          <a:lstStyle/>
          <a:p>
            <a:pPr algn="l"/>
            <a:r>
              <a:rPr sz="1750" b="1" i="0">
                <a:solidFill>
                  <a:srgbClr val="1A1A1A"/>
                </a:solidFill>
                <a:latin typeface="Arial"/>
              </a:rPr>
              <a:t>Como a Nadia foi construída</a:t>
            </a:r>
          </a:p>
        </p:txBody>
      </p:sp>
      <p:sp>
        <p:nvSpPr>
          <p:cNvPr id="12" name="TextBox 11"/>
          <p:cNvSpPr txBox="1"/>
          <p:nvPr/>
        </p:nvSpPr>
        <p:spPr>
          <a:xfrm>
            <a:off x="1188720" y="2368296"/>
            <a:ext cx="4754880" cy="274320"/>
          </a:xfrm>
          <a:prstGeom prst="rect">
            <a:avLst/>
          </a:prstGeom>
          <a:noFill/>
        </p:spPr>
        <p:txBody>
          <a:bodyPr wrap="square" anchor="t" lIns="0" rIns="0" tIns="0" bIns="0">
            <a:spAutoFit/>
          </a:bodyPr>
          <a:lstStyle/>
          <a:p>
            <a:pPr algn="l"/>
            <a:r>
              <a:rPr sz="1250" b="0" i="0">
                <a:solidFill>
                  <a:srgbClr val="4A4A4A"/>
                </a:solidFill>
                <a:latin typeface="Arial"/>
              </a:rPr>
              <a:t>Dificuldades, gargalos, acertos, decisões e aprendizados.</a:t>
            </a:r>
          </a:p>
        </p:txBody>
      </p:sp>
      <p:sp>
        <p:nvSpPr>
          <p:cNvPr id="13" name="Rectangle 12"/>
          <p:cNvSpPr/>
          <p:nvPr/>
        </p:nvSpPr>
        <p:spPr>
          <a:xfrm>
            <a:off x="6254496" y="2194560"/>
            <a:ext cx="248716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4496" y="2286000"/>
            <a:ext cx="2487168" cy="256032"/>
          </a:xfrm>
          <a:prstGeom prst="rect">
            <a:avLst/>
          </a:prstGeom>
          <a:noFill/>
        </p:spPr>
        <p:txBody>
          <a:bodyPr wrap="square" anchor="t" lIns="0" rIns="0" tIns="0" bIns="0">
            <a:spAutoFit/>
          </a:bodyPr>
          <a:lstStyle/>
          <a:p>
            <a:pPr algn="l"/>
            <a:r>
              <a:rPr sz="1100" b="0" i="0">
                <a:solidFill>
                  <a:srgbClr val="767676"/>
                </a:solidFill>
                <a:latin typeface="Arial"/>
              </a:rPr>
              <a:t>Desenvolvimento do projeto</a:t>
            </a:r>
          </a:p>
        </p:txBody>
      </p:sp>
      <p:sp>
        <p:nvSpPr>
          <p:cNvPr id="15" name="Rounded Rectangle 14"/>
          <p:cNvSpPr/>
          <p:nvPr/>
        </p:nvSpPr>
        <p:spPr>
          <a:xfrm>
            <a:off x="402336" y="2980944"/>
            <a:ext cx="566928" cy="566928"/>
          </a:xfrm>
          <a:prstGeom prst="roundRect">
            <a:avLst>
              <a:gd name="adj" fmla="val 22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02336" y="3099816"/>
            <a:ext cx="566928" cy="329184"/>
          </a:xfrm>
          <a:prstGeom prst="rect">
            <a:avLst/>
          </a:prstGeom>
          <a:noFill/>
        </p:spPr>
        <p:txBody>
          <a:bodyPr wrap="square" anchor="t" lIns="0" rIns="0" tIns="0" bIns="0">
            <a:spAutoFit/>
          </a:bodyPr>
          <a:lstStyle/>
          <a:p>
            <a:pPr algn="ctr"/>
            <a:r>
              <a:rPr sz="2000" b="1" i="0">
                <a:solidFill>
                  <a:srgbClr val="FFFFFF"/>
                </a:solidFill>
                <a:latin typeface="Arial"/>
              </a:rPr>
              <a:t>3</a:t>
            </a:r>
          </a:p>
        </p:txBody>
      </p:sp>
      <p:sp>
        <p:nvSpPr>
          <p:cNvPr id="17" name="TextBox 16"/>
          <p:cNvSpPr txBox="1"/>
          <p:nvPr/>
        </p:nvSpPr>
        <p:spPr>
          <a:xfrm>
            <a:off x="1188720" y="2980944"/>
            <a:ext cx="4754880" cy="310896"/>
          </a:xfrm>
          <a:prstGeom prst="rect">
            <a:avLst/>
          </a:prstGeom>
          <a:noFill/>
        </p:spPr>
        <p:txBody>
          <a:bodyPr wrap="square" anchor="t" lIns="0" rIns="0" tIns="0" bIns="0">
            <a:spAutoFit/>
          </a:bodyPr>
          <a:lstStyle/>
          <a:p>
            <a:pPr algn="l"/>
            <a:r>
              <a:rPr sz="1750" b="1" i="0">
                <a:solidFill>
                  <a:srgbClr val="1A1A1A"/>
                </a:solidFill>
                <a:latin typeface="Arial"/>
              </a:rPr>
              <a:t>A aplicação Nadia</a:t>
            </a:r>
          </a:p>
        </p:txBody>
      </p:sp>
      <p:sp>
        <p:nvSpPr>
          <p:cNvPr id="18" name="TextBox 17"/>
          <p:cNvSpPr txBox="1"/>
          <p:nvPr/>
        </p:nvSpPr>
        <p:spPr>
          <a:xfrm>
            <a:off x="1188720" y="3282696"/>
            <a:ext cx="4754880" cy="274320"/>
          </a:xfrm>
          <a:prstGeom prst="rect">
            <a:avLst/>
          </a:prstGeom>
          <a:noFill/>
        </p:spPr>
        <p:txBody>
          <a:bodyPr wrap="square" anchor="t" lIns="0" rIns="0" tIns="0" bIns="0">
            <a:spAutoFit/>
          </a:bodyPr>
          <a:lstStyle/>
          <a:p>
            <a:pPr algn="l"/>
            <a:r>
              <a:rPr sz="1250" b="0" i="0">
                <a:solidFill>
                  <a:srgbClr val="4A4A4A"/>
                </a:solidFill>
                <a:latin typeface="Arial"/>
              </a:rPr>
              <a:t>Finalidade, público, funcionalidades, arquitetura e demonstração.</a:t>
            </a:r>
          </a:p>
        </p:txBody>
      </p:sp>
      <p:sp>
        <p:nvSpPr>
          <p:cNvPr id="19" name="Rectangle 18"/>
          <p:cNvSpPr/>
          <p:nvPr/>
        </p:nvSpPr>
        <p:spPr>
          <a:xfrm>
            <a:off x="6254496" y="3108960"/>
            <a:ext cx="248716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54496" y="3200400"/>
            <a:ext cx="2487168" cy="256032"/>
          </a:xfrm>
          <a:prstGeom prst="rect">
            <a:avLst/>
          </a:prstGeom>
          <a:noFill/>
        </p:spPr>
        <p:txBody>
          <a:bodyPr wrap="square" anchor="t" lIns="0" rIns="0" tIns="0" bIns="0">
            <a:spAutoFit/>
          </a:bodyPr>
          <a:lstStyle/>
          <a:p>
            <a:pPr algn="l"/>
            <a:r>
              <a:rPr sz="1100" b="0" i="0">
                <a:solidFill>
                  <a:srgbClr val="767676"/>
                </a:solidFill>
                <a:latin typeface="Arial"/>
              </a:rPr>
              <a:t>Produto e demonstração</a:t>
            </a:r>
          </a:p>
        </p:txBody>
      </p:sp>
      <p:sp>
        <p:nvSpPr>
          <p:cNvPr id="21" name="TextBox 20"/>
          <p:cNvSpPr txBox="1"/>
          <p:nvPr/>
        </p:nvSpPr>
        <p:spPr>
          <a:xfrm>
            <a:off x="402336" y="4206240"/>
            <a:ext cx="8339328" cy="292608"/>
          </a:xfrm>
          <a:prstGeom prst="rect">
            <a:avLst/>
          </a:prstGeom>
          <a:noFill/>
        </p:spPr>
        <p:txBody>
          <a:bodyPr wrap="square" anchor="t" lIns="0" rIns="0" tIns="0" bIns="0">
            <a:spAutoFit/>
          </a:bodyPr>
          <a:lstStyle/>
          <a:p>
            <a:pPr algn="l"/>
            <a:r>
              <a:rPr sz="1250" b="0" i="0">
                <a:solidFill>
                  <a:srgbClr val="4A4A4A"/>
                </a:solidFill>
                <a:latin typeface="Arial"/>
              </a:rPr>
              <a:t>Cada bloco termina com um quadro que separa o implementado, o demonstrado e o que precisa de validação.</a:t>
            </a:r>
          </a:p>
        </p:txBody>
      </p:sp>
      <p:sp>
        <p:nvSpPr>
          <p:cNvPr id="22" name="TextBox 21"/>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desafio da consulta documental</a:t>
            </a:r>
          </a:p>
        </p:txBody>
      </p:sp>
      <p:sp>
        <p:nvSpPr>
          <p:cNvPr id="3" name="TextBox 2"/>
          <p:cNvSpPr txBox="1"/>
          <p:nvPr/>
        </p:nvSpPr>
        <p:spPr>
          <a:xfrm>
            <a:off x="402336" y="1170432"/>
            <a:ext cx="4069080" cy="292608"/>
          </a:xfrm>
          <a:prstGeom prst="rect">
            <a:avLst/>
          </a:prstGeom>
          <a:noFill/>
        </p:spPr>
        <p:txBody>
          <a:bodyPr wrap="square" anchor="t" lIns="0" rIns="0" tIns="0" bIns="0">
            <a:spAutoFit/>
          </a:bodyPr>
          <a:lstStyle/>
          <a:p>
            <a:pPr algn="l"/>
            <a:r>
              <a:rPr sz="1500" b="1" i="0">
                <a:solidFill>
                  <a:srgbClr val="1A1A1A"/>
                </a:solidFill>
                <a:latin typeface="Arial"/>
              </a:rPr>
              <a:t>Uma pergunta mobiliza vários documentos</a:t>
            </a:r>
          </a:p>
        </p:txBody>
      </p:sp>
      <p:sp>
        <p:nvSpPr>
          <p:cNvPr id="4" name="TextBox 3"/>
          <p:cNvSpPr txBox="1"/>
          <p:nvPr/>
        </p:nvSpPr>
        <p:spPr>
          <a:xfrm>
            <a:off x="402336" y="1481328"/>
            <a:ext cx="4069080" cy="713232"/>
          </a:xfrm>
          <a:prstGeom prst="rect">
            <a:avLst/>
          </a:prstGeom>
          <a:noFill/>
        </p:spPr>
        <p:txBody>
          <a:bodyPr wrap="square" anchor="t" lIns="0" rIns="0" tIns="0" bIns="0">
            <a:spAutoFit/>
          </a:bodyPr>
          <a:lstStyle/>
          <a:p>
            <a:pPr algn="l">
              <a:lnSpc>
                <a:spcPct val="112000"/>
              </a:lnSpc>
            </a:pPr>
            <a:r>
              <a:rPr sz="1250" b="0" i="0">
                <a:solidFill>
                  <a:srgbClr val="4A4A4A"/>
                </a:solidFill>
                <a:latin typeface="Arial"/>
              </a:rPr>
              <a:t>Indicadores econômicos de São Paulo aparecem em boletins trimestrais distintos, em tabelas e em séries de períodos diferentes.</a:t>
            </a:r>
          </a:p>
        </p:txBody>
      </p:sp>
      <p:sp>
        <p:nvSpPr>
          <p:cNvPr id="5" name="TextBox 4"/>
          <p:cNvSpPr txBox="1"/>
          <p:nvPr/>
        </p:nvSpPr>
        <p:spPr>
          <a:xfrm>
            <a:off x="402336" y="2176272"/>
            <a:ext cx="4069080" cy="292608"/>
          </a:xfrm>
          <a:prstGeom prst="rect">
            <a:avLst/>
          </a:prstGeom>
          <a:noFill/>
        </p:spPr>
        <p:txBody>
          <a:bodyPr wrap="square" anchor="t" lIns="0" rIns="0" tIns="0" bIns="0">
            <a:spAutoFit/>
          </a:bodyPr>
          <a:lstStyle/>
          <a:p>
            <a:pPr algn="l"/>
            <a:r>
              <a:rPr sz="1500" b="1" i="0">
                <a:solidFill>
                  <a:srgbClr val="1A1A1A"/>
                </a:solidFill>
                <a:latin typeface="Arial"/>
              </a:rPr>
              <a:t>A resposta precisa preservar o contexto do dado</a:t>
            </a:r>
          </a:p>
        </p:txBody>
      </p:sp>
      <p:sp>
        <p:nvSpPr>
          <p:cNvPr id="6" name="TextBox 5"/>
          <p:cNvSpPr txBox="1"/>
          <p:nvPr/>
        </p:nvSpPr>
        <p:spPr>
          <a:xfrm>
            <a:off x="402336" y="2487168"/>
            <a:ext cx="4069080" cy="713232"/>
          </a:xfrm>
          <a:prstGeom prst="rect">
            <a:avLst/>
          </a:prstGeom>
          <a:noFill/>
        </p:spPr>
        <p:txBody>
          <a:bodyPr wrap="square" anchor="t" lIns="0" rIns="0" tIns="0" bIns="0">
            <a:spAutoFit/>
          </a:bodyPr>
          <a:lstStyle/>
          <a:p>
            <a:pPr algn="l">
              <a:lnSpc>
                <a:spcPct val="112000"/>
              </a:lnSpc>
            </a:pPr>
            <a:r>
              <a:rPr sz="1250" b="0" i="0">
                <a:solidFill>
                  <a:srgbClr val="4A4A4A"/>
                </a:solidFill>
                <a:latin typeface="Arial"/>
              </a:rPr>
              <a:t>Valor, unidade, recorte geográfico, período de comparação e órgão produtor não podem se perder no caminho.</a:t>
            </a:r>
          </a:p>
        </p:txBody>
      </p:sp>
      <p:sp>
        <p:nvSpPr>
          <p:cNvPr id="7" name="TextBox 6"/>
          <p:cNvSpPr txBox="1"/>
          <p:nvPr/>
        </p:nvSpPr>
        <p:spPr>
          <a:xfrm>
            <a:off x="402336" y="3182112"/>
            <a:ext cx="4069080" cy="292608"/>
          </a:xfrm>
          <a:prstGeom prst="rect">
            <a:avLst/>
          </a:prstGeom>
          <a:noFill/>
        </p:spPr>
        <p:txBody>
          <a:bodyPr wrap="square" anchor="t" lIns="0" rIns="0" tIns="0" bIns="0">
            <a:spAutoFit/>
          </a:bodyPr>
          <a:lstStyle/>
          <a:p>
            <a:pPr algn="l"/>
            <a:r>
              <a:rPr sz="1500" b="1" i="0">
                <a:solidFill>
                  <a:srgbClr val="1A1A1A"/>
                </a:solidFill>
                <a:latin typeface="Arial"/>
              </a:rPr>
              <a:t>A conferência manual é lenta e repetitiva</a:t>
            </a:r>
          </a:p>
        </p:txBody>
      </p:sp>
      <p:sp>
        <p:nvSpPr>
          <p:cNvPr id="8" name="TextBox 7"/>
          <p:cNvSpPr txBox="1"/>
          <p:nvPr/>
        </p:nvSpPr>
        <p:spPr>
          <a:xfrm>
            <a:off x="402336" y="3493008"/>
            <a:ext cx="4069080" cy="713232"/>
          </a:xfrm>
          <a:prstGeom prst="rect">
            <a:avLst/>
          </a:prstGeom>
          <a:noFill/>
        </p:spPr>
        <p:txBody>
          <a:bodyPr wrap="square" anchor="t" lIns="0" rIns="0" tIns="0" bIns="0">
            <a:spAutoFit/>
          </a:bodyPr>
          <a:lstStyle/>
          <a:p>
            <a:pPr algn="l">
              <a:lnSpc>
                <a:spcPct val="112000"/>
              </a:lnSpc>
            </a:pPr>
            <a:r>
              <a:rPr sz="1250" b="0" i="0">
                <a:solidFill>
                  <a:srgbClr val="4A4A4A"/>
                </a:solidFill>
                <a:latin typeface="Arial"/>
              </a:rPr>
              <a:t>Localizar o número certo em 22 boletins, página por página, consome tempo que deveria estar na análise.</a:t>
            </a:r>
          </a:p>
        </p:txBody>
      </p:sp>
      <p:sp>
        <p:nvSpPr>
          <p:cNvPr id="9" name="Rounded Rectangle 8"/>
          <p:cNvSpPr/>
          <p:nvPr/>
        </p:nvSpPr>
        <p:spPr>
          <a:xfrm>
            <a:off x="4956048" y="1170432"/>
            <a:ext cx="3785616" cy="2432304"/>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193792" y="1335024"/>
            <a:ext cx="3310128" cy="256032"/>
          </a:xfrm>
          <a:prstGeom prst="rect">
            <a:avLst/>
          </a:prstGeom>
          <a:noFill/>
        </p:spPr>
        <p:txBody>
          <a:bodyPr wrap="square" anchor="t" lIns="0" rIns="0" tIns="0" bIns="0">
            <a:spAutoFit/>
          </a:bodyPr>
          <a:lstStyle/>
          <a:p>
            <a:pPr algn="l"/>
            <a:r>
              <a:rPr sz="1000" b="1" i="0">
                <a:solidFill>
                  <a:srgbClr val="2A5FFF"/>
                </a:solidFill>
                <a:latin typeface="Arial"/>
              </a:rPr>
              <a:t>UMA PERGUNTA TÍPICA</a:t>
            </a:r>
          </a:p>
        </p:txBody>
      </p:sp>
      <p:sp>
        <p:nvSpPr>
          <p:cNvPr id="11" name="TextBox 10"/>
          <p:cNvSpPr txBox="1"/>
          <p:nvPr/>
        </p:nvSpPr>
        <p:spPr>
          <a:xfrm>
            <a:off x="5193792" y="1627632"/>
            <a:ext cx="3310128" cy="914400"/>
          </a:xfrm>
          <a:prstGeom prst="rect">
            <a:avLst/>
          </a:prstGeom>
          <a:noFill/>
        </p:spPr>
        <p:txBody>
          <a:bodyPr wrap="square" anchor="t" lIns="0" rIns="0" tIns="0" bIns="0">
            <a:spAutoFit/>
          </a:bodyPr>
          <a:lstStyle/>
          <a:p>
            <a:pPr algn="l">
              <a:lnSpc>
                <a:spcPct val="116000"/>
              </a:lnSpc>
            </a:pPr>
            <a:r>
              <a:rPr sz="1400" b="0" i="1">
                <a:solidFill>
                  <a:srgbClr val="1A1A1A"/>
                </a:solidFill>
                <a:latin typeface="Arial"/>
              </a:rPr>
              <a:t>“Qual foi a variação do PIB paulista no 1º trimestre de 2024 em relação ao trimestre anterior, com ajuste sazonal?”</a:t>
            </a:r>
          </a:p>
        </p:txBody>
      </p:sp>
      <p:sp>
        <p:nvSpPr>
          <p:cNvPr id="12" name="Rectangle 11"/>
          <p:cNvSpPr/>
          <p:nvPr/>
        </p:nvSpPr>
        <p:spPr>
          <a:xfrm>
            <a:off x="5193792" y="2651760"/>
            <a:ext cx="33101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2761488"/>
            <a:ext cx="3310128" cy="768096"/>
          </a:xfrm>
          <a:prstGeom prst="rect">
            <a:avLst/>
          </a:prstGeom>
          <a:noFill/>
        </p:spPr>
        <p:txBody>
          <a:bodyPr wrap="square" anchor="t" lIns="0" rIns="0" tIns="0" bIns="0">
            <a:spAutoFit/>
          </a:bodyPr>
          <a:lstStyle/>
          <a:p>
            <a:pPr algn="l">
              <a:lnSpc>
                <a:spcPct val="114000"/>
              </a:lnSpc>
            </a:pPr>
            <a:r>
              <a:rPr sz="1200" b="0" i="0">
                <a:solidFill>
                  <a:srgbClr val="4A4A4A"/>
                </a:solidFill>
                <a:latin typeface="Arial"/>
              </a:rPr>
              <a:t>Exige: localizar o boletim do período · ler a tabela correta · respeitar o ajuste sazonal · citar a fonte.</a:t>
            </a:r>
          </a:p>
        </p:txBody>
      </p:sp>
      <p:sp>
        <p:nvSpPr>
          <p:cNvPr id="14" name="TextBox 13"/>
          <p:cNvSpPr txBox="1"/>
          <p:nvPr/>
        </p:nvSpPr>
        <p:spPr>
          <a:xfrm>
            <a:off x="402336" y="4206240"/>
            <a:ext cx="8339328" cy="292608"/>
          </a:xfrm>
          <a:prstGeom prst="rect">
            <a:avLst/>
          </a:prstGeom>
          <a:noFill/>
        </p:spPr>
        <p:txBody>
          <a:bodyPr wrap="square" anchor="t" lIns="0" rIns="0" tIns="0" bIns="0">
            <a:spAutoFit/>
          </a:bodyPr>
          <a:lstStyle/>
          <a:p>
            <a:pPr algn="l"/>
            <a:r>
              <a:rPr sz="1250" b="0" i="0">
                <a:solidFill>
                  <a:srgbClr val="4A4A4A"/>
                </a:solidFill>
                <a:latin typeface="Arial"/>
              </a:rPr>
              <a:t>Proposta do projeto: aproximar a pergunta do usuário das evidências já publicadas, sem substituir o dado original.</a:t>
            </a:r>
          </a:p>
        </p:txBody>
      </p:sp>
      <p:sp>
        <p:nvSpPr>
          <p:cNvPr id="15" name="TextBox 14"/>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que é RAG, em uma frase</a:t>
            </a:r>
          </a:p>
        </p:txBody>
      </p:sp>
      <p:sp>
        <p:nvSpPr>
          <p:cNvPr id="3" name="Rounded Rectangle 2"/>
          <p:cNvSpPr/>
          <p:nvPr/>
        </p:nvSpPr>
        <p:spPr>
          <a:xfrm>
            <a:off x="402336" y="1078992"/>
            <a:ext cx="8339328" cy="749808"/>
          </a:xfrm>
          <a:prstGeom prst="roundRect">
            <a:avLst>
              <a:gd name="adj" fmla="val 5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21792" y="1225296"/>
            <a:ext cx="7900416" cy="493776"/>
          </a:xfrm>
          <a:prstGeom prst="rect">
            <a:avLst/>
          </a:prstGeom>
          <a:noFill/>
        </p:spPr>
        <p:txBody>
          <a:bodyPr wrap="square" anchor="t" lIns="0" rIns="0" tIns="0" bIns="0">
            <a:spAutoFit/>
          </a:bodyPr>
          <a:lstStyle/>
          <a:p>
            <a:pPr algn="l">
              <a:lnSpc>
                <a:spcPct val="114000"/>
              </a:lnSpc>
            </a:pPr>
            <a:r>
              <a:rPr sz="1300" b="1" i="0">
                <a:solidFill>
                  <a:srgbClr val="1B3FA8"/>
                </a:solidFill>
                <a:latin typeface="Arial"/>
              </a:rPr>
              <a:t>RAG (Retrieval-Augmented Generation) é um método em que o sistema primeiro recupera trechos relevantes de uma base documental e só depois pede ao modelo de linguagem que redija a resposta a partir desses trechos.</a:t>
            </a:r>
          </a:p>
        </p:txBody>
      </p:sp>
      <p:sp>
        <p:nvSpPr>
          <p:cNvPr id="5" name="TextBox 4"/>
          <p:cNvSpPr txBox="1"/>
          <p:nvPr/>
        </p:nvSpPr>
        <p:spPr>
          <a:xfrm>
            <a:off x="402336" y="1956816"/>
            <a:ext cx="3931920" cy="256032"/>
          </a:xfrm>
          <a:prstGeom prst="rect">
            <a:avLst/>
          </a:prstGeom>
          <a:noFill/>
        </p:spPr>
        <p:txBody>
          <a:bodyPr wrap="square" anchor="t" lIns="0" rIns="0" tIns="0" bIns="0">
            <a:spAutoFit/>
          </a:bodyPr>
          <a:lstStyle/>
          <a:p>
            <a:pPr algn="l"/>
            <a:r>
              <a:rPr sz="1100" b="1" i="0">
                <a:solidFill>
                  <a:srgbClr val="767676"/>
                </a:solidFill>
                <a:latin typeface="Arial"/>
              </a:rPr>
              <a:t>SEM RAG</a:t>
            </a:r>
          </a:p>
        </p:txBody>
      </p:sp>
      <p:sp>
        <p:nvSpPr>
          <p:cNvPr id="6" name="Rounded Rectangle 5"/>
          <p:cNvSpPr/>
          <p:nvPr/>
        </p:nvSpPr>
        <p:spPr>
          <a:xfrm>
            <a:off x="402336" y="2231136"/>
            <a:ext cx="3931920" cy="1517904"/>
          </a:xfrm>
          <a:prstGeom prst="roundRect">
            <a:avLst>
              <a:gd name="adj" fmla="val 4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85216" y="2359152"/>
            <a:ext cx="3584448" cy="1298448"/>
          </a:xfrm>
          <a:prstGeom prst="rect">
            <a:avLst/>
          </a:prstGeom>
          <a:noFill/>
        </p:spPr>
        <p:txBody>
          <a:bodyPr wrap="square" anchor="t" lIns="0" rIns="0" tIns="0" bIns="0">
            <a:spAutoFit/>
          </a:bodyPr>
          <a:lstStyle/>
          <a:p>
            <a:pPr algn="l">
              <a:lnSpc>
                <a:spcPct val="108000"/>
              </a:lnSpc>
              <a:spcAft>
                <a:spcPts val="600"/>
              </a:spcAft>
            </a:pPr>
            <a:r>
              <a:rPr sz="1200" b="0" i="0">
                <a:solidFill>
                  <a:srgbClr val="4A4A4A"/>
                </a:solidFill>
                <a:latin typeface="Arial"/>
              </a:rPr>
              <a:t>•  O modelo responde a partir do que memorizou no treinamento.</a:t>
            </a:r>
          </a:p>
          <a:p>
            <a:pPr algn="l">
              <a:lnSpc>
                <a:spcPct val="108000"/>
              </a:lnSpc>
              <a:spcAft>
                <a:spcPts val="600"/>
              </a:spcAft>
            </a:pPr>
            <a:r>
              <a:rPr sz="1200" b="0" i="0">
                <a:solidFill>
                  <a:srgbClr val="4A4A4A"/>
                </a:solidFill>
                <a:latin typeface="Arial"/>
              </a:rPr>
              <a:t>•  O dado pode estar desatualizado ou simplesmente não existir na memória.</a:t>
            </a:r>
          </a:p>
          <a:p>
            <a:pPr algn="l">
              <a:lnSpc>
                <a:spcPct val="108000"/>
              </a:lnSpc>
              <a:spcAft>
                <a:spcPts val="600"/>
              </a:spcAft>
            </a:pPr>
            <a:r>
              <a:rPr sz="1200" b="0" i="0">
                <a:solidFill>
                  <a:srgbClr val="4A4A4A"/>
                </a:solidFill>
                <a:latin typeface="Arial"/>
              </a:rPr>
              <a:t>•  Não há como apontar a página de origem do número.</a:t>
            </a:r>
          </a:p>
        </p:txBody>
      </p:sp>
      <p:sp>
        <p:nvSpPr>
          <p:cNvPr id="8" name="TextBox 7"/>
          <p:cNvSpPr txBox="1"/>
          <p:nvPr/>
        </p:nvSpPr>
        <p:spPr>
          <a:xfrm>
            <a:off x="4754880" y="1956816"/>
            <a:ext cx="3986784" cy="256032"/>
          </a:xfrm>
          <a:prstGeom prst="rect">
            <a:avLst/>
          </a:prstGeom>
          <a:noFill/>
        </p:spPr>
        <p:txBody>
          <a:bodyPr wrap="square" anchor="t" lIns="0" rIns="0" tIns="0" bIns="0">
            <a:spAutoFit/>
          </a:bodyPr>
          <a:lstStyle/>
          <a:p>
            <a:pPr algn="l"/>
            <a:r>
              <a:rPr sz="1100" b="1" i="0">
                <a:solidFill>
                  <a:srgbClr val="2A5FFF"/>
                </a:solidFill>
                <a:latin typeface="Arial"/>
              </a:rPr>
              <a:t>COM RAG</a:t>
            </a:r>
          </a:p>
        </p:txBody>
      </p:sp>
      <p:sp>
        <p:nvSpPr>
          <p:cNvPr id="9" name="Rounded Rectangle 8"/>
          <p:cNvSpPr/>
          <p:nvPr/>
        </p:nvSpPr>
        <p:spPr>
          <a:xfrm>
            <a:off x="4754880" y="2231136"/>
            <a:ext cx="3986784" cy="1517904"/>
          </a:xfrm>
          <a:prstGeom prst="roundRect">
            <a:avLst>
              <a:gd name="adj" fmla="val 4000"/>
            </a:avLst>
          </a:prstGeom>
          <a:solidFill>
            <a:srgbClr val="F2F4F8"/>
          </a:solidFill>
          <a:ln w="9525">
            <a:solidFill>
              <a:srgbClr val="D3D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956048" y="2359152"/>
            <a:ext cx="3639312" cy="1298448"/>
          </a:xfrm>
          <a:prstGeom prst="rect">
            <a:avLst/>
          </a:prstGeom>
          <a:noFill/>
        </p:spPr>
        <p:txBody>
          <a:bodyPr wrap="square" anchor="t" lIns="0" rIns="0" tIns="0" bIns="0">
            <a:spAutoFit/>
          </a:bodyPr>
          <a:lstStyle/>
          <a:p>
            <a:pPr algn="l">
              <a:lnSpc>
                <a:spcPct val="108000"/>
              </a:lnSpc>
              <a:spcAft>
                <a:spcPts val="600"/>
              </a:spcAft>
            </a:pPr>
            <a:r>
              <a:rPr sz="1200" b="0" i="0">
                <a:solidFill>
                  <a:srgbClr val="1A1A1A"/>
                </a:solidFill>
                <a:latin typeface="Arial"/>
              </a:rPr>
              <a:t>•  A resposta é escrita a partir de trechos do acervo do próprio projeto.</a:t>
            </a:r>
          </a:p>
          <a:p>
            <a:pPr algn="l">
              <a:lnSpc>
                <a:spcPct val="108000"/>
              </a:lnSpc>
              <a:spcAft>
                <a:spcPts val="600"/>
              </a:spcAft>
            </a:pPr>
            <a:r>
              <a:rPr sz="1200" b="0" i="0">
                <a:solidFill>
                  <a:srgbClr val="1A1A1A"/>
                </a:solidFill>
                <a:latin typeface="Arial"/>
              </a:rPr>
              <a:t>•  O conteúdo pode ser atualizado sem retreinar o modelo: basta reindexar.</a:t>
            </a:r>
          </a:p>
          <a:p>
            <a:pPr algn="l">
              <a:lnSpc>
                <a:spcPct val="108000"/>
              </a:lnSpc>
              <a:spcAft>
                <a:spcPts val="600"/>
              </a:spcAft>
            </a:pPr>
            <a:r>
              <a:rPr sz="1200" b="0" i="0">
                <a:solidFill>
                  <a:srgbClr val="1A1A1A"/>
                </a:solidFill>
                <a:latin typeface="Arial"/>
              </a:rPr>
              <a:t>•  A fonte e a página ficam registradas junto da resposta.</a:t>
            </a:r>
          </a:p>
        </p:txBody>
      </p:sp>
      <p:sp>
        <p:nvSpPr>
          <p:cNvPr id="11" name="TextBox 10"/>
          <p:cNvSpPr txBox="1"/>
          <p:nvPr/>
        </p:nvSpPr>
        <p:spPr>
          <a:xfrm>
            <a:off x="402336" y="4206240"/>
            <a:ext cx="8339328" cy="292608"/>
          </a:xfrm>
          <a:prstGeom prst="rect">
            <a:avLst/>
          </a:prstGeom>
          <a:noFill/>
        </p:spPr>
        <p:txBody>
          <a:bodyPr wrap="square" anchor="t" lIns="0" rIns="0" tIns="0" bIns="0">
            <a:spAutoFit/>
          </a:bodyPr>
          <a:lstStyle/>
          <a:p>
            <a:pPr algn="l"/>
            <a:r>
              <a:rPr sz="1250" b="0" i="0">
                <a:solidFill>
                  <a:srgbClr val="4A4A4A"/>
                </a:solidFill>
                <a:latin typeface="Arial"/>
              </a:rPr>
              <a:t>Em uma analogia simples: sem RAG o modelo responde de memória; com RAG ele consulta o acervo antes de responder — e mostra onde consultou.</a:t>
            </a:r>
          </a:p>
        </p:txBody>
      </p:sp>
      <p:sp>
        <p:nvSpPr>
          <p:cNvPr id="12" name="TextBox 11"/>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Como funciona: quatro etapas</a:t>
            </a:r>
          </a:p>
        </p:txBody>
      </p:sp>
      <p:sp>
        <p:nvSpPr>
          <p:cNvPr id="3" name="Rounded Rectangle 2"/>
          <p:cNvSpPr/>
          <p:nvPr/>
        </p:nvSpPr>
        <p:spPr>
          <a:xfrm>
            <a:off x="402336" y="1097280"/>
            <a:ext cx="1947672" cy="184708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85216" y="1225296"/>
            <a:ext cx="548640" cy="292608"/>
          </a:xfrm>
          <a:prstGeom prst="rect">
            <a:avLst/>
          </a:prstGeom>
          <a:noFill/>
        </p:spPr>
        <p:txBody>
          <a:bodyPr wrap="square" anchor="t" lIns="0" rIns="0" tIns="0" bIns="0">
            <a:spAutoFit/>
          </a:bodyPr>
          <a:lstStyle/>
          <a:p>
            <a:pPr algn="l"/>
            <a:r>
              <a:rPr sz="1700" b="1" i="0">
                <a:solidFill>
                  <a:srgbClr val="2A5FFF"/>
                </a:solidFill>
                <a:latin typeface="Arial"/>
              </a:rPr>
              <a:t>01</a:t>
            </a:r>
          </a:p>
        </p:txBody>
      </p:sp>
      <p:sp>
        <p:nvSpPr>
          <p:cNvPr id="5" name="TextBox 4"/>
          <p:cNvSpPr txBox="1"/>
          <p:nvPr/>
        </p:nvSpPr>
        <p:spPr>
          <a:xfrm>
            <a:off x="585216" y="1572768"/>
            <a:ext cx="1581912" cy="274320"/>
          </a:xfrm>
          <a:prstGeom prst="rect">
            <a:avLst/>
          </a:prstGeom>
          <a:noFill/>
        </p:spPr>
        <p:txBody>
          <a:bodyPr wrap="square" anchor="t" lIns="0" rIns="0" tIns="0" bIns="0">
            <a:spAutoFit/>
          </a:bodyPr>
          <a:lstStyle/>
          <a:p>
            <a:pPr algn="l"/>
            <a:r>
              <a:rPr sz="1450" b="1" i="0">
                <a:solidFill>
                  <a:srgbClr val="1A1A1A"/>
                </a:solidFill>
                <a:latin typeface="Arial"/>
              </a:rPr>
              <a:t>Preparação</a:t>
            </a:r>
          </a:p>
        </p:txBody>
      </p:sp>
      <p:sp>
        <p:nvSpPr>
          <p:cNvPr id="6" name="TextBox 5"/>
          <p:cNvSpPr txBox="1"/>
          <p:nvPr/>
        </p:nvSpPr>
        <p:spPr>
          <a:xfrm>
            <a:off x="585216" y="1883664"/>
            <a:ext cx="1581912" cy="950976"/>
          </a:xfrm>
          <a:prstGeom prst="rect">
            <a:avLst/>
          </a:prstGeom>
          <a:noFill/>
        </p:spPr>
        <p:txBody>
          <a:bodyPr wrap="square" anchor="t" lIns="0" rIns="0" tIns="0" bIns="0">
            <a:spAutoFit/>
          </a:bodyPr>
          <a:lstStyle/>
          <a:p>
            <a:pPr algn="l">
              <a:lnSpc>
                <a:spcPct val="112000"/>
              </a:lnSpc>
            </a:pPr>
            <a:r>
              <a:rPr sz="1100" b="0" i="0">
                <a:solidFill>
                  <a:srgbClr val="4A4A4A"/>
                </a:solidFill>
                <a:latin typeface="Arial"/>
              </a:rPr>
              <a:t>Os documentos são lidos, o texto é separado das tabelas e o conteúdo é dividido em trechos com metadados.</a:t>
            </a:r>
          </a:p>
        </p:txBody>
      </p:sp>
      <p:sp>
        <p:nvSpPr>
          <p:cNvPr id="7" name="Right Arrow 6"/>
          <p:cNvSpPr/>
          <p:nvPr/>
        </p:nvSpPr>
        <p:spPr>
          <a:xfrm>
            <a:off x="2377440" y="1847088"/>
            <a:ext cx="128016" cy="182880"/>
          </a:xfrm>
          <a:prstGeom prst="rightArrow">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32888" y="1097280"/>
            <a:ext cx="1947672" cy="184708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715768" y="1225296"/>
            <a:ext cx="548640" cy="292608"/>
          </a:xfrm>
          <a:prstGeom prst="rect">
            <a:avLst/>
          </a:prstGeom>
          <a:noFill/>
        </p:spPr>
        <p:txBody>
          <a:bodyPr wrap="square" anchor="t" lIns="0" rIns="0" tIns="0" bIns="0">
            <a:spAutoFit/>
          </a:bodyPr>
          <a:lstStyle/>
          <a:p>
            <a:pPr algn="l"/>
            <a:r>
              <a:rPr sz="1700" b="1" i="0">
                <a:solidFill>
                  <a:srgbClr val="2A5FFF"/>
                </a:solidFill>
                <a:latin typeface="Arial"/>
              </a:rPr>
              <a:t>02</a:t>
            </a:r>
          </a:p>
        </p:txBody>
      </p:sp>
      <p:sp>
        <p:nvSpPr>
          <p:cNvPr id="10" name="TextBox 9"/>
          <p:cNvSpPr txBox="1"/>
          <p:nvPr/>
        </p:nvSpPr>
        <p:spPr>
          <a:xfrm>
            <a:off x="2715768" y="1572768"/>
            <a:ext cx="1581912" cy="274320"/>
          </a:xfrm>
          <a:prstGeom prst="rect">
            <a:avLst/>
          </a:prstGeom>
          <a:noFill/>
        </p:spPr>
        <p:txBody>
          <a:bodyPr wrap="square" anchor="t" lIns="0" rIns="0" tIns="0" bIns="0">
            <a:spAutoFit/>
          </a:bodyPr>
          <a:lstStyle/>
          <a:p>
            <a:pPr algn="l"/>
            <a:r>
              <a:rPr sz="1450" b="1" i="0">
                <a:solidFill>
                  <a:srgbClr val="1A1A1A"/>
                </a:solidFill>
                <a:latin typeface="Arial"/>
              </a:rPr>
              <a:t>Indexação</a:t>
            </a:r>
          </a:p>
        </p:txBody>
      </p:sp>
      <p:sp>
        <p:nvSpPr>
          <p:cNvPr id="11" name="TextBox 10"/>
          <p:cNvSpPr txBox="1"/>
          <p:nvPr/>
        </p:nvSpPr>
        <p:spPr>
          <a:xfrm>
            <a:off x="2715768" y="1883664"/>
            <a:ext cx="1581912" cy="950976"/>
          </a:xfrm>
          <a:prstGeom prst="rect">
            <a:avLst/>
          </a:prstGeom>
          <a:noFill/>
        </p:spPr>
        <p:txBody>
          <a:bodyPr wrap="square" anchor="t" lIns="0" rIns="0" tIns="0" bIns="0">
            <a:spAutoFit/>
          </a:bodyPr>
          <a:lstStyle/>
          <a:p>
            <a:pPr algn="l">
              <a:lnSpc>
                <a:spcPct val="112000"/>
              </a:lnSpc>
            </a:pPr>
            <a:r>
              <a:rPr sz="1100" b="0" i="0">
                <a:solidFill>
                  <a:srgbClr val="4A4A4A"/>
                </a:solidFill>
                <a:latin typeface="Arial"/>
              </a:rPr>
              <a:t>Cada trecho vira um vetor e entra num índice; as tabelas e séries ganham tratamento próprio.</a:t>
            </a:r>
          </a:p>
        </p:txBody>
      </p:sp>
      <p:sp>
        <p:nvSpPr>
          <p:cNvPr id="12" name="Right Arrow 11"/>
          <p:cNvSpPr/>
          <p:nvPr/>
        </p:nvSpPr>
        <p:spPr>
          <a:xfrm>
            <a:off x="4507992" y="1847088"/>
            <a:ext cx="128016" cy="182880"/>
          </a:xfrm>
          <a:prstGeom prst="rightArrow">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63440" y="1097280"/>
            <a:ext cx="1947672" cy="184708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846320" y="1225296"/>
            <a:ext cx="548640" cy="292608"/>
          </a:xfrm>
          <a:prstGeom prst="rect">
            <a:avLst/>
          </a:prstGeom>
          <a:noFill/>
        </p:spPr>
        <p:txBody>
          <a:bodyPr wrap="square" anchor="t" lIns="0" rIns="0" tIns="0" bIns="0">
            <a:spAutoFit/>
          </a:bodyPr>
          <a:lstStyle/>
          <a:p>
            <a:pPr algn="l"/>
            <a:r>
              <a:rPr sz="1700" b="1" i="0">
                <a:solidFill>
                  <a:srgbClr val="2A5FFF"/>
                </a:solidFill>
                <a:latin typeface="Arial"/>
              </a:rPr>
              <a:t>03</a:t>
            </a:r>
          </a:p>
        </p:txBody>
      </p:sp>
      <p:sp>
        <p:nvSpPr>
          <p:cNvPr id="15" name="TextBox 14"/>
          <p:cNvSpPr txBox="1"/>
          <p:nvPr/>
        </p:nvSpPr>
        <p:spPr>
          <a:xfrm>
            <a:off x="4846320" y="1572768"/>
            <a:ext cx="1581912" cy="274320"/>
          </a:xfrm>
          <a:prstGeom prst="rect">
            <a:avLst/>
          </a:prstGeom>
          <a:noFill/>
        </p:spPr>
        <p:txBody>
          <a:bodyPr wrap="square" anchor="t" lIns="0" rIns="0" tIns="0" bIns="0">
            <a:spAutoFit/>
          </a:bodyPr>
          <a:lstStyle/>
          <a:p>
            <a:pPr algn="l"/>
            <a:r>
              <a:rPr sz="1450" b="1" i="0">
                <a:solidFill>
                  <a:srgbClr val="1A1A1A"/>
                </a:solidFill>
                <a:latin typeface="Arial"/>
              </a:rPr>
              <a:t>Recuperação</a:t>
            </a:r>
          </a:p>
        </p:txBody>
      </p:sp>
      <p:sp>
        <p:nvSpPr>
          <p:cNvPr id="16" name="TextBox 15"/>
          <p:cNvSpPr txBox="1"/>
          <p:nvPr/>
        </p:nvSpPr>
        <p:spPr>
          <a:xfrm>
            <a:off x="4846320" y="1883664"/>
            <a:ext cx="1581912" cy="950976"/>
          </a:xfrm>
          <a:prstGeom prst="rect">
            <a:avLst/>
          </a:prstGeom>
          <a:noFill/>
        </p:spPr>
        <p:txBody>
          <a:bodyPr wrap="square" anchor="t" lIns="0" rIns="0" tIns="0" bIns="0">
            <a:spAutoFit/>
          </a:bodyPr>
          <a:lstStyle/>
          <a:p>
            <a:pPr algn="l">
              <a:lnSpc>
                <a:spcPct val="112000"/>
              </a:lnSpc>
            </a:pPr>
            <a:r>
              <a:rPr sz="1100" b="0" i="0">
                <a:solidFill>
                  <a:srgbClr val="4A4A4A"/>
                </a:solidFill>
                <a:latin typeface="Arial"/>
              </a:rPr>
              <a:t>Diante da pergunta, o sistema busca os trechos mais relevantes combinando semelhança e palavras-chave.</a:t>
            </a:r>
          </a:p>
        </p:txBody>
      </p:sp>
      <p:sp>
        <p:nvSpPr>
          <p:cNvPr id="17" name="Right Arrow 16"/>
          <p:cNvSpPr/>
          <p:nvPr/>
        </p:nvSpPr>
        <p:spPr>
          <a:xfrm>
            <a:off x="6638544" y="1847088"/>
            <a:ext cx="128016" cy="182880"/>
          </a:xfrm>
          <a:prstGeom prst="rightArrow">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93992" y="1097280"/>
            <a:ext cx="1947672" cy="184708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76872" y="1225296"/>
            <a:ext cx="548640" cy="292608"/>
          </a:xfrm>
          <a:prstGeom prst="rect">
            <a:avLst/>
          </a:prstGeom>
          <a:noFill/>
        </p:spPr>
        <p:txBody>
          <a:bodyPr wrap="square" anchor="t" lIns="0" rIns="0" tIns="0" bIns="0">
            <a:spAutoFit/>
          </a:bodyPr>
          <a:lstStyle/>
          <a:p>
            <a:pPr algn="l"/>
            <a:r>
              <a:rPr sz="1700" b="1" i="0">
                <a:solidFill>
                  <a:srgbClr val="2A5FFF"/>
                </a:solidFill>
                <a:latin typeface="Arial"/>
              </a:rPr>
              <a:t>04</a:t>
            </a:r>
          </a:p>
        </p:txBody>
      </p:sp>
      <p:sp>
        <p:nvSpPr>
          <p:cNvPr id="20" name="TextBox 19"/>
          <p:cNvSpPr txBox="1"/>
          <p:nvPr/>
        </p:nvSpPr>
        <p:spPr>
          <a:xfrm>
            <a:off x="6976872" y="1572768"/>
            <a:ext cx="1581912" cy="274320"/>
          </a:xfrm>
          <a:prstGeom prst="rect">
            <a:avLst/>
          </a:prstGeom>
          <a:noFill/>
        </p:spPr>
        <p:txBody>
          <a:bodyPr wrap="square" anchor="t" lIns="0" rIns="0" tIns="0" bIns="0">
            <a:spAutoFit/>
          </a:bodyPr>
          <a:lstStyle/>
          <a:p>
            <a:pPr algn="l"/>
            <a:r>
              <a:rPr sz="1450" b="1" i="0">
                <a:solidFill>
                  <a:srgbClr val="1A1A1A"/>
                </a:solidFill>
                <a:latin typeface="Arial"/>
              </a:rPr>
              <a:t>Geração</a:t>
            </a:r>
          </a:p>
        </p:txBody>
      </p:sp>
      <p:sp>
        <p:nvSpPr>
          <p:cNvPr id="21" name="TextBox 20"/>
          <p:cNvSpPr txBox="1"/>
          <p:nvPr/>
        </p:nvSpPr>
        <p:spPr>
          <a:xfrm>
            <a:off x="6976872" y="1883664"/>
            <a:ext cx="1581912" cy="950976"/>
          </a:xfrm>
          <a:prstGeom prst="rect">
            <a:avLst/>
          </a:prstGeom>
          <a:noFill/>
        </p:spPr>
        <p:txBody>
          <a:bodyPr wrap="square" anchor="t" lIns="0" rIns="0" tIns="0" bIns="0">
            <a:spAutoFit/>
          </a:bodyPr>
          <a:lstStyle/>
          <a:p>
            <a:pPr algn="l">
              <a:lnSpc>
                <a:spcPct val="112000"/>
              </a:lnSpc>
            </a:pPr>
            <a:r>
              <a:rPr sz="1100" b="0" i="0">
                <a:solidFill>
                  <a:srgbClr val="4A4A4A"/>
                </a:solidFill>
                <a:latin typeface="Arial"/>
              </a:rPr>
              <a:t>O modelo redige a resposta usando apenas o contexto recuperado e indica a fonte.</a:t>
            </a:r>
          </a:p>
        </p:txBody>
      </p:sp>
      <p:sp>
        <p:nvSpPr>
          <p:cNvPr id="22" name="Rounded Rectangle 21"/>
          <p:cNvSpPr/>
          <p:nvPr/>
        </p:nvSpPr>
        <p:spPr>
          <a:xfrm>
            <a:off x="402336" y="3072384"/>
            <a:ext cx="8339328" cy="877824"/>
          </a:xfrm>
          <a:prstGeom prst="roundRect">
            <a:avLst>
              <a:gd name="adj" fmla="val 5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1792" y="3218688"/>
            <a:ext cx="7900416" cy="603504"/>
          </a:xfrm>
          <a:prstGeom prst="rect">
            <a:avLst/>
          </a:prstGeom>
          <a:noFill/>
        </p:spPr>
        <p:txBody>
          <a:bodyPr wrap="square" anchor="t" lIns="0" rIns="0" tIns="0" bIns="0">
            <a:spAutoFit/>
          </a:bodyPr>
          <a:lstStyle/>
          <a:p>
            <a:pPr algn="l">
              <a:lnSpc>
                <a:spcPct val="116000"/>
              </a:lnSpc>
            </a:pPr>
            <a:r>
              <a:rPr sz="1250" b="0" i="0">
                <a:solidFill>
                  <a:srgbClr val="1B3FA8"/>
                </a:solidFill>
                <a:latin typeface="Arial"/>
              </a:rPr>
              <a:t>O ponto decisivo está na etapa 04: o modelo não recebe a pergunta isolada, recebe a pergunta mais os trechos selecionados. É isso que permite exigir a citação da fonte e conferir o número depois.</a:t>
            </a:r>
          </a:p>
        </p:txBody>
      </p:sp>
      <p:sp>
        <p:nvSpPr>
          <p:cNvPr id="24" name="TextBox 23"/>
          <p:cNvSpPr txBox="1"/>
          <p:nvPr/>
        </p:nvSpPr>
        <p:spPr>
          <a:xfrm>
            <a:off x="402336" y="4206240"/>
            <a:ext cx="8339328" cy="292608"/>
          </a:xfrm>
          <a:prstGeom prst="rect">
            <a:avLst/>
          </a:prstGeom>
          <a:noFill/>
        </p:spPr>
        <p:txBody>
          <a:bodyPr wrap="square" anchor="t" lIns="0" rIns="0" tIns="0" bIns="0">
            <a:spAutoFit/>
          </a:bodyPr>
          <a:lstStyle/>
          <a:p>
            <a:pPr algn="l"/>
            <a:r>
              <a:rPr sz="1250" b="0" i="0">
                <a:solidFill>
                  <a:srgbClr val="4A4A4A"/>
                </a:solidFill>
                <a:latin typeface="Arial"/>
              </a:rPr>
              <a:t>Detalhe que costuma passar despercebido: a recuperação é feita em trechos pequenos, não em documentos inteiros.</a:t>
            </a:r>
          </a:p>
        </p:txBody>
      </p:sp>
      <p:sp>
        <p:nvSpPr>
          <p:cNvPr id="25" name="TextBox 24"/>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Preparação dos documentos estatísticos</a:t>
            </a:r>
          </a:p>
        </p:txBody>
      </p:sp>
      <p:sp>
        <p:nvSpPr>
          <p:cNvPr id="3" name="TextBox 2"/>
          <p:cNvSpPr txBox="1"/>
          <p:nvPr/>
        </p:nvSpPr>
        <p:spPr>
          <a:xfrm>
            <a:off x="402336" y="1060704"/>
            <a:ext cx="4206240" cy="256032"/>
          </a:xfrm>
          <a:prstGeom prst="rect">
            <a:avLst/>
          </a:prstGeom>
          <a:noFill/>
        </p:spPr>
        <p:txBody>
          <a:bodyPr wrap="square" anchor="t" lIns="0" rIns="0" tIns="0" bIns="0">
            <a:spAutoFit/>
          </a:bodyPr>
          <a:lstStyle/>
          <a:p>
            <a:pPr algn="l"/>
            <a:r>
              <a:rPr sz="1000" b="1" i="0">
                <a:solidFill>
                  <a:srgbClr val="2A5FFF"/>
                </a:solidFill>
                <a:latin typeface="Arial"/>
              </a:rPr>
              <a:t>FLUXO DE PREPARAÇÃO</a:t>
            </a:r>
          </a:p>
        </p:txBody>
      </p:sp>
      <p:sp>
        <p:nvSpPr>
          <p:cNvPr id="4" name="Oval 3"/>
          <p:cNvSpPr/>
          <p:nvPr/>
        </p:nvSpPr>
        <p:spPr>
          <a:xfrm>
            <a:off x="420624" y="1417320"/>
            <a:ext cx="146304" cy="146304"/>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694944" y="1344168"/>
            <a:ext cx="3611880" cy="256032"/>
          </a:xfrm>
          <a:prstGeom prst="rect">
            <a:avLst/>
          </a:prstGeom>
          <a:noFill/>
        </p:spPr>
        <p:txBody>
          <a:bodyPr wrap="square" anchor="t" lIns="0" rIns="0" tIns="0" bIns="0">
            <a:spAutoFit/>
          </a:bodyPr>
          <a:lstStyle/>
          <a:p>
            <a:pPr algn="l"/>
            <a:r>
              <a:rPr sz="1300" b="1" i="0">
                <a:solidFill>
                  <a:srgbClr val="1A1A1A"/>
                </a:solidFill>
                <a:latin typeface="Arial"/>
              </a:rPr>
              <a:t>PDFs, CSV e XLSX</a:t>
            </a:r>
          </a:p>
        </p:txBody>
      </p:sp>
      <p:sp>
        <p:nvSpPr>
          <p:cNvPr id="6" name="TextBox 5"/>
          <p:cNvSpPr txBox="1"/>
          <p:nvPr/>
        </p:nvSpPr>
        <p:spPr>
          <a:xfrm>
            <a:off x="694944" y="1591056"/>
            <a:ext cx="3703320" cy="274320"/>
          </a:xfrm>
          <a:prstGeom prst="rect">
            <a:avLst/>
          </a:prstGeom>
          <a:noFill/>
        </p:spPr>
        <p:txBody>
          <a:bodyPr wrap="square" anchor="t" lIns="0" rIns="0" tIns="0" bIns="0">
            <a:spAutoFit/>
          </a:bodyPr>
          <a:lstStyle/>
          <a:p>
            <a:pPr algn="l">
              <a:lnSpc>
                <a:spcPct val="105000"/>
              </a:lnSpc>
            </a:pPr>
            <a:r>
              <a:rPr sz="1100" b="0" i="0">
                <a:solidFill>
                  <a:srgbClr val="4A4A4A"/>
                </a:solidFill>
                <a:latin typeface="Arial"/>
              </a:rPr>
              <a:t>Boletins de Conjuntura Paulista (SEADE), 2020–2025.</a:t>
            </a:r>
          </a:p>
        </p:txBody>
      </p:sp>
      <p:sp>
        <p:nvSpPr>
          <p:cNvPr id="7" name="Rectangle 6"/>
          <p:cNvSpPr/>
          <p:nvPr/>
        </p:nvSpPr>
        <p:spPr>
          <a:xfrm>
            <a:off x="484632" y="1572768"/>
            <a:ext cx="10973" cy="34747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20624" y="1984248"/>
            <a:ext cx="146304" cy="146304"/>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694944" y="1911096"/>
            <a:ext cx="3611880" cy="256032"/>
          </a:xfrm>
          <a:prstGeom prst="rect">
            <a:avLst/>
          </a:prstGeom>
          <a:noFill/>
        </p:spPr>
        <p:txBody>
          <a:bodyPr wrap="square" anchor="t" lIns="0" rIns="0" tIns="0" bIns="0">
            <a:spAutoFit/>
          </a:bodyPr>
          <a:lstStyle/>
          <a:p>
            <a:pPr algn="l"/>
            <a:r>
              <a:rPr sz="1300" b="1" i="0">
                <a:solidFill>
                  <a:srgbClr val="1A1A1A"/>
                </a:solidFill>
                <a:latin typeface="Arial"/>
              </a:rPr>
              <a:t>Extração</a:t>
            </a:r>
          </a:p>
        </p:txBody>
      </p:sp>
      <p:sp>
        <p:nvSpPr>
          <p:cNvPr id="10" name="TextBox 9"/>
          <p:cNvSpPr txBox="1"/>
          <p:nvPr/>
        </p:nvSpPr>
        <p:spPr>
          <a:xfrm>
            <a:off x="694944" y="2157984"/>
            <a:ext cx="3703320" cy="274320"/>
          </a:xfrm>
          <a:prstGeom prst="rect">
            <a:avLst/>
          </a:prstGeom>
          <a:noFill/>
        </p:spPr>
        <p:txBody>
          <a:bodyPr wrap="square" anchor="t" lIns="0" rIns="0" tIns="0" bIns="0">
            <a:spAutoFit/>
          </a:bodyPr>
          <a:lstStyle/>
          <a:p>
            <a:pPr algn="l">
              <a:lnSpc>
                <a:spcPct val="105000"/>
              </a:lnSpc>
            </a:pPr>
            <a:r>
              <a:rPr sz="1100" b="0" i="0">
                <a:solidFill>
                  <a:srgbClr val="4A4A4A"/>
                </a:solidFill>
                <a:latin typeface="Arial"/>
              </a:rPr>
              <a:t>Texto com PyMuPDF; tabelas com Camelot e pdfplumber.</a:t>
            </a:r>
          </a:p>
        </p:txBody>
      </p:sp>
      <p:sp>
        <p:nvSpPr>
          <p:cNvPr id="11" name="Rectangle 10"/>
          <p:cNvSpPr/>
          <p:nvPr/>
        </p:nvSpPr>
        <p:spPr>
          <a:xfrm>
            <a:off x="484632" y="2139696"/>
            <a:ext cx="10973" cy="34747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20624" y="2551176"/>
            <a:ext cx="146304" cy="146304"/>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694944" y="2478024"/>
            <a:ext cx="3611880" cy="256032"/>
          </a:xfrm>
          <a:prstGeom prst="rect">
            <a:avLst/>
          </a:prstGeom>
          <a:noFill/>
        </p:spPr>
        <p:txBody>
          <a:bodyPr wrap="square" anchor="t" lIns="0" rIns="0" tIns="0" bIns="0">
            <a:spAutoFit/>
          </a:bodyPr>
          <a:lstStyle/>
          <a:p>
            <a:pPr algn="l"/>
            <a:r>
              <a:rPr sz="1300" b="1" i="0">
                <a:solidFill>
                  <a:srgbClr val="1A1A1A"/>
                </a:solidFill>
                <a:latin typeface="Arial"/>
              </a:rPr>
              <a:t>Separação de formatos</a:t>
            </a:r>
          </a:p>
        </p:txBody>
      </p:sp>
      <p:sp>
        <p:nvSpPr>
          <p:cNvPr id="14" name="TextBox 13"/>
          <p:cNvSpPr txBox="1"/>
          <p:nvPr/>
        </p:nvSpPr>
        <p:spPr>
          <a:xfrm>
            <a:off x="694944" y="2724912"/>
            <a:ext cx="3703320" cy="274320"/>
          </a:xfrm>
          <a:prstGeom prst="rect">
            <a:avLst/>
          </a:prstGeom>
          <a:noFill/>
        </p:spPr>
        <p:txBody>
          <a:bodyPr wrap="square" anchor="t" lIns="0" rIns="0" tIns="0" bIns="0">
            <a:spAutoFit/>
          </a:bodyPr>
          <a:lstStyle/>
          <a:p>
            <a:pPr algn="l">
              <a:lnSpc>
                <a:spcPct val="105000"/>
              </a:lnSpc>
            </a:pPr>
            <a:r>
              <a:rPr sz="1100" b="0" i="0">
                <a:solidFill>
                  <a:srgbClr val="4A4A4A"/>
                </a:solidFill>
                <a:latin typeface="Arial"/>
              </a:rPr>
              <a:t>Texto narrativo, tabelas e séries seguem caminhos distintos.</a:t>
            </a:r>
          </a:p>
        </p:txBody>
      </p:sp>
      <p:sp>
        <p:nvSpPr>
          <p:cNvPr id="15" name="Rectangle 14"/>
          <p:cNvSpPr/>
          <p:nvPr/>
        </p:nvSpPr>
        <p:spPr>
          <a:xfrm>
            <a:off x="484632" y="2706624"/>
            <a:ext cx="10973" cy="34747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20624" y="3118104"/>
            <a:ext cx="146304" cy="146304"/>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694944" y="3044952"/>
            <a:ext cx="3611880" cy="256032"/>
          </a:xfrm>
          <a:prstGeom prst="rect">
            <a:avLst/>
          </a:prstGeom>
          <a:noFill/>
        </p:spPr>
        <p:txBody>
          <a:bodyPr wrap="square" anchor="t" lIns="0" rIns="0" tIns="0" bIns="0">
            <a:spAutoFit/>
          </a:bodyPr>
          <a:lstStyle/>
          <a:p>
            <a:pPr algn="l"/>
            <a:r>
              <a:rPr sz="1300" b="1" i="0">
                <a:solidFill>
                  <a:srgbClr val="1A1A1A"/>
                </a:solidFill>
                <a:latin typeface="Arial"/>
              </a:rPr>
              <a:t>Segmentação</a:t>
            </a:r>
          </a:p>
        </p:txBody>
      </p:sp>
      <p:sp>
        <p:nvSpPr>
          <p:cNvPr id="18" name="TextBox 17"/>
          <p:cNvSpPr txBox="1"/>
          <p:nvPr/>
        </p:nvSpPr>
        <p:spPr>
          <a:xfrm>
            <a:off x="694944" y="3291840"/>
            <a:ext cx="3703320" cy="274320"/>
          </a:xfrm>
          <a:prstGeom prst="rect">
            <a:avLst/>
          </a:prstGeom>
          <a:noFill/>
        </p:spPr>
        <p:txBody>
          <a:bodyPr wrap="square" anchor="t" lIns="0" rIns="0" tIns="0" bIns="0">
            <a:spAutoFit/>
          </a:bodyPr>
          <a:lstStyle/>
          <a:p>
            <a:pPr algn="l">
              <a:lnSpc>
                <a:spcPct val="105000"/>
              </a:lnSpc>
            </a:pPr>
            <a:r>
              <a:rPr sz="1100" b="0" i="0">
                <a:solidFill>
                  <a:srgbClr val="4A4A4A"/>
                </a:solidFill>
                <a:latin typeface="Arial"/>
              </a:rPr>
              <a:t>Texto em blocos com sobreposição; tabelas preservadas inteiras.</a:t>
            </a:r>
          </a:p>
        </p:txBody>
      </p:sp>
      <p:sp>
        <p:nvSpPr>
          <p:cNvPr id="19" name="Rectangle 18"/>
          <p:cNvSpPr/>
          <p:nvPr/>
        </p:nvSpPr>
        <p:spPr>
          <a:xfrm>
            <a:off x="484632" y="3273552"/>
            <a:ext cx="10973" cy="34747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20624" y="3685032"/>
            <a:ext cx="146304" cy="146304"/>
          </a:xfrm>
          <a:prstGeom prst="ellipse">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694944" y="3611880"/>
            <a:ext cx="3611880" cy="256032"/>
          </a:xfrm>
          <a:prstGeom prst="rect">
            <a:avLst/>
          </a:prstGeom>
          <a:noFill/>
        </p:spPr>
        <p:txBody>
          <a:bodyPr wrap="square" anchor="t" lIns="0" rIns="0" tIns="0" bIns="0">
            <a:spAutoFit/>
          </a:bodyPr>
          <a:lstStyle/>
          <a:p>
            <a:pPr algn="l"/>
            <a:r>
              <a:rPr sz="1300" b="1" i="0">
                <a:solidFill>
                  <a:srgbClr val="1A1A1A"/>
                </a:solidFill>
                <a:latin typeface="Arial"/>
              </a:rPr>
              <a:t>Indexação</a:t>
            </a:r>
          </a:p>
        </p:txBody>
      </p:sp>
      <p:sp>
        <p:nvSpPr>
          <p:cNvPr id="22" name="TextBox 21"/>
          <p:cNvSpPr txBox="1"/>
          <p:nvPr/>
        </p:nvSpPr>
        <p:spPr>
          <a:xfrm>
            <a:off x="694944" y="3858768"/>
            <a:ext cx="3703320" cy="274320"/>
          </a:xfrm>
          <a:prstGeom prst="rect">
            <a:avLst/>
          </a:prstGeom>
          <a:noFill/>
        </p:spPr>
        <p:txBody>
          <a:bodyPr wrap="square" anchor="t" lIns="0" rIns="0" tIns="0" bIns="0">
            <a:spAutoFit/>
          </a:bodyPr>
          <a:lstStyle/>
          <a:p>
            <a:pPr algn="l">
              <a:lnSpc>
                <a:spcPct val="105000"/>
              </a:lnSpc>
            </a:pPr>
            <a:r>
              <a:rPr sz="1100" b="0" i="0">
                <a:solidFill>
                  <a:srgbClr val="4A4A4A"/>
                </a:solidFill>
                <a:latin typeface="Arial"/>
              </a:rPr>
              <a:t>Vetores e metadados no ChromaDB, o índice local do projeto.</a:t>
            </a:r>
          </a:p>
        </p:txBody>
      </p:sp>
      <p:sp>
        <p:nvSpPr>
          <p:cNvPr id="23" name="Rounded Rectangle 22"/>
          <p:cNvSpPr/>
          <p:nvPr/>
        </p:nvSpPr>
        <p:spPr>
          <a:xfrm>
            <a:off x="4754880" y="1060704"/>
            <a:ext cx="3986784" cy="303580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974336" y="1207008"/>
            <a:ext cx="3547872" cy="256032"/>
          </a:xfrm>
          <a:prstGeom prst="rect">
            <a:avLst/>
          </a:prstGeom>
          <a:noFill/>
        </p:spPr>
        <p:txBody>
          <a:bodyPr wrap="square" anchor="t" lIns="0" rIns="0" tIns="0" bIns="0">
            <a:spAutoFit/>
          </a:bodyPr>
          <a:lstStyle/>
          <a:p>
            <a:pPr algn="l"/>
            <a:r>
              <a:rPr sz="1000" b="1" i="0">
                <a:solidFill>
                  <a:srgbClr val="2A5FFF"/>
                </a:solidFill>
                <a:latin typeface="Arial"/>
              </a:rPr>
              <a:t>POR QUE ISSO IMPORTA</a:t>
            </a:r>
          </a:p>
        </p:txBody>
      </p:sp>
      <p:sp>
        <p:nvSpPr>
          <p:cNvPr id="25" name="TextBox 24"/>
          <p:cNvSpPr txBox="1"/>
          <p:nvPr/>
        </p:nvSpPr>
        <p:spPr>
          <a:xfrm>
            <a:off x="4974336" y="1536192"/>
            <a:ext cx="3547872" cy="256032"/>
          </a:xfrm>
          <a:prstGeom prst="rect">
            <a:avLst/>
          </a:prstGeom>
          <a:noFill/>
        </p:spPr>
        <p:txBody>
          <a:bodyPr wrap="square" anchor="t" lIns="0" rIns="0" tIns="0" bIns="0">
            <a:spAutoFit/>
          </a:bodyPr>
          <a:lstStyle/>
          <a:p>
            <a:pPr algn="l"/>
            <a:r>
              <a:rPr sz="1250" b="1" i="0">
                <a:solidFill>
                  <a:srgbClr val="1A1A1A"/>
                </a:solidFill>
                <a:latin typeface="Arial"/>
              </a:rPr>
              <a:t>Tabela não é texto corrido.</a:t>
            </a:r>
          </a:p>
        </p:txBody>
      </p:sp>
      <p:sp>
        <p:nvSpPr>
          <p:cNvPr id="26" name="TextBox 25"/>
          <p:cNvSpPr txBox="1"/>
          <p:nvPr/>
        </p:nvSpPr>
        <p:spPr>
          <a:xfrm>
            <a:off x="4974336" y="1773936"/>
            <a:ext cx="3547872" cy="566928"/>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Se a tabela for fatiada como parágrafo, o valor se descola do seu cabeçalho e do período.</a:t>
            </a:r>
          </a:p>
        </p:txBody>
      </p:sp>
      <p:sp>
        <p:nvSpPr>
          <p:cNvPr id="27" name="TextBox 26"/>
          <p:cNvSpPr txBox="1"/>
          <p:nvPr/>
        </p:nvSpPr>
        <p:spPr>
          <a:xfrm>
            <a:off x="4974336" y="2359152"/>
            <a:ext cx="3547872" cy="256032"/>
          </a:xfrm>
          <a:prstGeom prst="rect">
            <a:avLst/>
          </a:prstGeom>
          <a:noFill/>
        </p:spPr>
        <p:txBody>
          <a:bodyPr wrap="square" anchor="t" lIns="0" rIns="0" tIns="0" bIns="0">
            <a:spAutoFit/>
          </a:bodyPr>
          <a:lstStyle/>
          <a:p>
            <a:pPr algn="l"/>
            <a:r>
              <a:rPr sz="1250" b="1" i="0">
                <a:solidFill>
                  <a:srgbClr val="1A1A1A"/>
                </a:solidFill>
                <a:latin typeface="Arial"/>
              </a:rPr>
              <a:t>Cada trecho carrega metadados.</a:t>
            </a:r>
          </a:p>
        </p:txBody>
      </p:sp>
      <p:sp>
        <p:nvSpPr>
          <p:cNvPr id="28" name="TextBox 27"/>
          <p:cNvSpPr txBox="1"/>
          <p:nvPr/>
        </p:nvSpPr>
        <p:spPr>
          <a:xfrm>
            <a:off x="4974336" y="2596896"/>
            <a:ext cx="3547872" cy="566928"/>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Arquivo de origem e página acompanham o trecho desde a preparação — é o que torna a citação possível no fim.</a:t>
            </a:r>
          </a:p>
        </p:txBody>
      </p:sp>
      <p:sp>
        <p:nvSpPr>
          <p:cNvPr id="29" name="TextBox 28"/>
          <p:cNvSpPr txBox="1"/>
          <p:nvPr/>
        </p:nvSpPr>
        <p:spPr>
          <a:xfrm>
            <a:off x="4974336" y="3182112"/>
            <a:ext cx="3547872" cy="256032"/>
          </a:xfrm>
          <a:prstGeom prst="rect">
            <a:avLst/>
          </a:prstGeom>
          <a:noFill/>
        </p:spPr>
        <p:txBody>
          <a:bodyPr wrap="square" anchor="t" lIns="0" rIns="0" tIns="0" bIns="0">
            <a:spAutoFit/>
          </a:bodyPr>
          <a:lstStyle/>
          <a:p>
            <a:pPr algn="l"/>
            <a:r>
              <a:rPr sz="1250" b="1" i="0">
                <a:solidFill>
                  <a:srgbClr val="1A1A1A"/>
                </a:solidFill>
                <a:latin typeface="Arial"/>
              </a:rPr>
              <a:t>Uma pergunta pode exigir os três formatos.</a:t>
            </a:r>
          </a:p>
        </p:txBody>
      </p:sp>
      <p:sp>
        <p:nvSpPr>
          <p:cNvPr id="30" name="TextBox 29"/>
          <p:cNvSpPr txBox="1"/>
          <p:nvPr/>
        </p:nvSpPr>
        <p:spPr>
          <a:xfrm>
            <a:off x="4974336" y="3419856"/>
            <a:ext cx="3547872" cy="566928"/>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Há perguntas que precisam de narrativa, de tabela comparativa e de série temporal ao mesmo tempo.</a:t>
            </a:r>
          </a:p>
        </p:txBody>
      </p:sp>
      <p:sp>
        <p:nvSpPr>
          <p:cNvPr id="31" name="TextBox 30"/>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Como uma pergunta se transforma em busca eficaz</a:t>
            </a:r>
          </a:p>
        </p:txBody>
      </p:sp>
      <p:sp>
        <p:nvSpPr>
          <p:cNvPr id="3" name="TextBox 2"/>
          <p:cNvSpPr txBox="1"/>
          <p:nvPr/>
        </p:nvSpPr>
        <p:spPr>
          <a:xfrm>
            <a:off x="402336" y="1060704"/>
            <a:ext cx="4114800" cy="256032"/>
          </a:xfrm>
          <a:prstGeom prst="rect">
            <a:avLst/>
          </a:prstGeom>
          <a:noFill/>
        </p:spPr>
        <p:txBody>
          <a:bodyPr wrap="square" anchor="t" lIns="0" rIns="0" tIns="0" bIns="0">
            <a:spAutoFit/>
          </a:bodyPr>
          <a:lstStyle/>
          <a:p>
            <a:pPr algn="l"/>
            <a:r>
              <a:rPr sz="1000" b="1" i="0">
                <a:solidFill>
                  <a:srgbClr val="2A5FFF"/>
                </a:solidFill>
                <a:latin typeface="Arial"/>
              </a:rPr>
              <a:t>DA PERGUNTA À BUSCA</a:t>
            </a:r>
          </a:p>
        </p:txBody>
      </p:sp>
      <p:sp>
        <p:nvSpPr>
          <p:cNvPr id="4" name="Rounded Rectangle 3"/>
          <p:cNvSpPr/>
          <p:nvPr/>
        </p:nvSpPr>
        <p:spPr>
          <a:xfrm>
            <a:off x="402336" y="1371600"/>
            <a:ext cx="3986784" cy="530352"/>
          </a:xfrm>
          <a:prstGeom prst="roundRect">
            <a:avLst>
              <a:gd name="adj" fmla="val 8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48640" y="1417320"/>
            <a:ext cx="1005840" cy="237744"/>
          </a:xfrm>
          <a:prstGeom prst="rect">
            <a:avLst/>
          </a:prstGeom>
          <a:noFill/>
        </p:spPr>
        <p:txBody>
          <a:bodyPr wrap="square" anchor="t" lIns="0" rIns="0" tIns="0" bIns="0">
            <a:spAutoFit/>
          </a:bodyPr>
          <a:lstStyle/>
          <a:p>
            <a:pPr algn="l"/>
            <a:r>
              <a:rPr sz="1150" b="1" i="0">
                <a:solidFill>
                  <a:srgbClr val="2A5FFF"/>
                </a:solidFill>
                <a:latin typeface="Arial"/>
              </a:rPr>
              <a:t>Pergunta</a:t>
            </a:r>
          </a:p>
        </p:txBody>
      </p:sp>
      <p:sp>
        <p:nvSpPr>
          <p:cNvPr id="6" name="TextBox 5"/>
          <p:cNvSpPr txBox="1"/>
          <p:nvPr/>
        </p:nvSpPr>
        <p:spPr>
          <a:xfrm>
            <a:off x="1591056" y="1417320"/>
            <a:ext cx="2670048" cy="457200"/>
          </a:xfrm>
          <a:prstGeom prst="rect">
            <a:avLst/>
          </a:prstGeom>
          <a:noFill/>
        </p:spPr>
        <p:txBody>
          <a:bodyPr wrap="square" anchor="t" lIns="0" rIns="0" tIns="0" bIns="0">
            <a:spAutoFit/>
          </a:bodyPr>
          <a:lstStyle/>
          <a:p>
            <a:pPr algn="l">
              <a:lnSpc>
                <a:spcPct val="106000"/>
              </a:lnSpc>
            </a:pPr>
            <a:r>
              <a:rPr sz="1050" b="0" i="0">
                <a:solidFill>
                  <a:srgbClr val="1A1A1A"/>
                </a:solidFill>
                <a:latin typeface="Arial"/>
              </a:rPr>
              <a:t>“Como evoluiu a taxa de desemprego em São Paulo ao longo de 2024?”</a:t>
            </a:r>
          </a:p>
        </p:txBody>
      </p:sp>
      <p:sp>
        <p:nvSpPr>
          <p:cNvPr id="7" name="Down Arrow 6"/>
          <p:cNvSpPr/>
          <p:nvPr/>
        </p:nvSpPr>
        <p:spPr>
          <a:xfrm>
            <a:off x="2249424" y="1911096"/>
            <a:ext cx="146304" cy="82296"/>
          </a:xfrm>
          <a:prstGeom prst="downArrow">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02336" y="1993392"/>
            <a:ext cx="3986784" cy="530352"/>
          </a:xfrm>
          <a:prstGeom prst="roundRect">
            <a:avLst>
              <a:gd name="adj" fmla="val 8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48640" y="2039112"/>
            <a:ext cx="1005840" cy="237744"/>
          </a:xfrm>
          <a:prstGeom prst="rect">
            <a:avLst/>
          </a:prstGeom>
          <a:noFill/>
        </p:spPr>
        <p:txBody>
          <a:bodyPr wrap="square" anchor="t" lIns="0" rIns="0" tIns="0" bIns="0">
            <a:spAutoFit/>
          </a:bodyPr>
          <a:lstStyle/>
          <a:p>
            <a:pPr algn="l"/>
            <a:r>
              <a:rPr sz="1150" b="1" i="0">
                <a:solidFill>
                  <a:srgbClr val="2A5FFF"/>
                </a:solidFill>
                <a:latin typeface="Arial"/>
              </a:rPr>
              <a:t>Interpretação</a:t>
            </a:r>
          </a:p>
        </p:txBody>
      </p:sp>
      <p:sp>
        <p:nvSpPr>
          <p:cNvPr id="10" name="TextBox 9"/>
          <p:cNvSpPr txBox="1"/>
          <p:nvPr/>
        </p:nvSpPr>
        <p:spPr>
          <a:xfrm>
            <a:off x="1591056" y="2039112"/>
            <a:ext cx="2670048" cy="457200"/>
          </a:xfrm>
          <a:prstGeom prst="rect">
            <a:avLst/>
          </a:prstGeom>
          <a:noFill/>
        </p:spPr>
        <p:txBody>
          <a:bodyPr wrap="square" anchor="t" lIns="0" rIns="0" tIns="0" bIns="0">
            <a:spAutoFit/>
          </a:bodyPr>
          <a:lstStyle/>
          <a:p>
            <a:pPr algn="l">
              <a:lnSpc>
                <a:spcPct val="106000"/>
              </a:lnSpc>
            </a:pPr>
            <a:r>
              <a:rPr sz="1050" b="0" i="0">
                <a:solidFill>
                  <a:srgbClr val="1A1A1A"/>
                </a:solidFill>
                <a:latin typeface="Arial"/>
              </a:rPr>
              <a:t>O sistema identifica o indicador, o recorte geográfico e o período.</a:t>
            </a:r>
          </a:p>
        </p:txBody>
      </p:sp>
      <p:sp>
        <p:nvSpPr>
          <p:cNvPr id="11" name="Down Arrow 10"/>
          <p:cNvSpPr/>
          <p:nvPr/>
        </p:nvSpPr>
        <p:spPr>
          <a:xfrm>
            <a:off x="2249424" y="2532888"/>
            <a:ext cx="146304" cy="82296"/>
          </a:xfrm>
          <a:prstGeom prst="downArrow">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02336" y="2615184"/>
            <a:ext cx="3986784" cy="530352"/>
          </a:xfrm>
          <a:prstGeom prst="roundRect">
            <a:avLst>
              <a:gd name="adj" fmla="val 8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48640" y="2660904"/>
            <a:ext cx="1005840" cy="237744"/>
          </a:xfrm>
          <a:prstGeom prst="rect">
            <a:avLst/>
          </a:prstGeom>
          <a:noFill/>
        </p:spPr>
        <p:txBody>
          <a:bodyPr wrap="square" anchor="t" lIns="0" rIns="0" tIns="0" bIns="0">
            <a:spAutoFit/>
          </a:bodyPr>
          <a:lstStyle/>
          <a:p>
            <a:pPr algn="l"/>
            <a:r>
              <a:rPr sz="1150" b="1" i="0">
                <a:solidFill>
                  <a:srgbClr val="2A5FFF"/>
                </a:solidFill>
                <a:latin typeface="Arial"/>
              </a:rPr>
              <a:t>Reescrita</a:t>
            </a:r>
          </a:p>
        </p:txBody>
      </p:sp>
      <p:sp>
        <p:nvSpPr>
          <p:cNvPr id="14" name="TextBox 13"/>
          <p:cNvSpPr txBox="1"/>
          <p:nvPr/>
        </p:nvSpPr>
        <p:spPr>
          <a:xfrm>
            <a:off x="1591056" y="2660904"/>
            <a:ext cx="2670048" cy="457200"/>
          </a:xfrm>
          <a:prstGeom prst="rect">
            <a:avLst/>
          </a:prstGeom>
          <a:noFill/>
        </p:spPr>
        <p:txBody>
          <a:bodyPr wrap="square" anchor="t" lIns="0" rIns="0" tIns="0" bIns="0">
            <a:spAutoFit/>
          </a:bodyPr>
          <a:lstStyle/>
          <a:p>
            <a:pPr algn="l">
              <a:lnSpc>
                <a:spcPct val="106000"/>
              </a:lnSpc>
            </a:pPr>
            <a:r>
              <a:rPr sz="1050" b="0" i="0">
                <a:solidFill>
                  <a:srgbClr val="1A1A1A"/>
                </a:solidFill>
                <a:latin typeface="Arial"/>
              </a:rPr>
              <a:t>A pergunta é convertida em termos adequados ao vocabulário do acervo.</a:t>
            </a:r>
          </a:p>
        </p:txBody>
      </p:sp>
      <p:sp>
        <p:nvSpPr>
          <p:cNvPr id="15" name="Down Arrow 14"/>
          <p:cNvSpPr/>
          <p:nvPr/>
        </p:nvSpPr>
        <p:spPr>
          <a:xfrm>
            <a:off x="2249424" y="3154680"/>
            <a:ext cx="146304" cy="82296"/>
          </a:xfrm>
          <a:prstGeom prst="downArrow">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02336" y="3236976"/>
            <a:ext cx="3986784" cy="530352"/>
          </a:xfrm>
          <a:prstGeom prst="roundRect">
            <a:avLst>
              <a:gd name="adj" fmla="val 8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48640" y="3282696"/>
            <a:ext cx="1005840" cy="237744"/>
          </a:xfrm>
          <a:prstGeom prst="rect">
            <a:avLst/>
          </a:prstGeom>
          <a:noFill/>
        </p:spPr>
        <p:txBody>
          <a:bodyPr wrap="square" anchor="t" lIns="0" rIns="0" tIns="0" bIns="0">
            <a:spAutoFit/>
          </a:bodyPr>
          <a:lstStyle/>
          <a:p>
            <a:pPr algn="l"/>
            <a:r>
              <a:rPr sz="1150" b="1" i="0">
                <a:solidFill>
                  <a:srgbClr val="2A5FFF"/>
                </a:solidFill>
                <a:latin typeface="Arial"/>
              </a:rPr>
              <a:t>Consulta</a:t>
            </a:r>
          </a:p>
        </p:txBody>
      </p:sp>
      <p:sp>
        <p:nvSpPr>
          <p:cNvPr id="18" name="TextBox 17"/>
          <p:cNvSpPr txBox="1"/>
          <p:nvPr/>
        </p:nvSpPr>
        <p:spPr>
          <a:xfrm>
            <a:off x="1591056" y="3282696"/>
            <a:ext cx="2670048" cy="457200"/>
          </a:xfrm>
          <a:prstGeom prst="rect">
            <a:avLst/>
          </a:prstGeom>
          <a:noFill/>
        </p:spPr>
        <p:txBody>
          <a:bodyPr wrap="square" anchor="t" lIns="0" rIns="0" tIns="0" bIns="0">
            <a:spAutoFit/>
          </a:bodyPr>
          <a:lstStyle/>
          <a:p>
            <a:pPr algn="l">
              <a:lnSpc>
                <a:spcPct val="106000"/>
              </a:lnSpc>
            </a:pPr>
            <a:r>
              <a:rPr sz="1050" b="0" i="0">
                <a:solidFill>
                  <a:srgbClr val="1A1A1A"/>
                </a:solidFill>
                <a:latin typeface="Arial"/>
              </a:rPr>
              <a:t>Os trechos relevantes são buscados no índice.</a:t>
            </a:r>
          </a:p>
        </p:txBody>
      </p:sp>
      <p:sp>
        <p:nvSpPr>
          <p:cNvPr id="19" name="Down Arrow 18"/>
          <p:cNvSpPr/>
          <p:nvPr/>
        </p:nvSpPr>
        <p:spPr>
          <a:xfrm>
            <a:off x="2249424" y="3776472"/>
            <a:ext cx="146304" cy="82296"/>
          </a:xfrm>
          <a:prstGeom prst="downArrow">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02336" y="3858768"/>
            <a:ext cx="3986784" cy="530352"/>
          </a:xfrm>
          <a:prstGeom prst="roundRect">
            <a:avLst>
              <a:gd name="adj" fmla="val 8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48640" y="3904488"/>
            <a:ext cx="1005840" cy="237744"/>
          </a:xfrm>
          <a:prstGeom prst="rect">
            <a:avLst/>
          </a:prstGeom>
          <a:noFill/>
        </p:spPr>
        <p:txBody>
          <a:bodyPr wrap="square" anchor="t" lIns="0" rIns="0" tIns="0" bIns="0">
            <a:spAutoFit/>
          </a:bodyPr>
          <a:lstStyle/>
          <a:p>
            <a:pPr algn="l"/>
            <a:r>
              <a:rPr sz="1150" b="1" i="0">
                <a:solidFill>
                  <a:srgbClr val="2A5FFF"/>
                </a:solidFill>
                <a:latin typeface="Arial"/>
              </a:rPr>
              <a:t>Contexto</a:t>
            </a:r>
          </a:p>
        </p:txBody>
      </p:sp>
      <p:sp>
        <p:nvSpPr>
          <p:cNvPr id="22" name="TextBox 21"/>
          <p:cNvSpPr txBox="1"/>
          <p:nvPr/>
        </p:nvSpPr>
        <p:spPr>
          <a:xfrm>
            <a:off x="1591056" y="3904488"/>
            <a:ext cx="2670048" cy="457200"/>
          </a:xfrm>
          <a:prstGeom prst="rect">
            <a:avLst/>
          </a:prstGeom>
          <a:noFill/>
        </p:spPr>
        <p:txBody>
          <a:bodyPr wrap="square" anchor="t" lIns="0" rIns="0" tIns="0" bIns="0">
            <a:spAutoFit/>
          </a:bodyPr>
          <a:lstStyle/>
          <a:p>
            <a:pPr algn="l">
              <a:lnSpc>
                <a:spcPct val="106000"/>
              </a:lnSpc>
            </a:pPr>
            <a:r>
              <a:rPr sz="1050" b="0" i="0">
                <a:solidFill>
                  <a:srgbClr val="1A1A1A"/>
                </a:solidFill>
                <a:latin typeface="Arial"/>
              </a:rPr>
              <a:t>Os trechos selecionados são reunidos para orientar a resposta.</a:t>
            </a:r>
          </a:p>
        </p:txBody>
      </p:sp>
      <p:sp>
        <p:nvSpPr>
          <p:cNvPr id="23" name="TextBox 22"/>
          <p:cNvSpPr txBox="1"/>
          <p:nvPr/>
        </p:nvSpPr>
        <p:spPr>
          <a:xfrm>
            <a:off x="4754880" y="1060704"/>
            <a:ext cx="3986784" cy="256032"/>
          </a:xfrm>
          <a:prstGeom prst="rect">
            <a:avLst/>
          </a:prstGeom>
          <a:noFill/>
        </p:spPr>
        <p:txBody>
          <a:bodyPr wrap="square" anchor="t" lIns="0" rIns="0" tIns="0" bIns="0">
            <a:spAutoFit/>
          </a:bodyPr>
          <a:lstStyle/>
          <a:p>
            <a:pPr algn="l"/>
            <a:r>
              <a:rPr sz="1000" b="1" i="0">
                <a:solidFill>
                  <a:srgbClr val="2A5FFF"/>
                </a:solidFill>
                <a:latin typeface="Arial"/>
              </a:rPr>
              <a:t>DOIS PROBLEMAS QUE AMEAÇAM A BUSCA</a:t>
            </a:r>
          </a:p>
        </p:txBody>
      </p:sp>
      <p:sp>
        <p:nvSpPr>
          <p:cNvPr id="24" name="Rounded Rectangle 23"/>
          <p:cNvSpPr/>
          <p:nvPr/>
        </p:nvSpPr>
        <p:spPr>
          <a:xfrm>
            <a:off x="4754880" y="1371600"/>
            <a:ext cx="3986784" cy="1298448"/>
          </a:xfrm>
          <a:prstGeom prst="roundRect">
            <a:avLst>
              <a:gd name="adj" fmla="val 5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956048" y="1499616"/>
            <a:ext cx="3584448" cy="274320"/>
          </a:xfrm>
          <a:prstGeom prst="rect">
            <a:avLst/>
          </a:prstGeom>
          <a:noFill/>
        </p:spPr>
        <p:txBody>
          <a:bodyPr wrap="square" anchor="t" lIns="0" rIns="0" tIns="0" bIns="0">
            <a:spAutoFit/>
          </a:bodyPr>
          <a:lstStyle/>
          <a:p>
            <a:pPr algn="l"/>
            <a:r>
              <a:rPr sz="1250" b="1" i="0">
                <a:solidFill>
                  <a:srgbClr val="1A1A1A"/>
                </a:solidFill>
                <a:latin typeface="Arial"/>
              </a:rPr>
              <a:t>A pergunta não usa as palavras do boletim.</a:t>
            </a:r>
          </a:p>
        </p:txBody>
      </p:sp>
      <p:sp>
        <p:nvSpPr>
          <p:cNvPr id="26" name="TextBox 25"/>
          <p:cNvSpPr txBox="1"/>
          <p:nvPr/>
        </p:nvSpPr>
        <p:spPr>
          <a:xfrm>
            <a:off x="4956048" y="1792224"/>
            <a:ext cx="3584448" cy="804672"/>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Quem pergunta escreve “desemprego”; o boletim pode escrever “taxa de desocupação”. A busca por significado aproxima os dois vocabulários.</a:t>
            </a:r>
          </a:p>
        </p:txBody>
      </p:sp>
      <p:sp>
        <p:nvSpPr>
          <p:cNvPr id="27" name="Rounded Rectangle 26"/>
          <p:cNvSpPr/>
          <p:nvPr/>
        </p:nvSpPr>
        <p:spPr>
          <a:xfrm>
            <a:off x="4754880" y="2798064"/>
            <a:ext cx="3986784" cy="1298448"/>
          </a:xfrm>
          <a:prstGeom prst="roundRect">
            <a:avLst>
              <a:gd name="adj" fmla="val 5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956048" y="2926080"/>
            <a:ext cx="3584448" cy="274320"/>
          </a:xfrm>
          <a:prstGeom prst="rect">
            <a:avLst/>
          </a:prstGeom>
          <a:noFill/>
        </p:spPr>
        <p:txBody>
          <a:bodyPr wrap="square" anchor="t" lIns="0" rIns="0" tIns="0" bIns="0">
            <a:spAutoFit/>
          </a:bodyPr>
          <a:lstStyle/>
          <a:p>
            <a:pPr algn="l"/>
            <a:r>
              <a:rPr sz="1250" b="1" i="0">
                <a:solidFill>
                  <a:srgbClr val="1A1A1A"/>
                </a:solidFill>
                <a:latin typeface="Arial"/>
              </a:rPr>
              <a:t>A pergunta é vaga sobre o recorte.</a:t>
            </a:r>
          </a:p>
        </p:txBody>
      </p:sp>
      <p:sp>
        <p:nvSpPr>
          <p:cNvPr id="29" name="TextBox 28"/>
          <p:cNvSpPr txBox="1"/>
          <p:nvPr/>
        </p:nvSpPr>
        <p:spPr>
          <a:xfrm>
            <a:off x="4956048" y="3218688"/>
            <a:ext cx="3584448" cy="804672"/>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Sem período ou território explícito, a busca devolve trechos plausíveis porém errados. A interpretação resolve isso antes da consulta.</a:t>
            </a:r>
          </a:p>
        </p:txBody>
      </p:sp>
      <p:sp>
        <p:nvSpPr>
          <p:cNvPr id="30" name="TextBox 29"/>
          <p:cNvSpPr txBox="1"/>
          <p:nvPr/>
        </p:nvSpPr>
        <p:spPr>
          <a:xfrm>
            <a:off x="402336" y="4206240"/>
            <a:ext cx="8339328" cy="292608"/>
          </a:xfrm>
          <a:prstGeom prst="rect">
            <a:avLst/>
          </a:prstGeom>
          <a:noFill/>
        </p:spPr>
        <p:txBody>
          <a:bodyPr wrap="square" anchor="t" lIns="0" rIns="0" tIns="0" bIns="0">
            <a:spAutoFit/>
          </a:bodyPr>
          <a:lstStyle/>
          <a:p>
            <a:pPr algn="l"/>
            <a:r>
              <a:rPr sz="1200" b="0" i="0">
                <a:solidFill>
                  <a:srgbClr val="4A4A4A"/>
                </a:solidFill>
                <a:latin typeface="Arial"/>
              </a:rPr>
              <a:t>A busca por palavras-chave cobre o vocabulário exato; a busca por significado cobre a intenção. As duas se complementam.</a:t>
            </a:r>
          </a:p>
        </p:txBody>
      </p:sp>
      <p:sp>
        <p:nvSpPr>
          <p:cNvPr id="31" name="TextBox 30"/>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Principais tipos de RAG e onde eles diferem</a:t>
            </a:r>
          </a:p>
        </p:txBody>
      </p:sp>
      <p:sp>
        <p:nvSpPr>
          <p:cNvPr id="3" name="TextBox 2"/>
          <p:cNvSpPr txBox="1"/>
          <p:nvPr/>
        </p:nvSpPr>
        <p:spPr>
          <a:xfrm>
            <a:off x="402336" y="1024128"/>
            <a:ext cx="1188720" cy="237744"/>
          </a:xfrm>
          <a:prstGeom prst="rect">
            <a:avLst/>
          </a:prstGeom>
          <a:noFill/>
        </p:spPr>
        <p:txBody>
          <a:bodyPr wrap="square" anchor="t" lIns="0" rIns="0" tIns="0" bIns="0">
            <a:spAutoFit/>
          </a:bodyPr>
          <a:lstStyle/>
          <a:p>
            <a:pPr algn="l"/>
            <a:r>
              <a:rPr sz="950" b="1" i="0">
                <a:solidFill>
                  <a:srgbClr val="2A5FFF"/>
                </a:solidFill>
                <a:latin typeface="Arial"/>
              </a:rPr>
              <a:t>VARIANTE</a:t>
            </a:r>
          </a:p>
        </p:txBody>
      </p:sp>
      <p:sp>
        <p:nvSpPr>
          <p:cNvPr id="4" name="TextBox 3"/>
          <p:cNvSpPr txBox="1"/>
          <p:nvPr/>
        </p:nvSpPr>
        <p:spPr>
          <a:xfrm>
            <a:off x="1591056" y="1024128"/>
            <a:ext cx="2011680" cy="237744"/>
          </a:xfrm>
          <a:prstGeom prst="rect">
            <a:avLst/>
          </a:prstGeom>
          <a:noFill/>
        </p:spPr>
        <p:txBody>
          <a:bodyPr wrap="square" anchor="t" lIns="0" rIns="0" tIns="0" bIns="0">
            <a:spAutoFit/>
          </a:bodyPr>
          <a:lstStyle/>
          <a:p>
            <a:pPr algn="l"/>
            <a:r>
              <a:rPr sz="950" b="1" i="0">
                <a:solidFill>
                  <a:srgbClr val="2A5FFF"/>
                </a:solidFill>
                <a:latin typeface="Arial"/>
              </a:rPr>
              <a:t>COMO RECUPERA</a:t>
            </a:r>
          </a:p>
        </p:txBody>
      </p:sp>
      <p:sp>
        <p:nvSpPr>
          <p:cNvPr id="5" name="TextBox 4"/>
          <p:cNvSpPr txBox="1"/>
          <p:nvPr/>
        </p:nvSpPr>
        <p:spPr>
          <a:xfrm>
            <a:off x="3602736" y="1024128"/>
            <a:ext cx="2194560" cy="237744"/>
          </a:xfrm>
          <a:prstGeom prst="rect">
            <a:avLst/>
          </a:prstGeom>
          <a:noFill/>
        </p:spPr>
        <p:txBody>
          <a:bodyPr wrap="square" anchor="t" lIns="0" rIns="0" tIns="0" bIns="0">
            <a:spAutoFit/>
          </a:bodyPr>
          <a:lstStyle/>
          <a:p>
            <a:pPr algn="l"/>
            <a:r>
              <a:rPr sz="950" b="1" i="0">
                <a:solidFill>
                  <a:srgbClr val="2A5FFF"/>
                </a:solidFill>
                <a:latin typeface="Arial"/>
              </a:rPr>
              <a:t>EM QUE CASOS É INDICADA</a:t>
            </a:r>
          </a:p>
        </p:txBody>
      </p:sp>
      <p:sp>
        <p:nvSpPr>
          <p:cNvPr id="6" name="TextBox 5"/>
          <p:cNvSpPr txBox="1"/>
          <p:nvPr/>
        </p:nvSpPr>
        <p:spPr>
          <a:xfrm>
            <a:off x="5797296" y="1024128"/>
            <a:ext cx="2103120" cy="237744"/>
          </a:xfrm>
          <a:prstGeom prst="rect">
            <a:avLst/>
          </a:prstGeom>
          <a:noFill/>
        </p:spPr>
        <p:txBody>
          <a:bodyPr wrap="square" anchor="t" lIns="0" rIns="0" tIns="0" bIns="0">
            <a:spAutoFit/>
          </a:bodyPr>
          <a:lstStyle/>
          <a:p>
            <a:pPr algn="l"/>
            <a:r>
              <a:rPr sz="950" b="1" i="0">
                <a:solidFill>
                  <a:srgbClr val="2A5FFF"/>
                </a:solidFill>
                <a:latin typeface="Arial"/>
              </a:rPr>
              <a:t>CUSTO OU LIMITE</a:t>
            </a:r>
          </a:p>
        </p:txBody>
      </p:sp>
      <p:sp>
        <p:nvSpPr>
          <p:cNvPr id="7" name="Rectangle 6"/>
          <p:cNvSpPr/>
          <p:nvPr/>
        </p:nvSpPr>
        <p:spPr>
          <a:xfrm>
            <a:off x="402336" y="1261872"/>
            <a:ext cx="8339328" cy="10973"/>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02336" y="1353312"/>
            <a:ext cx="8339328" cy="658368"/>
          </a:xfrm>
          <a:prstGeom prst="roundRect">
            <a:avLst>
              <a:gd name="adj" fmla="val 3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93776" y="1481328"/>
            <a:ext cx="1005840" cy="457200"/>
          </a:xfrm>
          <a:prstGeom prst="rect">
            <a:avLst/>
          </a:prstGeom>
          <a:noFill/>
        </p:spPr>
        <p:txBody>
          <a:bodyPr wrap="square" anchor="t" lIns="0" rIns="0" tIns="0" bIns="0">
            <a:spAutoFit/>
          </a:bodyPr>
          <a:lstStyle/>
          <a:p>
            <a:pPr algn="l">
              <a:lnSpc>
                <a:spcPct val="104000"/>
              </a:lnSpc>
            </a:pPr>
            <a:r>
              <a:rPr sz="1200" b="1" i="0">
                <a:solidFill>
                  <a:srgbClr val="1B3FA8"/>
                </a:solidFill>
                <a:latin typeface="Arial"/>
              </a:rPr>
              <a:t>RAG simples
(naive)</a:t>
            </a:r>
          </a:p>
        </p:txBody>
      </p:sp>
      <p:sp>
        <p:nvSpPr>
          <p:cNvPr id="10" name="TextBox 9"/>
          <p:cNvSpPr txBox="1"/>
          <p:nvPr/>
        </p:nvSpPr>
        <p:spPr>
          <a:xfrm>
            <a:off x="1645920" y="1444752"/>
            <a:ext cx="186537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Busca vetorial única: os trechos mais parecidos com a pergunta.</a:t>
            </a:r>
          </a:p>
        </p:txBody>
      </p:sp>
      <p:sp>
        <p:nvSpPr>
          <p:cNvPr id="11" name="TextBox 10"/>
          <p:cNvSpPr txBox="1"/>
          <p:nvPr/>
        </p:nvSpPr>
        <p:spPr>
          <a:xfrm>
            <a:off x="3657600" y="1444752"/>
            <a:ext cx="204825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Perguntas factuais diretas, cuja resposta está em um trecho só.</a:t>
            </a:r>
          </a:p>
        </p:txBody>
      </p:sp>
      <p:sp>
        <p:nvSpPr>
          <p:cNvPr id="12" name="TextBox 11"/>
          <p:cNvSpPr txBox="1"/>
          <p:nvPr/>
        </p:nvSpPr>
        <p:spPr>
          <a:xfrm>
            <a:off x="5852160" y="1444752"/>
            <a:ext cx="1956816" cy="548640"/>
          </a:xfrm>
          <a:prstGeom prst="rect">
            <a:avLst/>
          </a:prstGeom>
          <a:noFill/>
        </p:spPr>
        <p:txBody>
          <a:bodyPr wrap="square" anchor="t" lIns="0" rIns="0" tIns="0" bIns="0">
            <a:spAutoFit/>
          </a:bodyPr>
          <a:lstStyle/>
          <a:p>
            <a:pPr algn="l">
              <a:lnSpc>
                <a:spcPct val="106000"/>
              </a:lnSpc>
            </a:pPr>
            <a:r>
              <a:rPr sz="1000" b="0" i="0">
                <a:solidFill>
                  <a:srgbClr val="4A4A4A"/>
                </a:solidFill>
                <a:latin typeface="Arial"/>
              </a:rPr>
              <a:t>Não distingue texto de tabela nem de série temporal.</a:t>
            </a:r>
          </a:p>
        </p:txBody>
      </p:sp>
      <p:sp>
        <p:nvSpPr>
          <p:cNvPr id="13" name="Rounded Rectangle 12"/>
          <p:cNvSpPr/>
          <p:nvPr/>
        </p:nvSpPr>
        <p:spPr>
          <a:xfrm>
            <a:off x="402336" y="2011680"/>
            <a:ext cx="8339328" cy="658368"/>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93776" y="2139696"/>
            <a:ext cx="1005840" cy="457200"/>
          </a:xfrm>
          <a:prstGeom prst="rect">
            <a:avLst/>
          </a:prstGeom>
          <a:noFill/>
        </p:spPr>
        <p:txBody>
          <a:bodyPr wrap="square" anchor="t" lIns="0" rIns="0" tIns="0" bIns="0">
            <a:spAutoFit/>
          </a:bodyPr>
          <a:lstStyle/>
          <a:p>
            <a:pPr algn="l">
              <a:lnSpc>
                <a:spcPct val="104000"/>
              </a:lnSpc>
            </a:pPr>
            <a:r>
              <a:rPr sz="1200" b="1" i="0">
                <a:solidFill>
                  <a:srgbClr val="1B3FA8"/>
                </a:solidFill>
                <a:latin typeface="Arial"/>
              </a:rPr>
              <a:t>RAG avançado
(advanced)</a:t>
            </a:r>
          </a:p>
        </p:txBody>
      </p:sp>
      <p:sp>
        <p:nvSpPr>
          <p:cNvPr id="15" name="TextBox 14"/>
          <p:cNvSpPr txBox="1"/>
          <p:nvPr/>
        </p:nvSpPr>
        <p:spPr>
          <a:xfrm>
            <a:off x="1645920" y="2103120"/>
            <a:ext cx="186537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Busca híbrida — semelhança + palavras-chave — com reordenação dos resultados.</a:t>
            </a:r>
          </a:p>
        </p:txBody>
      </p:sp>
      <p:sp>
        <p:nvSpPr>
          <p:cNvPr id="16" name="TextBox 15"/>
          <p:cNvSpPr txBox="1"/>
          <p:nvPr/>
        </p:nvSpPr>
        <p:spPr>
          <a:xfrm>
            <a:off x="3657600" y="2103120"/>
            <a:ext cx="204825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Termos técnicos, siglas e vocabulário que não bate com a pergunta.</a:t>
            </a:r>
          </a:p>
        </p:txBody>
      </p:sp>
      <p:sp>
        <p:nvSpPr>
          <p:cNvPr id="17" name="TextBox 16"/>
          <p:cNvSpPr txBox="1"/>
          <p:nvPr/>
        </p:nvSpPr>
        <p:spPr>
          <a:xfrm>
            <a:off x="5852160" y="2103120"/>
            <a:ext cx="1956816" cy="548640"/>
          </a:xfrm>
          <a:prstGeom prst="rect">
            <a:avLst/>
          </a:prstGeom>
          <a:noFill/>
        </p:spPr>
        <p:txBody>
          <a:bodyPr wrap="square" anchor="t" lIns="0" rIns="0" tIns="0" bIns="0">
            <a:spAutoFit/>
          </a:bodyPr>
          <a:lstStyle/>
          <a:p>
            <a:pPr algn="l">
              <a:lnSpc>
                <a:spcPct val="106000"/>
              </a:lnSpc>
            </a:pPr>
            <a:r>
              <a:rPr sz="1000" b="0" i="0">
                <a:solidFill>
                  <a:srgbClr val="4A4A4A"/>
                </a:solidFill>
                <a:latin typeface="Arial"/>
              </a:rPr>
              <a:t>Exige manter dois índices e uma etapa de reordenação.</a:t>
            </a:r>
          </a:p>
        </p:txBody>
      </p:sp>
      <p:sp>
        <p:nvSpPr>
          <p:cNvPr id="18" name="Rounded Rectangle 17"/>
          <p:cNvSpPr/>
          <p:nvPr/>
        </p:nvSpPr>
        <p:spPr>
          <a:xfrm>
            <a:off x="402336" y="2670048"/>
            <a:ext cx="8339328" cy="658368"/>
          </a:xfrm>
          <a:prstGeom prst="roundRect">
            <a:avLst>
              <a:gd name="adj" fmla="val 3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3776" y="2798064"/>
            <a:ext cx="1005840" cy="457200"/>
          </a:xfrm>
          <a:prstGeom prst="rect">
            <a:avLst/>
          </a:prstGeom>
          <a:noFill/>
        </p:spPr>
        <p:txBody>
          <a:bodyPr wrap="square" anchor="t" lIns="0" rIns="0" tIns="0" bIns="0">
            <a:spAutoFit/>
          </a:bodyPr>
          <a:lstStyle/>
          <a:p>
            <a:pPr algn="l">
              <a:lnSpc>
                <a:spcPct val="104000"/>
              </a:lnSpc>
            </a:pPr>
            <a:r>
              <a:rPr sz="1200" b="1" i="0">
                <a:solidFill>
                  <a:srgbClr val="1B3FA8"/>
                </a:solidFill>
                <a:latin typeface="Arial"/>
              </a:rPr>
              <a:t>RAG modular
(modular)</a:t>
            </a:r>
          </a:p>
        </p:txBody>
      </p:sp>
      <p:sp>
        <p:nvSpPr>
          <p:cNvPr id="20" name="TextBox 19"/>
          <p:cNvSpPr txBox="1"/>
          <p:nvPr/>
        </p:nvSpPr>
        <p:spPr>
          <a:xfrm>
            <a:off x="1645920" y="2761488"/>
            <a:ext cx="186537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Roteia a pergunta: escolhe qual recuperador especializado consultar.</a:t>
            </a:r>
          </a:p>
        </p:txBody>
      </p:sp>
      <p:sp>
        <p:nvSpPr>
          <p:cNvPr id="21" name="TextBox 20"/>
          <p:cNvSpPr txBox="1"/>
          <p:nvPr/>
        </p:nvSpPr>
        <p:spPr>
          <a:xfrm>
            <a:off x="3657600" y="2761488"/>
            <a:ext cx="204825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Pergunta que precisa de tabela comparativa ou de série temporal.</a:t>
            </a:r>
          </a:p>
        </p:txBody>
      </p:sp>
      <p:sp>
        <p:nvSpPr>
          <p:cNvPr id="22" name="TextBox 21"/>
          <p:cNvSpPr txBox="1"/>
          <p:nvPr/>
        </p:nvSpPr>
        <p:spPr>
          <a:xfrm>
            <a:off x="5852160" y="2761488"/>
            <a:ext cx="1956816" cy="548640"/>
          </a:xfrm>
          <a:prstGeom prst="rect">
            <a:avLst/>
          </a:prstGeom>
          <a:noFill/>
        </p:spPr>
        <p:txBody>
          <a:bodyPr wrap="square" anchor="t" lIns="0" rIns="0" tIns="0" bIns="0">
            <a:spAutoFit/>
          </a:bodyPr>
          <a:lstStyle/>
          <a:p>
            <a:pPr algn="l">
              <a:lnSpc>
                <a:spcPct val="106000"/>
              </a:lnSpc>
            </a:pPr>
            <a:r>
              <a:rPr sz="1000" b="0" i="0">
                <a:solidFill>
                  <a:srgbClr val="4A4A4A"/>
                </a:solidFill>
                <a:latin typeface="Arial"/>
              </a:rPr>
              <a:t>Cada rota exige tratamento e manutenção próprios.</a:t>
            </a:r>
          </a:p>
        </p:txBody>
      </p:sp>
      <p:sp>
        <p:nvSpPr>
          <p:cNvPr id="23" name="Rounded Rectangle 22"/>
          <p:cNvSpPr/>
          <p:nvPr/>
        </p:nvSpPr>
        <p:spPr>
          <a:xfrm>
            <a:off x="402336" y="3328416"/>
            <a:ext cx="8339328" cy="658368"/>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93776" y="3456432"/>
            <a:ext cx="1005840" cy="457200"/>
          </a:xfrm>
          <a:prstGeom prst="rect">
            <a:avLst/>
          </a:prstGeom>
          <a:noFill/>
        </p:spPr>
        <p:txBody>
          <a:bodyPr wrap="square" anchor="t" lIns="0" rIns="0" tIns="0" bIns="0">
            <a:spAutoFit/>
          </a:bodyPr>
          <a:lstStyle/>
          <a:p>
            <a:pPr algn="l">
              <a:lnSpc>
                <a:spcPct val="104000"/>
              </a:lnSpc>
            </a:pPr>
            <a:r>
              <a:rPr sz="1200" b="1" i="0">
                <a:solidFill>
                  <a:srgbClr val="1B3FA8"/>
                </a:solidFill>
                <a:latin typeface="Arial"/>
              </a:rPr>
              <a:t>RAG agêntico
(agentic)</a:t>
            </a:r>
          </a:p>
        </p:txBody>
      </p:sp>
      <p:sp>
        <p:nvSpPr>
          <p:cNvPr id="25" name="TextBox 24"/>
          <p:cNvSpPr txBox="1"/>
          <p:nvPr/>
        </p:nvSpPr>
        <p:spPr>
          <a:xfrm>
            <a:off x="1645920" y="3419856"/>
            <a:ext cx="186537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O próprio modelo decide, em passos, quais ferramentas acionar.</a:t>
            </a:r>
          </a:p>
        </p:txBody>
      </p:sp>
      <p:sp>
        <p:nvSpPr>
          <p:cNvPr id="26" name="TextBox 25"/>
          <p:cNvSpPr txBox="1"/>
          <p:nvPr/>
        </p:nvSpPr>
        <p:spPr>
          <a:xfrm>
            <a:off x="3657600" y="3419856"/>
            <a:ext cx="2048256" cy="548640"/>
          </a:xfrm>
          <a:prstGeom prst="rect">
            <a:avLst/>
          </a:prstGeom>
          <a:noFill/>
        </p:spPr>
        <p:txBody>
          <a:bodyPr wrap="square" anchor="t" lIns="0" rIns="0" tIns="0" bIns="0">
            <a:spAutoFit/>
          </a:bodyPr>
          <a:lstStyle/>
          <a:p>
            <a:pPr algn="l">
              <a:lnSpc>
                <a:spcPct val="106000"/>
              </a:lnSpc>
            </a:pPr>
            <a:r>
              <a:rPr sz="1000" b="0" i="0">
                <a:solidFill>
                  <a:srgbClr val="1A1A1A"/>
                </a:solidFill>
                <a:latin typeface="Arial"/>
              </a:rPr>
              <a:t>Investigações em várias etapas, com hipóteses intermediárias.</a:t>
            </a:r>
          </a:p>
        </p:txBody>
      </p:sp>
      <p:sp>
        <p:nvSpPr>
          <p:cNvPr id="27" name="TextBox 26"/>
          <p:cNvSpPr txBox="1"/>
          <p:nvPr/>
        </p:nvSpPr>
        <p:spPr>
          <a:xfrm>
            <a:off x="5852160" y="3419856"/>
            <a:ext cx="1956816" cy="548640"/>
          </a:xfrm>
          <a:prstGeom prst="rect">
            <a:avLst/>
          </a:prstGeom>
          <a:noFill/>
        </p:spPr>
        <p:txBody>
          <a:bodyPr wrap="square" anchor="t" lIns="0" rIns="0" tIns="0" bIns="0">
            <a:spAutoFit/>
          </a:bodyPr>
          <a:lstStyle/>
          <a:p>
            <a:pPr algn="l">
              <a:lnSpc>
                <a:spcPct val="106000"/>
              </a:lnSpc>
            </a:pPr>
            <a:r>
              <a:rPr sz="1000" b="0" i="0">
                <a:solidFill>
                  <a:srgbClr val="4A4A4A"/>
                </a:solidFill>
                <a:latin typeface="Arial"/>
              </a:rPr>
              <a:t>Mais chamadas, maior latência e menos previsibilidade.</a:t>
            </a:r>
          </a:p>
        </p:txBody>
      </p:sp>
      <p:sp>
        <p:nvSpPr>
          <p:cNvPr id="28" name="Rectangle 27"/>
          <p:cNvSpPr/>
          <p:nvPr/>
        </p:nvSpPr>
        <p:spPr>
          <a:xfrm>
            <a:off x="402336" y="1353312"/>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2336" y="4133088"/>
            <a:ext cx="8339328" cy="292608"/>
          </a:xfrm>
          <a:prstGeom prst="rect">
            <a:avLst/>
          </a:prstGeom>
          <a:noFill/>
        </p:spPr>
        <p:txBody>
          <a:bodyPr wrap="square" anchor="t" lIns="0" rIns="0" tIns="0" bIns="0">
            <a:spAutoFit/>
          </a:bodyPr>
          <a:lstStyle/>
          <a:p>
            <a:pPr algn="l"/>
            <a:r>
              <a:rPr sz="1150" b="0" i="0">
                <a:solidFill>
                  <a:srgbClr val="4A4A4A"/>
                </a:solidFill>
                <a:latin typeface="Arial"/>
              </a:rPr>
              <a:t>A fronteira entre os tipos está em duas decisões: como recuperar e quem decide quando parar de buscar.</a:t>
            </a:r>
          </a:p>
        </p:txBody>
      </p:sp>
      <p:sp>
        <p:nvSpPr>
          <p:cNvPr id="30" name="TextBox 29"/>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Um exemplo prático, passo a passo</a:t>
            </a:r>
          </a:p>
        </p:txBody>
      </p:sp>
      <p:sp>
        <p:nvSpPr>
          <p:cNvPr id="3" name="Rounded Rectangle 2"/>
          <p:cNvSpPr/>
          <p:nvPr/>
        </p:nvSpPr>
        <p:spPr>
          <a:xfrm>
            <a:off x="402336" y="1042416"/>
            <a:ext cx="8339328" cy="530352"/>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85216" y="1161288"/>
            <a:ext cx="7973568" cy="310896"/>
          </a:xfrm>
          <a:prstGeom prst="rect">
            <a:avLst/>
          </a:prstGeom>
          <a:noFill/>
        </p:spPr>
        <p:txBody>
          <a:bodyPr wrap="square" anchor="t" lIns="0" rIns="0" tIns="0" bIns="0">
            <a:spAutoFit/>
          </a:bodyPr>
          <a:lstStyle/>
          <a:p>
            <a:pPr algn="l"/>
            <a:r>
              <a:rPr sz="1400" b="1" i="0">
                <a:solidFill>
                  <a:srgbClr val="1A1A1A"/>
                </a:solidFill>
                <a:latin typeface="Arial"/>
              </a:rPr>
              <a:t>Pergunta: “Qual foi a variação do PIB paulista no 1º trimestre de 2024?”</a:t>
            </a:r>
          </a:p>
        </p:txBody>
      </p:sp>
      <p:sp>
        <p:nvSpPr>
          <p:cNvPr id="5" name="Oval 4"/>
          <p:cNvSpPr/>
          <p:nvPr/>
        </p:nvSpPr>
        <p:spPr>
          <a:xfrm>
            <a:off x="420624" y="1755648"/>
            <a:ext cx="310896" cy="310896"/>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420624" y="1810512"/>
            <a:ext cx="310896" cy="237744"/>
          </a:xfrm>
          <a:prstGeom prst="rect">
            <a:avLst/>
          </a:prstGeom>
          <a:noFill/>
        </p:spPr>
        <p:txBody>
          <a:bodyPr wrap="square" anchor="t" lIns="0" rIns="0" tIns="0" bIns="0">
            <a:spAutoFit/>
          </a:bodyPr>
          <a:lstStyle/>
          <a:p>
            <a:pPr algn="ctr"/>
            <a:r>
              <a:rPr sz="1200" b="1" i="0">
                <a:solidFill>
                  <a:srgbClr val="FFFFFF"/>
                </a:solidFill>
                <a:latin typeface="Arial"/>
              </a:rPr>
              <a:t>1</a:t>
            </a:r>
          </a:p>
        </p:txBody>
      </p:sp>
      <p:sp>
        <p:nvSpPr>
          <p:cNvPr id="7" name="TextBox 6"/>
          <p:cNvSpPr txBox="1"/>
          <p:nvPr/>
        </p:nvSpPr>
        <p:spPr>
          <a:xfrm>
            <a:off x="877824" y="1737360"/>
            <a:ext cx="2331720" cy="274320"/>
          </a:xfrm>
          <a:prstGeom prst="rect">
            <a:avLst/>
          </a:prstGeom>
          <a:noFill/>
        </p:spPr>
        <p:txBody>
          <a:bodyPr wrap="square" anchor="t" lIns="0" rIns="0" tIns="0" bIns="0">
            <a:spAutoFit/>
          </a:bodyPr>
          <a:lstStyle/>
          <a:p>
            <a:pPr algn="l"/>
            <a:r>
              <a:rPr sz="1300" b="1" i="0">
                <a:solidFill>
                  <a:srgbClr val="1A1A1A"/>
                </a:solidFill>
                <a:latin typeface="Arial"/>
              </a:rPr>
              <a:t>Localizar o período</a:t>
            </a:r>
          </a:p>
        </p:txBody>
      </p:sp>
      <p:sp>
        <p:nvSpPr>
          <p:cNvPr id="8" name="TextBox 7"/>
          <p:cNvSpPr txBox="1"/>
          <p:nvPr/>
        </p:nvSpPr>
        <p:spPr>
          <a:xfrm>
            <a:off x="3328416" y="1755648"/>
            <a:ext cx="5413248" cy="292608"/>
          </a:xfrm>
          <a:prstGeom prst="rect">
            <a:avLst/>
          </a:prstGeom>
          <a:noFill/>
        </p:spPr>
        <p:txBody>
          <a:bodyPr wrap="square" anchor="t" lIns="0" rIns="0" tIns="0" bIns="0">
            <a:spAutoFit/>
          </a:bodyPr>
          <a:lstStyle/>
          <a:p>
            <a:pPr algn="l"/>
            <a:r>
              <a:rPr sz="1150" b="0" i="0">
                <a:solidFill>
                  <a:srgbClr val="4A4A4A"/>
                </a:solidFill>
                <a:latin typeface="Arial"/>
              </a:rPr>
              <a:t>O sistema restringe a busca aos boletins que cobrem o 1º trimestre de 2024.</a:t>
            </a:r>
          </a:p>
        </p:txBody>
      </p:sp>
      <p:sp>
        <p:nvSpPr>
          <p:cNvPr id="9" name="Rectangle 8"/>
          <p:cNvSpPr/>
          <p:nvPr/>
        </p:nvSpPr>
        <p:spPr>
          <a:xfrm>
            <a:off x="576072" y="2084832"/>
            <a:ext cx="10973" cy="16459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0624" y="2286000"/>
            <a:ext cx="310896" cy="310896"/>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420624" y="2340864"/>
            <a:ext cx="310896" cy="237744"/>
          </a:xfrm>
          <a:prstGeom prst="rect">
            <a:avLst/>
          </a:prstGeom>
          <a:noFill/>
        </p:spPr>
        <p:txBody>
          <a:bodyPr wrap="square" anchor="t" lIns="0" rIns="0" tIns="0" bIns="0">
            <a:spAutoFit/>
          </a:bodyPr>
          <a:lstStyle/>
          <a:p>
            <a:pPr algn="ctr"/>
            <a:r>
              <a:rPr sz="1200" b="1" i="0">
                <a:solidFill>
                  <a:srgbClr val="FFFFFF"/>
                </a:solidFill>
                <a:latin typeface="Arial"/>
              </a:rPr>
              <a:t>2</a:t>
            </a:r>
          </a:p>
        </p:txBody>
      </p:sp>
      <p:sp>
        <p:nvSpPr>
          <p:cNvPr id="12" name="TextBox 11"/>
          <p:cNvSpPr txBox="1"/>
          <p:nvPr/>
        </p:nvSpPr>
        <p:spPr>
          <a:xfrm>
            <a:off x="877824" y="2267712"/>
            <a:ext cx="2331720" cy="274320"/>
          </a:xfrm>
          <a:prstGeom prst="rect">
            <a:avLst/>
          </a:prstGeom>
          <a:noFill/>
        </p:spPr>
        <p:txBody>
          <a:bodyPr wrap="square" anchor="t" lIns="0" rIns="0" tIns="0" bIns="0">
            <a:spAutoFit/>
          </a:bodyPr>
          <a:lstStyle/>
          <a:p>
            <a:pPr algn="l"/>
            <a:r>
              <a:rPr sz="1300" b="1" i="0">
                <a:solidFill>
                  <a:srgbClr val="1A1A1A"/>
                </a:solidFill>
                <a:latin typeface="Arial"/>
              </a:rPr>
              <a:t>Recuperar os trechos</a:t>
            </a:r>
          </a:p>
        </p:txBody>
      </p:sp>
      <p:sp>
        <p:nvSpPr>
          <p:cNvPr id="13" name="TextBox 12"/>
          <p:cNvSpPr txBox="1"/>
          <p:nvPr/>
        </p:nvSpPr>
        <p:spPr>
          <a:xfrm>
            <a:off x="3328416" y="2286000"/>
            <a:ext cx="5413248" cy="292608"/>
          </a:xfrm>
          <a:prstGeom prst="rect">
            <a:avLst/>
          </a:prstGeom>
          <a:noFill/>
        </p:spPr>
        <p:txBody>
          <a:bodyPr wrap="square" anchor="t" lIns="0" rIns="0" tIns="0" bIns="0">
            <a:spAutoFit/>
          </a:bodyPr>
          <a:lstStyle/>
          <a:p>
            <a:pPr algn="l"/>
            <a:r>
              <a:rPr sz="1150" b="0" i="0">
                <a:solidFill>
                  <a:srgbClr val="4A4A4A"/>
                </a:solidFill>
                <a:latin typeface="Arial"/>
              </a:rPr>
              <a:t>São trazidos o texto de análise e a tabela de PIB do boletim correspondente.</a:t>
            </a:r>
          </a:p>
        </p:txBody>
      </p:sp>
      <p:sp>
        <p:nvSpPr>
          <p:cNvPr id="14" name="Rectangle 13"/>
          <p:cNvSpPr/>
          <p:nvPr/>
        </p:nvSpPr>
        <p:spPr>
          <a:xfrm>
            <a:off x="576072" y="2615184"/>
            <a:ext cx="10973" cy="16459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20624" y="2816352"/>
            <a:ext cx="310896" cy="310896"/>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420624" y="2871216"/>
            <a:ext cx="310896" cy="237744"/>
          </a:xfrm>
          <a:prstGeom prst="rect">
            <a:avLst/>
          </a:prstGeom>
          <a:noFill/>
        </p:spPr>
        <p:txBody>
          <a:bodyPr wrap="square" anchor="t" lIns="0" rIns="0" tIns="0" bIns="0">
            <a:spAutoFit/>
          </a:bodyPr>
          <a:lstStyle/>
          <a:p>
            <a:pPr algn="ctr"/>
            <a:r>
              <a:rPr sz="1200" b="1" i="0">
                <a:solidFill>
                  <a:srgbClr val="FFFFFF"/>
                </a:solidFill>
                <a:latin typeface="Arial"/>
              </a:rPr>
              <a:t>3</a:t>
            </a:r>
          </a:p>
        </p:txBody>
      </p:sp>
      <p:sp>
        <p:nvSpPr>
          <p:cNvPr id="17" name="TextBox 16"/>
          <p:cNvSpPr txBox="1"/>
          <p:nvPr/>
        </p:nvSpPr>
        <p:spPr>
          <a:xfrm>
            <a:off x="877824" y="2798064"/>
            <a:ext cx="2331720" cy="274320"/>
          </a:xfrm>
          <a:prstGeom prst="rect">
            <a:avLst/>
          </a:prstGeom>
          <a:noFill/>
        </p:spPr>
        <p:txBody>
          <a:bodyPr wrap="square" anchor="t" lIns="0" rIns="0" tIns="0" bIns="0">
            <a:spAutoFit/>
          </a:bodyPr>
          <a:lstStyle/>
          <a:p>
            <a:pPr algn="l"/>
            <a:r>
              <a:rPr sz="1300" b="1" i="0">
                <a:solidFill>
                  <a:srgbClr val="1A1A1A"/>
                </a:solidFill>
                <a:latin typeface="Arial"/>
              </a:rPr>
              <a:t>Montar o contexto</a:t>
            </a:r>
          </a:p>
        </p:txBody>
      </p:sp>
      <p:sp>
        <p:nvSpPr>
          <p:cNvPr id="18" name="TextBox 17"/>
          <p:cNvSpPr txBox="1"/>
          <p:nvPr/>
        </p:nvSpPr>
        <p:spPr>
          <a:xfrm>
            <a:off x="3328416" y="2816352"/>
            <a:ext cx="5413248" cy="292608"/>
          </a:xfrm>
          <a:prstGeom prst="rect">
            <a:avLst/>
          </a:prstGeom>
          <a:noFill/>
        </p:spPr>
        <p:txBody>
          <a:bodyPr wrap="square" anchor="t" lIns="0" rIns="0" tIns="0" bIns="0">
            <a:spAutoFit/>
          </a:bodyPr>
          <a:lstStyle/>
          <a:p>
            <a:pPr algn="l"/>
            <a:r>
              <a:rPr sz="1150" b="0" i="0">
                <a:solidFill>
                  <a:srgbClr val="4A4A4A"/>
                </a:solidFill>
                <a:latin typeface="Arial"/>
              </a:rPr>
              <a:t>Narrativa e tabela são reunidas, preservando unidade e período de comparação.</a:t>
            </a:r>
          </a:p>
        </p:txBody>
      </p:sp>
      <p:sp>
        <p:nvSpPr>
          <p:cNvPr id="19" name="Rectangle 18"/>
          <p:cNvSpPr/>
          <p:nvPr/>
        </p:nvSpPr>
        <p:spPr>
          <a:xfrm>
            <a:off x="576072" y="3145536"/>
            <a:ext cx="10973" cy="16459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20624" y="3346704"/>
            <a:ext cx="310896" cy="310896"/>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420624" y="3401568"/>
            <a:ext cx="310896" cy="237744"/>
          </a:xfrm>
          <a:prstGeom prst="rect">
            <a:avLst/>
          </a:prstGeom>
          <a:noFill/>
        </p:spPr>
        <p:txBody>
          <a:bodyPr wrap="square" anchor="t" lIns="0" rIns="0" tIns="0" bIns="0">
            <a:spAutoFit/>
          </a:bodyPr>
          <a:lstStyle/>
          <a:p>
            <a:pPr algn="ctr"/>
            <a:r>
              <a:rPr sz="1200" b="1" i="0">
                <a:solidFill>
                  <a:srgbClr val="FFFFFF"/>
                </a:solidFill>
                <a:latin typeface="Arial"/>
              </a:rPr>
              <a:t>4</a:t>
            </a:r>
          </a:p>
        </p:txBody>
      </p:sp>
      <p:sp>
        <p:nvSpPr>
          <p:cNvPr id="22" name="TextBox 21"/>
          <p:cNvSpPr txBox="1"/>
          <p:nvPr/>
        </p:nvSpPr>
        <p:spPr>
          <a:xfrm>
            <a:off x="877824" y="3328416"/>
            <a:ext cx="2331720" cy="274320"/>
          </a:xfrm>
          <a:prstGeom prst="rect">
            <a:avLst/>
          </a:prstGeom>
          <a:noFill/>
        </p:spPr>
        <p:txBody>
          <a:bodyPr wrap="square" anchor="t" lIns="0" rIns="0" tIns="0" bIns="0">
            <a:spAutoFit/>
          </a:bodyPr>
          <a:lstStyle/>
          <a:p>
            <a:pPr algn="l"/>
            <a:r>
              <a:rPr sz="1300" b="1" i="0">
                <a:solidFill>
                  <a:srgbClr val="1A1A1A"/>
                </a:solidFill>
                <a:latin typeface="Arial"/>
              </a:rPr>
              <a:t>Redigir e citar</a:t>
            </a:r>
          </a:p>
        </p:txBody>
      </p:sp>
      <p:sp>
        <p:nvSpPr>
          <p:cNvPr id="23" name="TextBox 22"/>
          <p:cNvSpPr txBox="1"/>
          <p:nvPr/>
        </p:nvSpPr>
        <p:spPr>
          <a:xfrm>
            <a:off x="3328416" y="3346704"/>
            <a:ext cx="5413248" cy="292608"/>
          </a:xfrm>
          <a:prstGeom prst="rect">
            <a:avLst/>
          </a:prstGeom>
          <a:noFill/>
        </p:spPr>
        <p:txBody>
          <a:bodyPr wrap="square" anchor="t" lIns="0" rIns="0" tIns="0" bIns="0">
            <a:spAutoFit/>
          </a:bodyPr>
          <a:lstStyle/>
          <a:p>
            <a:pPr algn="l"/>
            <a:r>
              <a:rPr sz="1150" b="0" i="0">
                <a:solidFill>
                  <a:srgbClr val="4A4A4A"/>
                </a:solidFill>
                <a:latin typeface="Arial"/>
              </a:rPr>
              <a:t>A resposta é escrita a partir desses trechos, com indicação do boletim e da página.</a:t>
            </a:r>
          </a:p>
        </p:txBody>
      </p:sp>
      <p:sp>
        <p:nvSpPr>
          <p:cNvPr id="24" name="Rectangle 23"/>
          <p:cNvSpPr/>
          <p:nvPr/>
        </p:nvSpPr>
        <p:spPr>
          <a:xfrm>
            <a:off x="576072" y="3675888"/>
            <a:ext cx="10973" cy="164592"/>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20624" y="3877056"/>
            <a:ext cx="310896" cy="310896"/>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420624" y="3931920"/>
            <a:ext cx="310896" cy="237744"/>
          </a:xfrm>
          <a:prstGeom prst="rect">
            <a:avLst/>
          </a:prstGeom>
          <a:noFill/>
        </p:spPr>
        <p:txBody>
          <a:bodyPr wrap="square" anchor="t" lIns="0" rIns="0" tIns="0" bIns="0">
            <a:spAutoFit/>
          </a:bodyPr>
          <a:lstStyle/>
          <a:p>
            <a:pPr algn="ctr"/>
            <a:r>
              <a:rPr sz="1200" b="1" i="0">
                <a:solidFill>
                  <a:srgbClr val="FFFFFF"/>
                </a:solidFill>
                <a:latin typeface="Arial"/>
              </a:rPr>
              <a:t>5</a:t>
            </a:r>
          </a:p>
        </p:txBody>
      </p:sp>
      <p:sp>
        <p:nvSpPr>
          <p:cNvPr id="27" name="TextBox 26"/>
          <p:cNvSpPr txBox="1"/>
          <p:nvPr/>
        </p:nvSpPr>
        <p:spPr>
          <a:xfrm>
            <a:off x="877824" y="3858768"/>
            <a:ext cx="2331720" cy="274320"/>
          </a:xfrm>
          <a:prstGeom prst="rect">
            <a:avLst/>
          </a:prstGeom>
          <a:noFill/>
        </p:spPr>
        <p:txBody>
          <a:bodyPr wrap="square" anchor="t" lIns="0" rIns="0" tIns="0" bIns="0">
            <a:spAutoFit/>
          </a:bodyPr>
          <a:lstStyle/>
          <a:p>
            <a:pPr algn="l"/>
            <a:r>
              <a:rPr sz="1300" b="1" i="0">
                <a:solidFill>
                  <a:srgbClr val="1A1A1A"/>
                </a:solidFill>
                <a:latin typeface="Arial"/>
              </a:rPr>
              <a:t>Conferir</a:t>
            </a:r>
          </a:p>
        </p:txBody>
      </p:sp>
      <p:sp>
        <p:nvSpPr>
          <p:cNvPr id="28" name="TextBox 27"/>
          <p:cNvSpPr txBox="1"/>
          <p:nvPr/>
        </p:nvSpPr>
        <p:spPr>
          <a:xfrm>
            <a:off x="3328416" y="3877056"/>
            <a:ext cx="5413248" cy="292608"/>
          </a:xfrm>
          <a:prstGeom prst="rect">
            <a:avLst/>
          </a:prstGeom>
          <a:noFill/>
        </p:spPr>
        <p:txBody>
          <a:bodyPr wrap="square" anchor="t" lIns="0" rIns="0" tIns="0" bIns="0">
            <a:spAutoFit/>
          </a:bodyPr>
          <a:lstStyle/>
          <a:p>
            <a:pPr algn="l"/>
            <a:r>
              <a:rPr sz="1150" b="0" i="0">
                <a:solidFill>
                  <a:srgbClr val="4A4A4A"/>
                </a:solidFill>
                <a:latin typeface="Arial"/>
              </a:rPr>
              <a:t>O valor é validado contra o dado recuperado; a resposta aponta a fonte para conferência.</a:t>
            </a:r>
          </a:p>
        </p:txBody>
      </p:sp>
      <p:sp>
        <p:nvSpPr>
          <p:cNvPr id="29" name="Rounded Rectangle 28"/>
          <p:cNvSpPr/>
          <p:nvPr/>
        </p:nvSpPr>
        <p:spPr>
          <a:xfrm>
            <a:off x="402336" y="4059936"/>
            <a:ext cx="8339328" cy="475488"/>
          </a:xfrm>
          <a:prstGeom prst="roundRect">
            <a:avLst>
              <a:gd name="adj" fmla="val 6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85216" y="4160520"/>
            <a:ext cx="7973568" cy="292608"/>
          </a:xfrm>
          <a:prstGeom prst="rect">
            <a:avLst/>
          </a:prstGeom>
          <a:noFill/>
        </p:spPr>
        <p:txBody>
          <a:bodyPr wrap="square" anchor="t" lIns="0" rIns="0" tIns="0" bIns="0">
            <a:spAutoFit/>
          </a:bodyPr>
          <a:lstStyle/>
          <a:p>
            <a:pPr algn="l"/>
            <a:r>
              <a:rPr sz="1200" b="1" i="0">
                <a:solidFill>
                  <a:srgbClr val="1B3FA8"/>
                </a:solidFill>
                <a:latin typeface="Arial"/>
              </a:rPr>
              <a:t>O resultado esperado não é apenas o número: é o número acompanhado do período de comparação e da fonte que o sustenta.</a:t>
            </a:r>
          </a:p>
        </p:txBody>
      </p:sp>
      <p:sp>
        <p:nvSpPr>
          <p:cNvPr id="31" name="TextBox 30"/>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ponto de partida: o que foi construído</a:t>
            </a:r>
          </a:p>
        </p:txBody>
      </p:sp>
      <p:sp>
        <p:nvSpPr>
          <p:cNvPr id="3" name="TextBox 2"/>
          <p:cNvSpPr txBox="1"/>
          <p:nvPr/>
        </p:nvSpPr>
        <p:spPr>
          <a:xfrm>
            <a:off x="402336" y="1060704"/>
            <a:ext cx="4023360" cy="256032"/>
          </a:xfrm>
          <a:prstGeom prst="rect">
            <a:avLst/>
          </a:prstGeom>
          <a:noFill/>
        </p:spPr>
        <p:txBody>
          <a:bodyPr wrap="square" anchor="t" lIns="0" rIns="0" tIns="0" bIns="0">
            <a:spAutoFit/>
          </a:bodyPr>
          <a:lstStyle/>
          <a:p>
            <a:pPr algn="l"/>
            <a:r>
              <a:rPr sz="1000" b="1" i="0">
                <a:solidFill>
                  <a:srgbClr val="2A5FFF"/>
                </a:solidFill>
                <a:latin typeface="Arial"/>
              </a:rPr>
              <a:t>DECISÃO INICIAL: COMEÇAR SIMPLES</a:t>
            </a:r>
          </a:p>
        </p:txBody>
      </p:sp>
      <p:sp>
        <p:nvSpPr>
          <p:cNvPr id="4" name="Rounded Rectangle 3"/>
          <p:cNvSpPr/>
          <p:nvPr/>
        </p:nvSpPr>
        <p:spPr>
          <a:xfrm>
            <a:off x="402336" y="1316736"/>
            <a:ext cx="4023360" cy="120700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85216" y="1444752"/>
            <a:ext cx="3657600" cy="969264"/>
          </a:xfrm>
          <a:prstGeom prst="rect">
            <a:avLst/>
          </a:prstGeom>
          <a:noFill/>
        </p:spPr>
        <p:txBody>
          <a:bodyPr wrap="square" anchor="t" lIns="0" rIns="0" tIns="0" bIns="0">
            <a:spAutoFit/>
          </a:bodyPr>
          <a:lstStyle/>
          <a:p>
            <a:pPr algn="l">
              <a:lnSpc>
                <a:spcPct val="114000"/>
              </a:lnSpc>
            </a:pPr>
            <a:r>
              <a:rPr sz="1200" b="0" i="0">
                <a:solidFill>
                  <a:srgbClr val="1A1A1A"/>
                </a:solidFill>
                <a:latin typeface="Arial"/>
              </a:rPr>
              <a:t>O primeiro pipeline foi deliberadamente simples: ingestão, indexação, recuperação e geração, com validação ao final. A complexidade só entrou depois que a base funcionou.</a:t>
            </a:r>
          </a:p>
        </p:txBody>
      </p:sp>
      <p:sp>
        <p:nvSpPr>
          <p:cNvPr id="6" name="TextBox 5"/>
          <p:cNvSpPr txBox="1"/>
          <p:nvPr/>
        </p:nvSpPr>
        <p:spPr>
          <a:xfrm>
            <a:off x="402336" y="2651760"/>
            <a:ext cx="4023360" cy="256032"/>
          </a:xfrm>
          <a:prstGeom prst="rect">
            <a:avLst/>
          </a:prstGeom>
          <a:noFill/>
        </p:spPr>
        <p:txBody>
          <a:bodyPr wrap="square" anchor="t" lIns="0" rIns="0" tIns="0" bIns="0">
            <a:spAutoFit/>
          </a:bodyPr>
          <a:lstStyle/>
          <a:p>
            <a:pPr algn="l"/>
            <a:r>
              <a:rPr sz="1000" b="1" i="0">
                <a:solidFill>
                  <a:srgbClr val="2A5FFF"/>
                </a:solidFill>
                <a:latin typeface="Arial"/>
              </a:rPr>
              <a:t>O QUE JÁ FUNCIONA</a:t>
            </a:r>
          </a:p>
        </p:txBody>
      </p:sp>
      <p:sp>
        <p:nvSpPr>
          <p:cNvPr id="7" name="TextBox 6"/>
          <p:cNvSpPr txBox="1"/>
          <p:nvPr/>
        </p:nvSpPr>
        <p:spPr>
          <a:xfrm>
            <a:off x="402336" y="2907792"/>
            <a:ext cx="4023360" cy="1225296"/>
          </a:xfrm>
          <a:prstGeom prst="rect">
            <a:avLst/>
          </a:prstGeom>
          <a:noFill/>
        </p:spPr>
        <p:txBody>
          <a:bodyPr wrap="square" anchor="t" lIns="0" rIns="0" tIns="0" bIns="0">
            <a:spAutoFit/>
          </a:bodyPr>
          <a:lstStyle/>
          <a:p>
            <a:pPr algn="l">
              <a:lnSpc>
                <a:spcPct val="106000"/>
              </a:lnSpc>
              <a:spcAft>
                <a:spcPts val="500"/>
              </a:spcAft>
            </a:pPr>
            <a:r>
              <a:rPr sz="1150" b="0" i="0">
                <a:solidFill>
                  <a:srgbClr val="4A4A4A"/>
                </a:solidFill>
                <a:latin typeface="Arial"/>
              </a:rPr>
              <a:t>•  Extração de texto e de tabelas dos boletins em PDF.</a:t>
            </a:r>
          </a:p>
          <a:p>
            <a:pPr algn="l">
              <a:lnSpc>
                <a:spcPct val="106000"/>
              </a:lnSpc>
              <a:spcAft>
                <a:spcPts val="500"/>
              </a:spcAft>
            </a:pPr>
            <a:r>
              <a:rPr sz="1150" b="0" i="0">
                <a:solidFill>
                  <a:srgbClr val="4A4A4A"/>
                </a:solidFill>
                <a:latin typeface="Arial"/>
              </a:rPr>
              <a:t>•  Índice vetorial local no ChromaDB, persistido entre execuções.</a:t>
            </a:r>
          </a:p>
          <a:p>
            <a:pPr algn="l">
              <a:lnSpc>
                <a:spcPct val="106000"/>
              </a:lnSpc>
              <a:spcAft>
                <a:spcPts val="500"/>
              </a:spcAft>
            </a:pPr>
            <a:r>
              <a:rPr sz="1150" b="0" i="0">
                <a:solidFill>
                  <a:srgbClr val="4A4A4A"/>
                </a:solidFill>
                <a:latin typeface="Arial"/>
              </a:rPr>
              <a:t>•  Recuperação híbrida (semelhança + palavras-chave) com reordenação.</a:t>
            </a:r>
          </a:p>
          <a:p>
            <a:pPr algn="l">
              <a:lnSpc>
                <a:spcPct val="106000"/>
              </a:lnSpc>
              <a:spcAft>
                <a:spcPts val="500"/>
              </a:spcAft>
            </a:pPr>
            <a:r>
              <a:rPr sz="1150" b="0" i="0">
                <a:solidFill>
                  <a:srgbClr val="4A4A4A"/>
                </a:solidFill>
                <a:latin typeface="Arial"/>
              </a:rPr>
              <a:t>•  Resposta com indicação de arquivo e página de origem.</a:t>
            </a:r>
          </a:p>
          <a:p>
            <a:pPr algn="l">
              <a:lnSpc>
                <a:spcPct val="106000"/>
              </a:lnSpc>
              <a:spcAft>
                <a:spcPts val="500"/>
              </a:spcAft>
            </a:pPr>
            <a:r>
              <a:rPr sz="1150" b="0" i="0">
                <a:solidFill>
                  <a:srgbClr val="4A4A4A"/>
                </a:solidFill>
                <a:latin typeface="Arial"/>
              </a:rPr>
              <a:t>•  Dois modos de uso: serviço HTTP e linha de comando.</a:t>
            </a:r>
          </a:p>
        </p:txBody>
      </p:sp>
      <p:sp>
        <p:nvSpPr>
          <p:cNvPr id="8" name="TextBox 7"/>
          <p:cNvSpPr txBox="1"/>
          <p:nvPr/>
        </p:nvSpPr>
        <p:spPr>
          <a:xfrm>
            <a:off x="4754880" y="1060704"/>
            <a:ext cx="3986784" cy="256032"/>
          </a:xfrm>
          <a:prstGeom prst="rect">
            <a:avLst/>
          </a:prstGeom>
          <a:noFill/>
        </p:spPr>
        <p:txBody>
          <a:bodyPr wrap="square" anchor="t" lIns="0" rIns="0" tIns="0" bIns="0">
            <a:spAutoFit/>
          </a:bodyPr>
          <a:lstStyle/>
          <a:p>
            <a:pPr algn="l"/>
            <a:r>
              <a:rPr sz="1000" b="1" i="0">
                <a:solidFill>
                  <a:srgbClr val="2A5FFF"/>
                </a:solidFill>
                <a:latin typeface="Arial"/>
              </a:rPr>
              <a:t>A IDEIA DE FUNDO</a:t>
            </a:r>
          </a:p>
        </p:txBody>
      </p:sp>
      <p:sp>
        <p:nvSpPr>
          <p:cNvPr id="9" name="Rounded Rectangle 8"/>
          <p:cNvSpPr/>
          <p:nvPr/>
        </p:nvSpPr>
        <p:spPr>
          <a:xfrm>
            <a:off x="4754880" y="1316736"/>
            <a:ext cx="3986784" cy="2889504"/>
          </a:xfrm>
          <a:prstGeom prst="roundRect">
            <a:avLst>
              <a:gd name="adj" fmla="val 5000"/>
            </a:avLst>
          </a:prstGeom>
          <a:solidFill>
            <a:srgbClr val="FFFFFF"/>
          </a:solidFill>
          <a:ln w="9525">
            <a:solidFill>
              <a:srgbClr val="D3D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4956048" y="1536192"/>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4956048" y="1581912"/>
            <a:ext cx="274320" cy="219456"/>
          </a:xfrm>
          <a:prstGeom prst="rect">
            <a:avLst/>
          </a:prstGeom>
          <a:noFill/>
        </p:spPr>
        <p:txBody>
          <a:bodyPr wrap="square" anchor="t" lIns="0" rIns="0" tIns="0" bIns="0">
            <a:spAutoFit/>
          </a:bodyPr>
          <a:lstStyle/>
          <a:p>
            <a:pPr algn="ctr"/>
            <a:r>
              <a:rPr sz="1100" b="1" i="0">
                <a:solidFill>
                  <a:srgbClr val="FFFFFF"/>
                </a:solidFill>
                <a:latin typeface="Arial"/>
              </a:rPr>
              <a:t>1</a:t>
            </a:r>
          </a:p>
        </p:txBody>
      </p:sp>
      <p:sp>
        <p:nvSpPr>
          <p:cNvPr id="12" name="TextBox 11"/>
          <p:cNvSpPr txBox="1"/>
          <p:nvPr/>
        </p:nvSpPr>
        <p:spPr>
          <a:xfrm>
            <a:off x="5358384" y="1490472"/>
            <a:ext cx="1188720" cy="256032"/>
          </a:xfrm>
          <a:prstGeom prst="rect">
            <a:avLst/>
          </a:prstGeom>
          <a:noFill/>
        </p:spPr>
        <p:txBody>
          <a:bodyPr wrap="square" anchor="t" lIns="0" rIns="0" tIns="0" bIns="0">
            <a:spAutoFit/>
          </a:bodyPr>
          <a:lstStyle/>
          <a:p>
            <a:pPr algn="l"/>
            <a:r>
              <a:rPr sz="1250" b="1" i="0">
                <a:solidFill>
                  <a:srgbClr val="1A1A1A"/>
                </a:solidFill>
                <a:latin typeface="Arial"/>
              </a:rPr>
              <a:t>Ingestão</a:t>
            </a:r>
          </a:p>
        </p:txBody>
      </p:sp>
      <p:sp>
        <p:nvSpPr>
          <p:cNvPr id="13" name="TextBox 12"/>
          <p:cNvSpPr txBox="1"/>
          <p:nvPr/>
        </p:nvSpPr>
        <p:spPr>
          <a:xfrm>
            <a:off x="6583680" y="1508760"/>
            <a:ext cx="1993392" cy="274320"/>
          </a:xfrm>
          <a:prstGeom prst="rect">
            <a:avLst/>
          </a:prstGeom>
          <a:noFill/>
        </p:spPr>
        <p:txBody>
          <a:bodyPr wrap="square" anchor="t" lIns="0" rIns="0" tIns="0" bIns="0">
            <a:spAutoFit/>
          </a:bodyPr>
          <a:lstStyle/>
          <a:p>
            <a:pPr algn="l">
              <a:lnSpc>
                <a:spcPct val="105000"/>
              </a:lnSpc>
            </a:pPr>
            <a:r>
              <a:rPr sz="1050" b="0" i="0">
                <a:solidFill>
                  <a:srgbClr val="4A4A4A"/>
                </a:solidFill>
                <a:latin typeface="Arial"/>
              </a:rPr>
              <a:t>Ler PDF, CSV e XLSX e separar texto de tabela.</a:t>
            </a:r>
          </a:p>
        </p:txBody>
      </p:sp>
      <p:sp>
        <p:nvSpPr>
          <p:cNvPr id="14" name="Oval 13"/>
          <p:cNvSpPr/>
          <p:nvPr/>
        </p:nvSpPr>
        <p:spPr>
          <a:xfrm>
            <a:off x="4956048" y="2066544"/>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4956048" y="2112264"/>
            <a:ext cx="274320" cy="219456"/>
          </a:xfrm>
          <a:prstGeom prst="rect">
            <a:avLst/>
          </a:prstGeom>
          <a:noFill/>
        </p:spPr>
        <p:txBody>
          <a:bodyPr wrap="square" anchor="t" lIns="0" rIns="0" tIns="0" bIns="0">
            <a:spAutoFit/>
          </a:bodyPr>
          <a:lstStyle/>
          <a:p>
            <a:pPr algn="ctr"/>
            <a:r>
              <a:rPr sz="1100" b="1" i="0">
                <a:solidFill>
                  <a:srgbClr val="FFFFFF"/>
                </a:solidFill>
                <a:latin typeface="Arial"/>
              </a:rPr>
              <a:t>2</a:t>
            </a:r>
          </a:p>
        </p:txBody>
      </p:sp>
      <p:sp>
        <p:nvSpPr>
          <p:cNvPr id="16" name="TextBox 15"/>
          <p:cNvSpPr txBox="1"/>
          <p:nvPr/>
        </p:nvSpPr>
        <p:spPr>
          <a:xfrm>
            <a:off x="5358384" y="2020824"/>
            <a:ext cx="1188720" cy="256032"/>
          </a:xfrm>
          <a:prstGeom prst="rect">
            <a:avLst/>
          </a:prstGeom>
          <a:noFill/>
        </p:spPr>
        <p:txBody>
          <a:bodyPr wrap="square" anchor="t" lIns="0" rIns="0" tIns="0" bIns="0">
            <a:spAutoFit/>
          </a:bodyPr>
          <a:lstStyle/>
          <a:p>
            <a:pPr algn="l"/>
            <a:r>
              <a:rPr sz="1250" b="1" i="0">
                <a:solidFill>
                  <a:srgbClr val="1A1A1A"/>
                </a:solidFill>
                <a:latin typeface="Arial"/>
              </a:rPr>
              <a:t>Indexação</a:t>
            </a:r>
          </a:p>
        </p:txBody>
      </p:sp>
      <p:sp>
        <p:nvSpPr>
          <p:cNvPr id="17" name="TextBox 16"/>
          <p:cNvSpPr txBox="1"/>
          <p:nvPr/>
        </p:nvSpPr>
        <p:spPr>
          <a:xfrm>
            <a:off x="6583680" y="2039112"/>
            <a:ext cx="1993392" cy="274320"/>
          </a:xfrm>
          <a:prstGeom prst="rect">
            <a:avLst/>
          </a:prstGeom>
          <a:noFill/>
        </p:spPr>
        <p:txBody>
          <a:bodyPr wrap="square" anchor="t" lIns="0" rIns="0" tIns="0" bIns="0">
            <a:spAutoFit/>
          </a:bodyPr>
          <a:lstStyle/>
          <a:p>
            <a:pPr algn="l">
              <a:lnSpc>
                <a:spcPct val="105000"/>
              </a:lnSpc>
            </a:pPr>
            <a:r>
              <a:rPr sz="1050" b="0" i="0">
                <a:solidFill>
                  <a:srgbClr val="4A4A4A"/>
                </a:solidFill>
                <a:latin typeface="Arial"/>
              </a:rPr>
              <a:t>Gerar vetores e metadados no índice local.</a:t>
            </a:r>
          </a:p>
        </p:txBody>
      </p:sp>
      <p:sp>
        <p:nvSpPr>
          <p:cNvPr id="18" name="Oval 17"/>
          <p:cNvSpPr/>
          <p:nvPr/>
        </p:nvSpPr>
        <p:spPr>
          <a:xfrm>
            <a:off x="4956048" y="2596896"/>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4956048" y="2642616"/>
            <a:ext cx="274320" cy="219456"/>
          </a:xfrm>
          <a:prstGeom prst="rect">
            <a:avLst/>
          </a:prstGeom>
          <a:noFill/>
        </p:spPr>
        <p:txBody>
          <a:bodyPr wrap="square" anchor="t" lIns="0" rIns="0" tIns="0" bIns="0">
            <a:spAutoFit/>
          </a:bodyPr>
          <a:lstStyle/>
          <a:p>
            <a:pPr algn="ctr"/>
            <a:r>
              <a:rPr sz="1100" b="1" i="0">
                <a:solidFill>
                  <a:srgbClr val="FFFFFF"/>
                </a:solidFill>
                <a:latin typeface="Arial"/>
              </a:rPr>
              <a:t>3</a:t>
            </a:r>
          </a:p>
        </p:txBody>
      </p:sp>
      <p:sp>
        <p:nvSpPr>
          <p:cNvPr id="20" name="TextBox 19"/>
          <p:cNvSpPr txBox="1"/>
          <p:nvPr/>
        </p:nvSpPr>
        <p:spPr>
          <a:xfrm>
            <a:off x="5358384" y="2551176"/>
            <a:ext cx="1188720" cy="256032"/>
          </a:xfrm>
          <a:prstGeom prst="rect">
            <a:avLst/>
          </a:prstGeom>
          <a:noFill/>
        </p:spPr>
        <p:txBody>
          <a:bodyPr wrap="square" anchor="t" lIns="0" rIns="0" tIns="0" bIns="0">
            <a:spAutoFit/>
          </a:bodyPr>
          <a:lstStyle/>
          <a:p>
            <a:pPr algn="l"/>
            <a:r>
              <a:rPr sz="1250" b="1" i="0">
                <a:solidFill>
                  <a:srgbClr val="1A1A1A"/>
                </a:solidFill>
                <a:latin typeface="Arial"/>
              </a:rPr>
              <a:t>Recuperação</a:t>
            </a:r>
          </a:p>
        </p:txBody>
      </p:sp>
      <p:sp>
        <p:nvSpPr>
          <p:cNvPr id="21" name="TextBox 20"/>
          <p:cNvSpPr txBox="1"/>
          <p:nvPr/>
        </p:nvSpPr>
        <p:spPr>
          <a:xfrm>
            <a:off x="6583680" y="2569464"/>
            <a:ext cx="1993392" cy="274320"/>
          </a:xfrm>
          <a:prstGeom prst="rect">
            <a:avLst/>
          </a:prstGeom>
          <a:noFill/>
        </p:spPr>
        <p:txBody>
          <a:bodyPr wrap="square" anchor="t" lIns="0" rIns="0" tIns="0" bIns="0">
            <a:spAutoFit/>
          </a:bodyPr>
          <a:lstStyle/>
          <a:p>
            <a:pPr algn="l">
              <a:lnSpc>
                <a:spcPct val="105000"/>
              </a:lnSpc>
            </a:pPr>
            <a:r>
              <a:rPr sz="1050" b="0" i="0">
                <a:solidFill>
                  <a:srgbClr val="4A4A4A"/>
                </a:solidFill>
                <a:latin typeface="Arial"/>
              </a:rPr>
              <a:t>Buscar trechos relevantes para a pergunta.</a:t>
            </a:r>
          </a:p>
        </p:txBody>
      </p:sp>
      <p:sp>
        <p:nvSpPr>
          <p:cNvPr id="22" name="Oval 21"/>
          <p:cNvSpPr/>
          <p:nvPr/>
        </p:nvSpPr>
        <p:spPr>
          <a:xfrm>
            <a:off x="4956048" y="3127248"/>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4956048" y="3172968"/>
            <a:ext cx="274320" cy="219456"/>
          </a:xfrm>
          <a:prstGeom prst="rect">
            <a:avLst/>
          </a:prstGeom>
          <a:noFill/>
        </p:spPr>
        <p:txBody>
          <a:bodyPr wrap="square" anchor="t" lIns="0" rIns="0" tIns="0" bIns="0">
            <a:spAutoFit/>
          </a:bodyPr>
          <a:lstStyle/>
          <a:p>
            <a:pPr algn="ctr"/>
            <a:r>
              <a:rPr sz="1100" b="1" i="0">
                <a:solidFill>
                  <a:srgbClr val="FFFFFF"/>
                </a:solidFill>
                <a:latin typeface="Arial"/>
              </a:rPr>
              <a:t>4</a:t>
            </a:r>
          </a:p>
        </p:txBody>
      </p:sp>
      <p:sp>
        <p:nvSpPr>
          <p:cNvPr id="24" name="TextBox 23"/>
          <p:cNvSpPr txBox="1"/>
          <p:nvPr/>
        </p:nvSpPr>
        <p:spPr>
          <a:xfrm>
            <a:off x="5358384" y="3081528"/>
            <a:ext cx="1188720" cy="256032"/>
          </a:xfrm>
          <a:prstGeom prst="rect">
            <a:avLst/>
          </a:prstGeom>
          <a:noFill/>
        </p:spPr>
        <p:txBody>
          <a:bodyPr wrap="square" anchor="t" lIns="0" rIns="0" tIns="0" bIns="0">
            <a:spAutoFit/>
          </a:bodyPr>
          <a:lstStyle/>
          <a:p>
            <a:pPr algn="l"/>
            <a:r>
              <a:rPr sz="1250" b="1" i="0">
                <a:solidFill>
                  <a:srgbClr val="1A1A1A"/>
                </a:solidFill>
                <a:latin typeface="Arial"/>
              </a:rPr>
              <a:t>Geração</a:t>
            </a:r>
          </a:p>
        </p:txBody>
      </p:sp>
      <p:sp>
        <p:nvSpPr>
          <p:cNvPr id="25" name="TextBox 24"/>
          <p:cNvSpPr txBox="1"/>
          <p:nvPr/>
        </p:nvSpPr>
        <p:spPr>
          <a:xfrm>
            <a:off x="6583680" y="3099816"/>
            <a:ext cx="1993392" cy="274320"/>
          </a:xfrm>
          <a:prstGeom prst="rect">
            <a:avLst/>
          </a:prstGeom>
          <a:noFill/>
        </p:spPr>
        <p:txBody>
          <a:bodyPr wrap="square" anchor="t" lIns="0" rIns="0" tIns="0" bIns="0">
            <a:spAutoFit/>
          </a:bodyPr>
          <a:lstStyle/>
          <a:p>
            <a:pPr algn="l">
              <a:lnSpc>
                <a:spcPct val="105000"/>
              </a:lnSpc>
            </a:pPr>
            <a:r>
              <a:rPr sz="1050" b="0" i="0">
                <a:solidFill>
                  <a:srgbClr val="4A4A4A"/>
                </a:solidFill>
                <a:latin typeface="Arial"/>
              </a:rPr>
              <a:t>Escrever a resposta a partir do contexto.</a:t>
            </a:r>
          </a:p>
        </p:txBody>
      </p:sp>
      <p:sp>
        <p:nvSpPr>
          <p:cNvPr id="26" name="Oval 25"/>
          <p:cNvSpPr/>
          <p:nvPr/>
        </p:nvSpPr>
        <p:spPr>
          <a:xfrm>
            <a:off x="4956048" y="3657600"/>
            <a:ext cx="274320" cy="274320"/>
          </a:xfrm>
          <a:prstGeom prst="ellipse">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4956048" y="3703320"/>
            <a:ext cx="274320" cy="219456"/>
          </a:xfrm>
          <a:prstGeom prst="rect">
            <a:avLst/>
          </a:prstGeom>
          <a:noFill/>
        </p:spPr>
        <p:txBody>
          <a:bodyPr wrap="square" anchor="t" lIns="0" rIns="0" tIns="0" bIns="0">
            <a:spAutoFit/>
          </a:bodyPr>
          <a:lstStyle/>
          <a:p>
            <a:pPr algn="ctr"/>
            <a:r>
              <a:rPr sz="1100" b="1" i="0">
                <a:solidFill>
                  <a:srgbClr val="FFFFFF"/>
                </a:solidFill>
                <a:latin typeface="Arial"/>
              </a:rPr>
              <a:t>5</a:t>
            </a:r>
          </a:p>
        </p:txBody>
      </p:sp>
      <p:sp>
        <p:nvSpPr>
          <p:cNvPr id="28" name="TextBox 27"/>
          <p:cNvSpPr txBox="1"/>
          <p:nvPr/>
        </p:nvSpPr>
        <p:spPr>
          <a:xfrm>
            <a:off x="5358384" y="3611880"/>
            <a:ext cx="1188720" cy="256032"/>
          </a:xfrm>
          <a:prstGeom prst="rect">
            <a:avLst/>
          </a:prstGeom>
          <a:noFill/>
        </p:spPr>
        <p:txBody>
          <a:bodyPr wrap="square" anchor="t" lIns="0" rIns="0" tIns="0" bIns="0">
            <a:spAutoFit/>
          </a:bodyPr>
          <a:lstStyle/>
          <a:p>
            <a:pPr algn="l"/>
            <a:r>
              <a:rPr sz="1250" b="1" i="0">
                <a:solidFill>
                  <a:srgbClr val="1A1A1A"/>
                </a:solidFill>
                <a:latin typeface="Arial"/>
              </a:rPr>
              <a:t>Validação</a:t>
            </a:r>
          </a:p>
        </p:txBody>
      </p:sp>
      <p:sp>
        <p:nvSpPr>
          <p:cNvPr id="29" name="TextBox 28"/>
          <p:cNvSpPr txBox="1"/>
          <p:nvPr/>
        </p:nvSpPr>
        <p:spPr>
          <a:xfrm>
            <a:off x="6583680" y="3630168"/>
            <a:ext cx="1993392" cy="274320"/>
          </a:xfrm>
          <a:prstGeom prst="rect">
            <a:avLst/>
          </a:prstGeom>
          <a:noFill/>
        </p:spPr>
        <p:txBody>
          <a:bodyPr wrap="square" anchor="t" lIns="0" rIns="0" tIns="0" bIns="0">
            <a:spAutoFit/>
          </a:bodyPr>
          <a:lstStyle/>
          <a:p>
            <a:pPr algn="l">
              <a:lnSpc>
                <a:spcPct val="105000"/>
              </a:lnSpc>
            </a:pPr>
            <a:r>
              <a:rPr sz="1050" b="0" i="0">
                <a:solidFill>
                  <a:srgbClr val="4A4A4A"/>
                </a:solidFill>
                <a:latin typeface="Arial"/>
              </a:rPr>
              <a:t>Conferir os números contra o dado recuperado.</a:t>
            </a:r>
          </a:p>
        </p:txBody>
      </p:sp>
      <p:sp>
        <p:nvSpPr>
          <p:cNvPr id="30" name="TextBox 29"/>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Dificuldades e gargalos encontrados</a:t>
            </a:r>
          </a:p>
        </p:txBody>
      </p:sp>
      <p:sp>
        <p:nvSpPr>
          <p:cNvPr id="3" name="TextBox 2"/>
          <p:cNvSpPr txBox="1"/>
          <p:nvPr/>
        </p:nvSpPr>
        <p:spPr>
          <a:xfrm>
            <a:off x="402336" y="1097280"/>
            <a:ext cx="3291840" cy="256032"/>
          </a:xfrm>
          <a:prstGeom prst="rect">
            <a:avLst/>
          </a:prstGeom>
          <a:noFill/>
        </p:spPr>
        <p:txBody>
          <a:bodyPr wrap="square" anchor="t" lIns="0" rIns="0" tIns="0" bIns="0">
            <a:spAutoFit/>
          </a:bodyPr>
          <a:lstStyle/>
          <a:p>
            <a:pPr algn="l"/>
            <a:r>
              <a:rPr sz="1300" b="1" i="0">
                <a:solidFill>
                  <a:srgbClr val="1A1A1A"/>
                </a:solidFill>
                <a:latin typeface="Arial"/>
              </a:rPr>
              <a:t>A tabela não sobrevive à extração automática</a:t>
            </a:r>
          </a:p>
        </p:txBody>
      </p:sp>
      <p:sp>
        <p:nvSpPr>
          <p:cNvPr id="4" name="Rounded Rectangle 3"/>
          <p:cNvSpPr/>
          <p:nvPr/>
        </p:nvSpPr>
        <p:spPr>
          <a:xfrm>
            <a:off x="3858768" y="1106424"/>
            <a:ext cx="786384" cy="219456"/>
          </a:xfrm>
          <a:prstGeom prst="roundRect">
            <a:avLst>
              <a:gd name="adj" fmla="val 3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3858768" y="1138428"/>
            <a:ext cx="786384" cy="164592"/>
          </a:xfrm>
          <a:prstGeom prst="rect">
            <a:avLst/>
          </a:prstGeom>
          <a:noFill/>
        </p:spPr>
        <p:txBody>
          <a:bodyPr wrap="square" anchor="t" lIns="0" rIns="0" tIns="0" bIns="0">
            <a:spAutoFit/>
          </a:bodyPr>
          <a:lstStyle/>
          <a:p>
            <a:pPr algn="ctr"/>
            <a:r>
              <a:rPr sz="750" b="1" i="0">
                <a:solidFill>
                  <a:srgbClr val="FFFFFF"/>
                </a:solidFill>
                <a:latin typeface="Arial"/>
              </a:rPr>
              <a:t>GARGALO</a:t>
            </a:r>
          </a:p>
        </p:txBody>
      </p:sp>
      <p:sp>
        <p:nvSpPr>
          <p:cNvPr id="6" name="TextBox 5"/>
          <p:cNvSpPr txBox="1"/>
          <p:nvPr/>
        </p:nvSpPr>
        <p:spPr>
          <a:xfrm>
            <a:off x="4754880" y="1088136"/>
            <a:ext cx="3986784" cy="45720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PDFs estatísticos misturam texto e tabela na mesma página. A extração automática precisa de estratégia alternativa quando falha.</a:t>
            </a:r>
          </a:p>
        </p:txBody>
      </p:sp>
      <p:sp>
        <p:nvSpPr>
          <p:cNvPr id="7" name="Rectangle 6"/>
          <p:cNvSpPr/>
          <p:nvPr/>
        </p:nvSpPr>
        <p:spPr>
          <a:xfrm>
            <a:off x="402336" y="1645920"/>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755648"/>
            <a:ext cx="3291840" cy="256032"/>
          </a:xfrm>
          <a:prstGeom prst="rect">
            <a:avLst/>
          </a:prstGeom>
          <a:noFill/>
        </p:spPr>
        <p:txBody>
          <a:bodyPr wrap="square" anchor="t" lIns="0" rIns="0" tIns="0" bIns="0">
            <a:spAutoFit/>
          </a:bodyPr>
          <a:lstStyle/>
          <a:p>
            <a:pPr algn="l"/>
            <a:r>
              <a:rPr sz="1300" b="1" i="0">
                <a:solidFill>
                  <a:srgbClr val="1A1A1A"/>
                </a:solidFill>
                <a:latin typeface="Arial"/>
              </a:rPr>
              <a:t>O número não tem período nem unidade</a:t>
            </a:r>
          </a:p>
        </p:txBody>
      </p:sp>
      <p:sp>
        <p:nvSpPr>
          <p:cNvPr id="9" name="Rounded Rectangle 8"/>
          <p:cNvSpPr/>
          <p:nvPr/>
        </p:nvSpPr>
        <p:spPr>
          <a:xfrm>
            <a:off x="3858768" y="1764792"/>
            <a:ext cx="786384" cy="219456"/>
          </a:xfrm>
          <a:prstGeom prst="roundRect">
            <a:avLst>
              <a:gd name="adj" fmla="val 3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858768" y="1796796"/>
            <a:ext cx="786384" cy="164592"/>
          </a:xfrm>
          <a:prstGeom prst="rect">
            <a:avLst/>
          </a:prstGeom>
          <a:noFill/>
        </p:spPr>
        <p:txBody>
          <a:bodyPr wrap="square" anchor="t" lIns="0" rIns="0" tIns="0" bIns="0">
            <a:spAutoFit/>
          </a:bodyPr>
          <a:lstStyle/>
          <a:p>
            <a:pPr algn="ctr"/>
            <a:r>
              <a:rPr sz="750" b="1" i="0">
                <a:solidFill>
                  <a:srgbClr val="FFFFFF"/>
                </a:solidFill>
                <a:latin typeface="Arial"/>
              </a:rPr>
              <a:t>GARGALO</a:t>
            </a:r>
          </a:p>
        </p:txBody>
      </p:sp>
      <p:sp>
        <p:nvSpPr>
          <p:cNvPr id="11" name="TextBox 10"/>
          <p:cNvSpPr txBox="1"/>
          <p:nvPr/>
        </p:nvSpPr>
        <p:spPr>
          <a:xfrm>
            <a:off x="4754880" y="1746504"/>
            <a:ext cx="3986784" cy="45720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Um valor sem trimestre, sem recorte geográfico e sem unidade é um valor errado do ponto de vista estatístico.</a:t>
            </a:r>
          </a:p>
        </p:txBody>
      </p:sp>
      <p:sp>
        <p:nvSpPr>
          <p:cNvPr id="12" name="Rectangle 11"/>
          <p:cNvSpPr/>
          <p:nvPr/>
        </p:nvSpPr>
        <p:spPr>
          <a:xfrm>
            <a:off x="402336" y="2304288"/>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414016"/>
            <a:ext cx="3291840" cy="256032"/>
          </a:xfrm>
          <a:prstGeom prst="rect">
            <a:avLst/>
          </a:prstGeom>
          <a:noFill/>
        </p:spPr>
        <p:txBody>
          <a:bodyPr wrap="square" anchor="t" lIns="0" rIns="0" tIns="0" bIns="0">
            <a:spAutoFit/>
          </a:bodyPr>
          <a:lstStyle/>
          <a:p>
            <a:pPr algn="l"/>
            <a:r>
              <a:rPr sz="1300" b="1" i="0">
                <a:solidFill>
                  <a:srgbClr val="1A1A1A"/>
                </a:solidFill>
                <a:latin typeface="Arial"/>
              </a:rPr>
              <a:t>O vocabulário da pergunta não é o do boletim</a:t>
            </a:r>
          </a:p>
        </p:txBody>
      </p:sp>
      <p:sp>
        <p:nvSpPr>
          <p:cNvPr id="14" name="Rounded Rectangle 13"/>
          <p:cNvSpPr/>
          <p:nvPr/>
        </p:nvSpPr>
        <p:spPr>
          <a:xfrm>
            <a:off x="3858768" y="2423160"/>
            <a:ext cx="786384" cy="219456"/>
          </a:xfrm>
          <a:prstGeom prst="roundRect">
            <a:avLst>
              <a:gd name="adj" fmla="val 3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858768" y="2455164"/>
            <a:ext cx="786384" cy="164592"/>
          </a:xfrm>
          <a:prstGeom prst="rect">
            <a:avLst/>
          </a:prstGeom>
          <a:noFill/>
        </p:spPr>
        <p:txBody>
          <a:bodyPr wrap="square" anchor="t" lIns="0" rIns="0" tIns="0" bIns="0">
            <a:spAutoFit/>
          </a:bodyPr>
          <a:lstStyle/>
          <a:p>
            <a:pPr algn="ctr"/>
            <a:r>
              <a:rPr sz="750" b="1" i="0">
                <a:solidFill>
                  <a:srgbClr val="FFFFFF"/>
                </a:solidFill>
                <a:latin typeface="Arial"/>
              </a:rPr>
              <a:t>GARGALO</a:t>
            </a:r>
          </a:p>
        </p:txBody>
      </p:sp>
      <p:sp>
        <p:nvSpPr>
          <p:cNvPr id="16" name="TextBox 15"/>
          <p:cNvSpPr txBox="1"/>
          <p:nvPr/>
        </p:nvSpPr>
        <p:spPr>
          <a:xfrm>
            <a:off x="4754880" y="2404872"/>
            <a:ext cx="3986784" cy="45720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A busca literal falha quando o usuário escreve “desemprego” e o documento escreve “taxa de desocupação”.</a:t>
            </a:r>
          </a:p>
        </p:txBody>
      </p:sp>
      <p:sp>
        <p:nvSpPr>
          <p:cNvPr id="17" name="Rectangle 16"/>
          <p:cNvSpPr/>
          <p:nvPr/>
        </p:nvSpPr>
        <p:spPr>
          <a:xfrm>
            <a:off x="402336" y="2962656"/>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2336" y="3072384"/>
            <a:ext cx="3291840" cy="256032"/>
          </a:xfrm>
          <a:prstGeom prst="rect">
            <a:avLst/>
          </a:prstGeom>
          <a:noFill/>
        </p:spPr>
        <p:txBody>
          <a:bodyPr wrap="square" anchor="t" lIns="0" rIns="0" tIns="0" bIns="0">
            <a:spAutoFit/>
          </a:bodyPr>
          <a:lstStyle/>
          <a:p>
            <a:pPr algn="l"/>
            <a:r>
              <a:rPr sz="1300" b="1" i="0">
                <a:solidFill>
                  <a:srgbClr val="1A1A1A"/>
                </a:solidFill>
                <a:latin typeface="Arial"/>
              </a:rPr>
              <a:t>O acervo tem inconsistências de nomenclatura</a:t>
            </a:r>
          </a:p>
        </p:txBody>
      </p:sp>
      <p:sp>
        <p:nvSpPr>
          <p:cNvPr id="19" name="Rounded Rectangle 18"/>
          <p:cNvSpPr/>
          <p:nvPr/>
        </p:nvSpPr>
        <p:spPr>
          <a:xfrm>
            <a:off x="3858768" y="3081528"/>
            <a:ext cx="786384" cy="219456"/>
          </a:xfrm>
          <a:prstGeom prst="roundRect">
            <a:avLst>
              <a:gd name="adj" fmla="val 3000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58768" y="3113532"/>
            <a:ext cx="786384" cy="164592"/>
          </a:xfrm>
          <a:prstGeom prst="rect">
            <a:avLst/>
          </a:prstGeom>
          <a:noFill/>
        </p:spPr>
        <p:txBody>
          <a:bodyPr wrap="square" anchor="t" lIns="0" rIns="0" tIns="0" bIns="0">
            <a:spAutoFit/>
          </a:bodyPr>
          <a:lstStyle/>
          <a:p>
            <a:pPr algn="ctr"/>
            <a:r>
              <a:rPr sz="750" b="1" i="0">
                <a:solidFill>
                  <a:srgbClr val="FFFFFF"/>
                </a:solidFill>
                <a:latin typeface="Arial"/>
              </a:rPr>
              <a:t>RISCO</a:t>
            </a:r>
          </a:p>
        </p:txBody>
      </p:sp>
      <p:sp>
        <p:nvSpPr>
          <p:cNvPr id="21" name="TextBox 20"/>
          <p:cNvSpPr txBox="1"/>
          <p:nvPr/>
        </p:nvSpPr>
        <p:spPr>
          <a:xfrm>
            <a:off x="4754880" y="3063240"/>
            <a:ext cx="3986784" cy="45720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Há arquivos com o período no nome e outros sem — um deles sem ano. Isso embaralha a recuperação por período.</a:t>
            </a:r>
          </a:p>
        </p:txBody>
      </p:sp>
      <p:sp>
        <p:nvSpPr>
          <p:cNvPr id="22" name="Rectangle 21"/>
          <p:cNvSpPr/>
          <p:nvPr/>
        </p:nvSpPr>
        <p:spPr>
          <a:xfrm>
            <a:off x="402336" y="3621024"/>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3730752"/>
            <a:ext cx="3291840" cy="256032"/>
          </a:xfrm>
          <a:prstGeom prst="rect">
            <a:avLst/>
          </a:prstGeom>
          <a:noFill/>
        </p:spPr>
        <p:txBody>
          <a:bodyPr wrap="square" anchor="t" lIns="0" rIns="0" tIns="0" bIns="0">
            <a:spAutoFit/>
          </a:bodyPr>
          <a:lstStyle/>
          <a:p>
            <a:pPr algn="l"/>
            <a:r>
              <a:rPr sz="1300" b="1" i="0">
                <a:solidFill>
                  <a:srgbClr val="1A1A1A"/>
                </a:solidFill>
                <a:latin typeface="Arial"/>
              </a:rPr>
              <a:t>O tempo de resposta é alto</a:t>
            </a:r>
          </a:p>
        </p:txBody>
      </p:sp>
      <p:sp>
        <p:nvSpPr>
          <p:cNvPr id="24" name="Rounded Rectangle 23"/>
          <p:cNvSpPr/>
          <p:nvPr/>
        </p:nvSpPr>
        <p:spPr>
          <a:xfrm>
            <a:off x="3858768" y="3739896"/>
            <a:ext cx="786384" cy="219456"/>
          </a:xfrm>
          <a:prstGeom prst="roundRect">
            <a:avLst>
              <a:gd name="adj" fmla="val 30000"/>
            </a:avLst>
          </a:prstGeom>
          <a:solidFill>
            <a:srgbClr val="7676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58768" y="3771900"/>
            <a:ext cx="786384" cy="164592"/>
          </a:xfrm>
          <a:prstGeom prst="rect">
            <a:avLst/>
          </a:prstGeom>
          <a:noFill/>
        </p:spPr>
        <p:txBody>
          <a:bodyPr wrap="square" anchor="t" lIns="0" rIns="0" tIns="0" bIns="0">
            <a:spAutoFit/>
          </a:bodyPr>
          <a:lstStyle/>
          <a:p>
            <a:pPr algn="ctr"/>
            <a:r>
              <a:rPr sz="750" b="1" i="0">
                <a:solidFill>
                  <a:srgbClr val="FFFFFF"/>
                </a:solidFill>
                <a:latin typeface="Arial"/>
              </a:rPr>
              <a:t>LIMITE ATUAL</a:t>
            </a:r>
          </a:p>
        </p:txBody>
      </p:sp>
      <p:sp>
        <p:nvSpPr>
          <p:cNvPr id="26" name="TextBox 25"/>
          <p:cNvSpPr txBox="1"/>
          <p:nvPr/>
        </p:nvSpPr>
        <p:spPr>
          <a:xfrm>
            <a:off x="4754880" y="3721608"/>
            <a:ext cx="3986784" cy="45720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As respostas capturadas na demonstração levaram cerca de 40 a 46 segundos. Para uso interativo, isso incomoda.</a:t>
            </a:r>
          </a:p>
        </p:txBody>
      </p:sp>
      <p:sp>
        <p:nvSpPr>
          <p:cNvPr id="27" name="TextBox 26"/>
          <p:cNvSpPr txBox="1"/>
          <p:nvPr/>
        </p:nvSpPr>
        <p:spPr>
          <a:xfrm>
            <a:off x="402336" y="4315968"/>
            <a:ext cx="8339328" cy="292608"/>
          </a:xfrm>
          <a:prstGeom prst="rect">
            <a:avLst/>
          </a:prstGeom>
          <a:noFill/>
        </p:spPr>
        <p:txBody>
          <a:bodyPr wrap="square" anchor="t" lIns="0" rIns="0" tIns="0" bIns="0">
            <a:spAutoFit/>
          </a:bodyPr>
          <a:lstStyle/>
          <a:p>
            <a:pPr algn="l"/>
            <a:r>
              <a:rPr sz="1200" b="0" i="0">
                <a:solidFill>
                  <a:srgbClr val="4A4A4A"/>
                </a:solidFill>
                <a:latin typeface="Arial"/>
              </a:rPr>
              <a:t>Nenhum desses gargalos é de instalação: todos vêm da natureza do acervo estatístico.</a:t>
            </a:r>
          </a:p>
        </p:txBody>
      </p:sp>
      <p:sp>
        <p:nvSpPr>
          <p:cNvPr id="28" name="TextBox 2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risco central: número plausível e errado</a:t>
            </a:r>
          </a:p>
        </p:txBody>
      </p:sp>
      <p:sp>
        <p:nvSpPr>
          <p:cNvPr id="3" name="Rounded Rectangle 2"/>
          <p:cNvSpPr/>
          <p:nvPr/>
        </p:nvSpPr>
        <p:spPr>
          <a:xfrm>
            <a:off x="402336" y="1060704"/>
            <a:ext cx="8339328" cy="603504"/>
          </a:xfrm>
          <a:prstGeom prst="roundRect">
            <a:avLst>
              <a:gd name="adj" fmla="val 5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21792" y="1188720"/>
            <a:ext cx="7900416" cy="365760"/>
          </a:xfrm>
          <a:prstGeom prst="rect">
            <a:avLst/>
          </a:prstGeom>
          <a:noFill/>
        </p:spPr>
        <p:txBody>
          <a:bodyPr wrap="square" anchor="t" lIns="0" rIns="0" tIns="0" bIns="0">
            <a:spAutoFit/>
          </a:bodyPr>
          <a:lstStyle/>
          <a:p>
            <a:pPr algn="l"/>
            <a:r>
              <a:rPr sz="1300" b="1" i="0">
                <a:solidFill>
                  <a:srgbClr val="1B3FA8"/>
                </a:solidFill>
                <a:latin typeface="Arial"/>
              </a:rPr>
              <a:t>Em texto comum, um erro de redação se percebe. Em estatística, um número inventado parece tão correto quanto o verdadeiro.</a:t>
            </a:r>
          </a:p>
        </p:txBody>
      </p:sp>
      <p:sp>
        <p:nvSpPr>
          <p:cNvPr id="5" name="Rounded Rectangle 4"/>
          <p:cNvSpPr/>
          <p:nvPr/>
        </p:nvSpPr>
        <p:spPr>
          <a:xfrm>
            <a:off x="402336" y="1828800"/>
            <a:ext cx="8339328" cy="548640"/>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530352" y="1965960"/>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530352" y="2011680"/>
            <a:ext cx="274320" cy="219456"/>
          </a:xfrm>
          <a:prstGeom prst="rect">
            <a:avLst/>
          </a:prstGeom>
          <a:noFill/>
        </p:spPr>
        <p:txBody>
          <a:bodyPr wrap="square" anchor="t" lIns="0" rIns="0" tIns="0" bIns="0">
            <a:spAutoFit/>
          </a:bodyPr>
          <a:lstStyle/>
          <a:p>
            <a:pPr algn="ctr"/>
            <a:r>
              <a:rPr sz="1100" b="1" i="0">
                <a:solidFill>
                  <a:srgbClr val="FFFFFF"/>
                </a:solidFill>
                <a:latin typeface="Arial"/>
              </a:rPr>
              <a:t>1</a:t>
            </a:r>
          </a:p>
        </p:txBody>
      </p:sp>
      <p:sp>
        <p:nvSpPr>
          <p:cNvPr id="8" name="TextBox 7"/>
          <p:cNvSpPr txBox="1"/>
          <p:nvPr/>
        </p:nvSpPr>
        <p:spPr>
          <a:xfrm>
            <a:off x="932688" y="1975104"/>
            <a:ext cx="2377440" cy="274320"/>
          </a:xfrm>
          <a:prstGeom prst="rect">
            <a:avLst/>
          </a:prstGeom>
          <a:noFill/>
        </p:spPr>
        <p:txBody>
          <a:bodyPr wrap="square" anchor="t" lIns="0" rIns="0" tIns="0" bIns="0">
            <a:spAutoFit/>
          </a:bodyPr>
          <a:lstStyle/>
          <a:p>
            <a:pPr algn="l"/>
            <a:r>
              <a:rPr sz="1250" b="1" i="0">
                <a:solidFill>
                  <a:srgbClr val="1A1A1A"/>
                </a:solidFill>
                <a:latin typeface="Arial"/>
              </a:rPr>
              <a:t>O prompt proíbe inventar</a:t>
            </a:r>
          </a:p>
        </p:txBody>
      </p:sp>
      <p:sp>
        <p:nvSpPr>
          <p:cNvPr id="9" name="TextBox 8"/>
          <p:cNvSpPr txBox="1"/>
          <p:nvPr/>
        </p:nvSpPr>
        <p:spPr>
          <a:xfrm>
            <a:off x="3419856" y="1920240"/>
            <a:ext cx="5138928"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A instrução ao modelo exige citar arquivo e página, e proíbe criar dado que não esteja no contexto recuperado.</a:t>
            </a:r>
          </a:p>
        </p:txBody>
      </p:sp>
      <p:sp>
        <p:nvSpPr>
          <p:cNvPr id="10" name="Rounded Rectangle 9"/>
          <p:cNvSpPr/>
          <p:nvPr/>
        </p:nvSpPr>
        <p:spPr>
          <a:xfrm>
            <a:off x="402336" y="2432304"/>
            <a:ext cx="8339328" cy="548640"/>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30352" y="2569464"/>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530352" y="2615184"/>
            <a:ext cx="274320" cy="219456"/>
          </a:xfrm>
          <a:prstGeom prst="rect">
            <a:avLst/>
          </a:prstGeom>
          <a:noFill/>
        </p:spPr>
        <p:txBody>
          <a:bodyPr wrap="square" anchor="t" lIns="0" rIns="0" tIns="0" bIns="0">
            <a:spAutoFit/>
          </a:bodyPr>
          <a:lstStyle/>
          <a:p>
            <a:pPr algn="ctr"/>
            <a:r>
              <a:rPr sz="1100" b="1" i="0">
                <a:solidFill>
                  <a:srgbClr val="FFFFFF"/>
                </a:solidFill>
                <a:latin typeface="Arial"/>
              </a:rPr>
              <a:t>2</a:t>
            </a:r>
          </a:p>
        </p:txBody>
      </p:sp>
      <p:sp>
        <p:nvSpPr>
          <p:cNvPr id="13" name="TextBox 12"/>
          <p:cNvSpPr txBox="1"/>
          <p:nvPr/>
        </p:nvSpPr>
        <p:spPr>
          <a:xfrm>
            <a:off x="932688" y="2578608"/>
            <a:ext cx="2377440" cy="274320"/>
          </a:xfrm>
          <a:prstGeom prst="rect">
            <a:avLst/>
          </a:prstGeom>
          <a:noFill/>
        </p:spPr>
        <p:txBody>
          <a:bodyPr wrap="square" anchor="t" lIns="0" rIns="0" tIns="0" bIns="0">
            <a:spAutoFit/>
          </a:bodyPr>
          <a:lstStyle/>
          <a:p>
            <a:pPr algn="l"/>
            <a:r>
              <a:rPr sz="1250" b="1" i="0">
                <a:solidFill>
                  <a:srgbClr val="1A1A1A"/>
                </a:solidFill>
                <a:latin typeface="Arial"/>
              </a:rPr>
              <a:t>Os metadados de origem acompanham o trecho</a:t>
            </a:r>
          </a:p>
        </p:txBody>
      </p:sp>
      <p:sp>
        <p:nvSpPr>
          <p:cNvPr id="14" name="TextBox 13"/>
          <p:cNvSpPr txBox="1"/>
          <p:nvPr/>
        </p:nvSpPr>
        <p:spPr>
          <a:xfrm>
            <a:off x="3419856" y="2523744"/>
            <a:ext cx="5138928"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Cada trecho carrega o arquivo e a página desde a preparação, o que torna a citação verificável.</a:t>
            </a:r>
          </a:p>
        </p:txBody>
      </p:sp>
      <p:sp>
        <p:nvSpPr>
          <p:cNvPr id="15" name="Rounded Rectangle 14"/>
          <p:cNvSpPr/>
          <p:nvPr/>
        </p:nvSpPr>
        <p:spPr>
          <a:xfrm>
            <a:off x="402336" y="3035808"/>
            <a:ext cx="8339328" cy="548640"/>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530352" y="3172968"/>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530352" y="3218688"/>
            <a:ext cx="274320" cy="219456"/>
          </a:xfrm>
          <a:prstGeom prst="rect">
            <a:avLst/>
          </a:prstGeom>
          <a:noFill/>
        </p:spPr>
        <p:txBody>
          <a:bodyPr wrap="square" anchor="t" lIns="0" rIns="0" tIns="0" bIns="0">
            <a:spAutoFit/>
          </a:bodyPr>
          <a:lstStyle/>
          <a:p>
            <a:pPr algn="ctr"/>
            <a:r>
              <a:rPr sz="1100" b="1" i="0">
                <a:solidFill>
                  <a:srgbClr val="FFFFFF"/>
                </a:solidFill>
                <a:latin typeface="Arial"/>
              </a:rPr>
              <a:t>3</a:t>
            </a:r>
          </a:p>
        </p:txBody>
      </p:sp>
      <p:sp>
        <p:nvSpPr>
          <p:cNvPr id="18" name="TextBox 17"/>
          <p:cNvSpPr txBox="1"/>
          <p:nvPr/>
        </p:nvSpPr>
        <p:spPr>
          <a:xfrm>
            <a:off x="932688" y="3182112"/>
            <a:ext cx="2377440" cy="274320"/>
          </a:xfrm>
          <a:prstGeom prst="rect">
            <a:avLst/>
          </a:prstGeom>
          <a:noFill/>
        </p:spPr>
        <p:txBody>
          <a:bodyPr wrap="square" anchor="t" lIns="0" rIns="0" tIns="0" bIns="0">
            <a:spAutoFit/>
          </a:bodyPr>
          <a:lstStyle/>
          <a:p>
            <a:pPr algn="l"/>
            <a:r>
              <a:rPr sz="1250" b="1" i="0">
                <a:solidFill>
                  <a:srgbClr val="1A1A1A"/>
                </a:solidFill>
                <a:latin typeface="Arial"/>
              </a:rPr>
              <a:t>A validação numérica confere a resposta</a:t>
            </a:r>
          </a:p>
        </p:txBody>
      </p:sp>
      <p:sp>
        <p:nvSpPr>
          <p:cNvPr id="19" name="TextBox 18"/>
          <p:cNvSpPr txBox="1"/>
          <p:nvPr/>
        </p:nvSpPr>
        <p:spPr>
          <a:xfrm>
            <a:off x="3419856" y="3127248"/>
            <a:ext cx="5138928"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Os números que aparecem na resposta são comparados com os números presentes nos trechos recuperados.</a:t>
            </a:r>
          </a:p>
        </p:txBody>
      </p:sp>
      <p:sp>
        <p:nvSpPr>
          <p:cNvPr id="20" name="Rounded Rectangle 19"/>
          <p:cNvSpPr/>
          <p:nvPr/>
        </p:nvSpPr>
        <p:spPr>
          <a:xfrm>
            <a:off x="402336" y="3639312"/>
            <a:ext cx="8339328" cy="548640"/>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530352" y="3776472"/>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530352" y="3822192"/>
            <a:ext cx="274320" cy="219456"/>
          </a:xfrm>
          <a:prstGeom prst="rect">
            <a:avLst/>
          </a:prstGeom>
          <a:noFill/>
        </p:spPr>
        <p:txBody>
          <a:bodyPr wrap="square" anchor="t" lIns="0" rIns="0" tIns="0" bIns="0">
            <a:spAutoFit/>
          </a:bodyPr>
          <a:lstStyle/>
          <a:p>
            <a:pPr algn="ctr"/>
            <a:r>
              <a:rPr sz="1100" b="1" i="0">
                <a:solidFill>
                  <a:srgbClr val="FFFFFF"/>
                </a:solidFill>
                <a:latin typeface="Arial"/>
              </a:rPr>
              <a:t>4</a:t>
            </a:r>
          </a:p>
        </p:txBody>
      </p:sp>
      <p:sp>
        <p:nvSpPr>
          <p:cNvPr id="23" name="TextBox 22"/>
          <p:cNvSpPr txBox="1"/>
          <p:nvPr/>
        </p:nvSpPr>
        <p:spPr>
          <a:xfrm>
            <a:off x="932688" y="3785616"/>
            <a:ext cx="2377440" cy="274320"/>
          </a:xfrm>
          <a:prstGeom prst="rect">
            <a:avLst/>
          </a:prstGeom>
          <a:noFill/>
        </p:spPr>
        <p:txBody>
          <a:bodyPr wrap="square" anchor="t" lIns="0" rIns="0" tIns="0" bIns="0">
            <a:spAutoFit/>
          </a:bodyPr>
          <a:lstStyle/>
          <a:p>
            <a:pPr algn="l"/>
            <a:r>
              <a:rPr sz="1250" b="1" i="0">
                <a:solidFill>
                  <a:srgbClr val="1A1A1A"/>
                </a:solidFill>
                <a:latin typeface="Arial"/>
              </a:rPr>
              <a:t>A pergunta fora do escopo pode ser recusada</a:t>
            </a:r>
          </a:p>
        </p:txBody>
      </p:sp>
      <p:sp>
        <p:nvSpPr>
          <p:cNvPr id="24" name="TextBox 23"/>
          <p:cNvSpPr txBox="1"/>
          <p:nvPr/>
        </p:nvSpPr>
        <p:spPr>
          <a:xfrm>
            <a:off x="3419856" y="3730752"/>
            <a:ext cx="5138928"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Há um conjunto de perguntas adversariais, fora do acervo, justamente para observar o comportamento de recusa.</a:t>
            </a:r>
          </a:p>
        </p:txBody>
      </p:sp>
      <p:sp>
        <p:nvSpPr>
          <p:cNvPr id="25" name="TextBox 24"/>
          <p:cNvSpPr txBox="1"/>
          <p:nvPr/>
        </p:nvSpPr>
        <p:spPr>
          <a:xfrm>
            <a:off x="402336" y="4261104"/>
            <a:ext cx="8339328" cy="292608"/>
          </a:xfrm>
          <a:prstGeom prst="rect">
            <a:avLst/>
          </a:prstGeom>
          <a:noFill/>
        </p:spPr>
        <p:txBody>
          <a:bodyPr wrap="square" anchor="t" lIns="0" rIns="0" tIns="0" bIns="0">
            <a:spAutoFit/>
          </a:bodyPr>
          <a:lstStyle/>
          <a:p>
            <a:pPr algn="l"/>
            <a:r>
              <a:rPr sz="1150" b="0" i="0">
                <a:solidFill>
                  <a:srgbClr val="4A4A4A"/>
                </a:solidFill>
                <a:latin typeface="Arial"/>
              </a:rPr>
              <a:t>Limite honesto: a validação numérica é uma checagem automática, não uma auditoria. A revisão humana das fontes continua necessária.</a:t>
            </a:r>
          </a:p>
        </p:txBody>
      </p:sp>
      <p:sp>
        <p:nvSpPr>
          <p:cNvPr id="26" name="TextBox 25"/>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Acertos e decisões que mudaram o rumo</a:t>
            </a:r>
          </a:p>
        </p:txBody>
      </p:sp>
      <p:sp>
        <p:nvSpPr>
          <p:cNvPr id="3" name="Oval 2"/>
          <p:cNvSpPr/>
          <p:nvPr/>
        </p:nvSpPr>
        <p:spPr>
          <a:xfrm>
            <a:off x="420624" y="1152144"/>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420624" y="1179576"/>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5" name="TextBox 4"/>
          <p:cNvSpPr txBox="1"/>
          <p:nvPr/>
        </p:nvSpPr>
        <p:spPr>
          <a:xfrm>
            <a:off x="768096" y="1088136"/>
            <a:ext cx="2788920" cy="256032"/>
          </a:xfrm>
          <a:prstGeom prst="rect">
            <a:avLst/>
          </a:prstGeom>
          <a:noFill/>
        </p:spPr>
        <p:txBody>
          <a:bodyPr wrap="square" anchor="t" lIns="0" rIns="0" tIns="0" bIns="0">
            <a:spAutoFit/>
          </a:bodyPr>
          <a:lstStyle/>
          <a:p>
            <a:pPr algn="l"/>
            <a:r>
              <a:rPr sz="1250" b="1" i="0">
                <a:solidFill>
                  <a:srgbClr val="1A1A1A"/>
                </a:solidFill>
                <a:latin typeface="Arial"/>
              </a:rPr>
              <a:t>Separar texto, tabela e série</a:t>
            </a:r>
          </a:p>
        </p:txBody>
      </p:sp>
      <p:sp>
        <p:nvSpPr>
          <p:cNvPr id="6" name="TextBox 5"/>
          <p:cNvSpPr txBox="1"/>
          <p:nvPr/>
        </p:nvSpPr>
        <p:spPr>
          <a:xfrm>
            <a:off x="768096" y="1335024"/>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Cada formato tem um recuperador próprio, em vez de tratar tudo como texto.</a:t>
            </a:r>
          </a:p>
        </p:txBody>
      </p:sp>
      <p:sp>
        <p:nvSpPr>
          <p:cNvPr id="7" name="TextBox 6"/>
          <p:cNvSpPr txBox="1"/>
          <p:nvPr/>
        </p:nvSpPr>
        <p:spPr>
          <a:xfrm>
            <a:off x="3803904" y="1152144"/>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Foi a decisão de maior impacto sobre a qualidade das respostas.</a:t>
            </a:r>
          </a:p>
        </p:txBody>
      </p:sp>
      <p:sp>
        <p:nvSpPr>
          <p:cNvPr id="8" name="Rectangle 7"/>
          <p:cNvSpPr/>
          <p:nvPr/>
        </p:nvSpPr>
        <p:spPr>
          <a:xfrm>
            <a:off x="402336" y="1682496"/>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0624" y="1737360"/>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420624" y="1764792"/>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11" name="TextBox 10"/>
          <p:cNvSpPr txBox="1"/>
          <p:nvPr/>
        </p:nvSpPr>
        <p:spPr>
          <a:xfrm>
            <a:off x="768096" y="1673352"/>
            <a:ext cx="2788920" cy="256032"/>
          </a:xfrm>
          <a:prstGeom prst="rect">
            <a:avLst/>
          </a:prstGeom>
          <a:noFill/>
        </p:spPr>
        <p:txBody>
          <a:bodyPr wrap="square" anchor="t" lIns="0" rIns="0" tIns="0" bIns="0">
            <a:spAutoFit/>
          </a:bodyPr>
          <a:lstStyle/>
          <a:p>
            <a:pPr algn="l"/>
            <a:r>
              <a:rPr sz="1250" b="1" i="0">
                <a:solidFill>
                  <a:srgbClr val="1A1A1A"/>
                </a:solidFill>
                <a:latin typeface="Arial"/>
              </a:rPr>
              <a:t>Combinar duas formas de busca</a:t>
            </a:r>
          </a:p>
        </p:txBody>
      </p:sp>
      <p:sp>
        <p:nvSpPr>
          <p:cNvPr id="12" name="TextBox 11"/>
          <p:cNvSpPr txBox="1"/>
          <p:nvPr/>
        </p:nvSpPr>
        <p:spPr>
          <a:xfrm>
            <a:off x="768096" y="1920240"/>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Semelhança de significado e palavras-chave, com reordenação dos resultados.</a:t>
            </a:r>
          </a:p>
        </p:txBody>
      </p:sp>
      <p:sp>
        <p:nvSpPr>
          <p:cNvPr id="13" name="TextBox 12"/>
          <p:cNvSpPr txBox="1"/>
          <p:nvPr/>
        </p:nvSpPr>
        <p:spPr>
          <a:xfrm>
            <a:off x="3803904" y="1737360"/>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Cobre simultaneamente siglas e sinônimos.</a:t>
            </a:r>
          </a:p>
        </p:txBody>
      </p:sp>
      <p:sp>
        <p:nvSpPr>
          <p:cNvPr id="14" name="Rectangle 13"/>
          <p:cNvSpPr/>
          <p:nvPr/>
        </p:nvSpPr>
        <p:spPr>
          <a:xfrm>
            <a:off x="402336" y="2267712"/>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20624" y="2322576"/>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420624" y="2350008"/>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17" name="TextBox 16"/>
          <p:cNvSpPr txBox="1"/>
          <p:nvPr/>
        </p:nvSpPr>
        <p:spPr>
          <a:xfrm>
            <a:off x="768096" y="2258568"/>
            <a:ext cx="2788920" cy="256032"/>
          </a:xfrm>
          <a:prstGeom prst="rect">
            <a:avLst/>
          </a:prstGeom>
          <a:noFill/>
        </p:spPr>
        <p:txBody>
          <a:bodyPr wrap="square" anchor="t" lIns="0" rIns="0" tIns="0" bIns="0">
            <a:spAutoFit/>
          </a:bodyPr>
          <a:lstStyle/>
          <a:p>
            <a:pPr algn="l"/>
            <a:r>
              <a:rPr sz="1250" b="1" i="0">
                <a:solidFill>
                  <a:srgbClr val="1A1A1A"/>
                </a:solidFill>
                <a:latin typeface="Arial"/>
              </a:rPr>
              <a:t>Reescrever a pergunta antes de buscar</a:t>
            </a:r>
          </a:p>
        </p:txBody>
      </p:sp>
      <p:sp>
        <p:nvSpPr>
          <p:cNvPr id="18" name="TextBox 17"/>
          <p:cNvSpPr txBox="1"/>
          <p:nvPr/>
        </p:nvSpPr>
        <p:spPr>
          <a:xfrm>
            <a:off x="768096" y="2505456"/>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A pergunta é interpretada e traduzida para o vocabulário do acervo.</a:t>
            </a:r>
          </a:p>
        </p:txBody>
      </p:sp>
      <p:sp>
        <p:nvSpPr>
          <p:cNvPr id="19" name="TextBox 18"/>
          <p:cNvSpPr txBox="1"/>
          <p:nvPr/>
        </p:nvSpPr>
        <p:spPr>
          <a:xfrm>
            <a:off x="3803904" y="2322576"/>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Reduz buscas vazias e respostas fora do período.</a:t>
            </a:r>
          </a:p>
        </p:txBody>
      </p:sp>
      <p:sp>
        <p:nvSpPr>
          <p:cNvPr id="20" name="Rectangle 19"/>
          <p:cNvSpPr/>
          <p:nvPr/>
        </p:nvSpPr>
        <p:spPr>
          <a:xfrm>
            <a:off x="402336" y="2852928"/>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20624" y="2907792"/>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420624" y="2935224"/>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23" name="TextBox 22"/>
          <p:cNvSpPr txBox="1"/>
          <p:nvPr/>
        </p:nvSpPr>
        <p:spPr>
          <a:xfrm>
            <a:off x="768096" y="2843784"/>
            <a:ext cx="2788920" cy="256032"/>
          </a:xfrm>
          <a:prstGeom prst="rect">
            <a:avLst/>
          </a:prstGeom>
          <a:noFill/>
        </p:spPr>
        <p:txBody>
          <a:bodyPr wrap="square" anchor="t" lIns="0" rIns="0" tIns="0" bIns="0">
            <a:spAutoFit/>
          </a:bodyPr>
          <a:lstStyle/>
          <a:p>
            <a:pPr algn="l"/>
            <a:r>
              <a:rPr sz="1250" b="1" i="0">
                <a:solidFill>
                  <a:srgbClr val="1A1A1A"/>
                </a:solidFill>
                <a:latin typeface="Arial"/>
              </a:rPr>
              <a:t>Separar a etapa de validação</a:t>
            </a:r>
          </a:p>
        </p:txBody>
      </p:sp>
      <p:sp>
        <p:nvSpPr>
          <p:cNvPr id="24" name="TextBox 23"/>
          <p:cNvSpPr txBox="1"/>
          <p:nvPr/>
        </p:nvSpPr>
        <p:spPr>
          <a:xfrm>
            <a:off x="768096" y="3090672"/>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A conferência numérica é um passo próprio do fluxo, não um detalhe do prompt.</a:t>
            </a:r>
          </a:p>
        </p:txBody>
      </p:sp>
      <p:sp>
        <p:nvSpPr>
          <p:cNvPr id="25" name="TextBox 24"/>
          <p:cNvSpPr txBox="1"/>
          <p:nvPr/>
        </p:nvSpPr>
        <p:spPr>
          <a:xfrm>
            <a:off x="3803904" y="2907792"/>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Permite observar a falha em vez de escondê-la.</a:t>
            </a:r>
          </a:p>
        </p:txBody>
      </p:sp>
      <p:sp>
        <p:nvSpPr>
          <p:cNvPr id="26" name="Rectangle 25"/>
          <p:cNvSpPr/>
          <p:nvPr/>
        </p:nvSpPr>
        <p:spPr>
          <a:xfrm>
            <a:off x="402336" y="3438144"/>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20624" y="3493008"/>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420624" y="3520440"/>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29" name="TextBox 28"/>
          <p:cNvSpPr txBox="1"/>
          <p:nvPr/>
        </p:nvSpPr>
        <p:spPr>
          <a:xfrm>
            <a:off x="768096" y="3429000"/>
            <a:ext cx="2788920" cy="256032"/>
          </a:xfrm>
          <a:prstGeom prst="rect">
            <a:avLst/>
          </a:prstGeom>
          <a:noFill/>
        </p:spPr>
        <p:txBody>
          <a:bodyPr wrap="square" anchor="t" lIns="0" rIns="0" tIns="0" bIns="0">
            <a:spAutoFit/>
          </a:bodyPr>
          <a:lstStyle/>
          <a:p>
            <a:pPr algn="l"/>
            <a:r>
              <a:rPr sz="1250" b="1" i="0">
                <a:solidFill>
                  <a:srgbClr val="1A1A1A"/>
                </a:solidFill>
                <a:latin typeface="Arial"/>
              </a:rPr>
              <a:t>Deixar a escolha do modelo configurável</a:t>
            </a:r>
          </a:p>
        </p:txBody>
      </p:sp>
      <p:sp>
        <p:nvSpPr>
          <p:cNvPr id="30" name="TextBox 29"/>
          <p:cNvSpPr txBox="1"/>
          <p:nvPr/>
        </p:nvSpPr>
        <p:spPr>
          <a:xfrm>
            <a:off x="768096" y="3675888"/>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O modelo de linguagem não está fixo no código.</a:t>
            </a:r>
          </a:p>
        </p:txBody>
      </p:sp>
      <p:sp>
        <p:nvSpPr>
          <p:cNvPr id="31" name="TextBox 30"/>
          <p:cNvSpPr txBox="1"/>
          <p:nvPr/>
        </p:nvSpPr>
        <p:spPr>
          <a:xfrm>
            <a:off x="3803904" y="3493008"/>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Facilita trocar de provedor e ajustar custo.</a:t>
            </a:r>
          </a:p>
        </p:txBody>
      </p:sp>
      <p:sp>
        <p:nvSpPr>
          <p:cNvPr id="32" name="Rectangle 31"/>
          <p:cNvSpPr/>
          <p:nvPr/>
        </p:nvSpPr>
        <p:spPr>
          <a:xfrm>
            <a:off x="402336" y="4023360"/>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20624" y="4078224"/>
            <a:ext cx="201168" cy="20116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420624" y="4105656"/>
            <a:ext cx="201168" cy="164592"/>
          </a:xfrm>
          <a:prstGeom prst="rect">
            <a:avLst/>
          </a:prstGeom>
          <a:noFill/>
        </p:spPr>
        <p:txBody>
          <a:bodyPr wrap="square" anchor="t" lIns="0" rIns="0" tIns="0" bIns="0">
            <a:spAutoFit/>
          </a:bodyPr>
          <a:lstStyle/>
          <a:p>
            <a:pPr algn="ctr"/>
            <a:r>
              <a:rPr sz="900" b="1" i="0">
                <a:solidFill>
                  <a:srgbClr val="FFFFFF"/>
                </a:solidFill>
                <a:latin typeface="Arial"/>
              </a:rPr>
              <a:t>✓</a:t>
            </a:r>
          </a:p>
        </p:txBody>
      </p:sp>
      <p:sp>
        <p:nvSpPr>
          <p:cNvPr id="35" name="TextBox 34"/>
          <p:cNvSpPr txBox="1"/>
          <p:nvPr/>
        </p:nvSpPr>
        <p:spPr>
          <a:xfrm>
            <a:off x="768096" y="4014216"/>
            <a:ext cx="2788920" cy="256032"/>
          </a:xfrm>
          <a:prstGeom prst="rect">
            <a:avLst/>
          </a:prstGeom>
          <a:noFill/>
        </p:spPr>
        <p:txBody>
          <a:bodyPr wrap="square" anchor="t" lIns="0" rIns="0" tIns="0" bIns="0">
            <a:spAutoFit/>
          </a:bodyPr>
          <a:lstStyle/>
          <a:p>
            <a:pPr algn="l"/>
            <a:r>
              <a:rPr sz="1250" b="1" i="0">
                <a:solidFill>
                  <a:srgbClr val="1A1A1A"/>
                </a:solidFill>
                <a:latin typeface="Arial"/>
              </a:rPr>
              <a:t>Organizar os serviços com contêineres</a:t>
            </a:r>
          </a:p>
        </p:txBody>
      </p:sp>
      <p:sp>
        <p:nvSpPr>
          <p:cNvPr id="36" name="TextBox 35"/>
          <p:cNvSpPr txBox="1"/>
          <p:nvPr/>
        </p:nvSpPr>
        <p:spPr>
          <a:xfrm>
            <a:off x="768096" y="4261104"/>
            <a:ext cx="2834640" cy="310896"/>
          </a:xfrm>
          <a:prstGeom prst="rect">
            <a:avLst/>
          </a:prstGeom>
          <a:noFill/>
        </p:spPr>
        <p:txBody>
          <a:bodyPr wrap="square" anchor="t" lIns="0" rIns="0" tIns="0" bIns="0">
            <a:spAutoFit/>
          </a:bodyPr>
          <a:lstStyle/>
          <a:p>
            <a:pPr algn="l">
              <a:lnSpc>
                <a:spcPct val="104000"/>
              </a:lnSpc>
            </a:pPr>
            <a:r>
              <a:rPr sz="1050" b="0" i="0">
                <a:solidFill>
                  <a:srgbClr val="4A4A4A"/>
                </a:solidFill>
                <a:latin typeface="Arial"/>
              </a:rPr>
              <a:t>Front-end, serviço e índice têm ambientes reprodutíveis.</a:t>
            </a:r>
          </a:p>
        </p:txBody>
      </p:sp>
      <p:sp>
        <p:nvSpPr>
          <p:cNvPr id="37" name="TextBox 36"/>
          <p:cNvSpPr txBox="1"/>
          <p:nvPr/>
        </p:nvSpPr>
        <p:spPr>
          <a:xfrm>
            <a:off x="3803904" y="4078224"/>
            <a:ext cx="4937760" cy="365760"/>
          </a:xfrm>
          <a:prstGeom prst="rect">
            <a:avLst/>
          </a:prstGeom>
          <a:noFill/>
        </p:spPr>
        <p:txBody>
          <a:bodyPr wrap="square" anchor="t" lIns="0" rIns="0" tIns="0" bIns="0">
            <a:spAutoFit/>
          </a:bodyPr>
          <a:lstStyle/>
          <a:p>
            <a:pPr algn="l">
              <a:lnSpc>
                <a:spcPct val="106000"/>
              </a:lnSpc>
            </a:pPr>
            <a:r>
              <a:rPr sz="1100" b="0" i="0">
                <a:solidFill>
                  <a:srgbClr val="1B3FA8"/>
                </a:solidFill>
                <a:latin typeface="Arial"/>
              </a:rPr>
              <a:t>Diminui a diferença entre a máquina de quem desenvolve e a de quem usa.</a:t>
            </a:r>
          </a:p>
        </p:txBody>
      </p:sp>
      <p:sp>
        <p:nvSpPr>
          <p:cNvPr id="38" name="TextBox 3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que ficou pendente e por quê</a:t>
            </a:r>
          </a:p>
        </p:txBody>
      </p:sp>
      <p:sp>
        <p:nvSpPr>
          <p:cNvPr id="3" name="Rounded Rectangle 2"/>
          <p:cNvSpPr/>
          <p:nvPr/>
        </p:nvSpPr>
        <p:spPr>
          <a:xfrm>
            <a:off x="402336"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402336" y="1078992"/>
            <a:ext cx="2688336" cy="402336"/>
          </a:xfrm>
          <a:prstGeom prst="roundRect">
            <a:avLst>
              <a:gd name="adj" fmla="val 5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402336" y="1316736"/>
            <a:ext cx="2688336" cy="164592"/>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48640" y="1170432"/>
            <a:ext cx="2395728" cy="256032"/>
          </a:xfrm>
          <a:prstGeom prst="rect">
            <a:avLst/>
          </a:prstGeom>
          <a:noFill/>
        </p:spPr>
        <p:txBody>
          <a:bodyPr wrap="square" anchor="t" lIns="0" rIns="0" tIns="0" bIns="0">
            <a:spAutoFit/>
          </a:bodyPr>
          <a:lstStyle/>
          <a:p>
            <a:pPr algn="l"/>
            <a:r>
              <a:rPr sz="950" b="1" i="0">
                <a:solidFill>
                  <a:srgbClr val="FFFFFF"/>
                </a:solidFill>
                <a:latin typeface="Arial"/>
              </a:rPr>
              <a:t>IMPLEMENTADO E EM USO</a:t>
            </a:r>
          </a:p>
        </p:txBody>
      </p:sp>
      <p:sp>
        <p:nvSpPr>
          <p:cNvPr id="7" name="TextBox 6"/>
          <p:cNvSpPr txBox="1"/>
          <p:nvPr/>
        </p:nvSpPr>
        <p:spPr>
          <a:xfrm>
            <a:off x="548640" y="1627632"/>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Extração de texto e de tabelas dos boletins.</a:t>
            </a:r>
          </a:p>
        </p:txBody>
      </p:sp>
      <p:sp>
        <p:nvSpPr>
          <p:cNvPr id="8" name="TextBox 7"/>
          <p:cNvSpPr txBox="1"/>
          <p:nvPr/>
        </p:nvSpPr>
        <p:spPr>
          <a:xfrm>
            <a:off x="548640" y="2121408"/>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Índice vetorial local no ChromaDB.</a:t>
            </a:r>
          </a:p>
        </p:txBody>
      </p:sp>
      <p:sp>
        <p:nvSpPr>
          <p:cNvPr id="9" name="TextBox 8"/>
          <p:cNvSpPr txBox="1"/>
          <p:nvPr/>
        </p:nvSpPr>
        <p:spPr>
          <a:xfrm>
            <a:off x="548640" y="2615184"/>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Recuperação híbrida com reordenação.</a:t>
            </a:r>
          </a:p>
        </p:txBody>
      </p:sp>
      <p:sp>
        <p:nvSpPr>
          <p:cNvPr id="10" name="TextBox 9"/>
          <p:cNvSpPr txBox="1"/>
          <p:nvPr/>
        </p:nvSpPr>
        <p:spPr>
          <a:xfrm>
            <a:off x="548640" y="3108960"/>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Resposta com arquivo e página de origem.</a:t>
            </a:r>
          </a:p>
        </p:txBody>
      </p:sp>
      <p:sp>
        <p:nvSpPr>
          <p:cNvPr id="11" name="TextBox 10"/>
          <p:cNvSpPr txBox="1"/>
          <p:nvPr/>
        </p:nvSpPr>
        <p:spPr>
          <a:xfrm>
            <a:off x="548640" y="3602736"/>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Validação numérica da resposta.</a:t>
            </a:r>
          </a:p>
        </p:txBody>
      </p:sp>
      <p:sp>
        <p:nvSpPr>
          <p:cNvPr id="12" name="Rounded Rectangle 11"/>
          <p:cNvSpPr/>
          <p:nvPr/>
        </p:nvSpPr>
        <p:spPr>
          <a:xfrm>
            <a:off x="3227832"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3227832" y="1078992"/>
            <a:ext cx="2688336" cy="402336"/>
          </a:xfrm>
          <a:prstGeom prst="roundRect">
            <a:avLst>
              <a:gd name="adj" fmla="val 500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3227832" y="1316736"/>
            <a:ext cx="2688336" cy="164592"/>
          </a:xfrm>
          <a:prstGeom prst="roundRect">
            <a:avLst>
              <a:gd name="adj" fmla="val 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374136" y="1170432"/>
            <a:ext cx="2395728" cy="256032"/>
          </a:xfrm>
          <a:prstGeom prst="rect">
            <a:avLst/>
          </a:prstGeom>
          <a:noFill/>
        </p:spPr>
        <p:txBody>
          <a:bodyPr wrap="square" anchor="t" lIns="0" rIns="0" tIns="0" bIns="0">
            <a:spAutoFit/>
          </a:bodyPr>
          <a:lstStyle/>
          <a:p>
            <a:pPr algn="l"/>
            <a:r>
              <a:rPr sz="950" b="1" i="0">
                <a:solidFill>
                  <a:srgbClr val="FFFFFF"/>
                </a:solidFill>
                <a:latin typeface="Arial"/>
              </a:rPr>
              <a:t>DEMONSTRADO, COM RESSALVAS</a:t>
            </a:r>
          </a:p>
        </p:txBody>
      </p:sp>
      <p:sp>
        <p:nvSpPr>
          <p:cNvPr id="16" name="TextBox 15"/>
          <p:cNvSpPr txBox="1"/>
          <p:nvPr/>
        </p:nvSpPr>
        <p:spPr>
          <a:xfrm>
            <a:off x="3374136" y="1627632"/>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Aplicação em execução com a interface real.</a:t>
            </a:r>
          </a:p>
        </p:txBody>
      </p:sp>
      <p:sp>
        <p:nvSpPr>
          <p:cNvPr id="17" name="TextBox 16"/>
          <p:cNvSpPr txBox="1"/>
          <p:nvPr/>
        </p:nvSpPr>
        <p:spPr>
          <a:xfrm>
            <a:off x="3374136" y="2121408"/>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Respostas a perguntas de PIB e de mercado de trabalho.</a:t>
            </a:r>
          </a:p>
        </p:txBody>
      </p:sp>
      <p:sp>
        <p:nvSpPr>
          <p:cNvPr id="18" name="TextBox 17"/>
          <p:cNvSpPr txBox="1"/>
          <p:nvPr/>
        </p:nvSpPr>
        <p:spPr>
          <a:xfrm>
            <a:off x="3374136" y="2615184"/>
            <a:ext cx="2395728" cy="548640"/>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  Citação de fonte e acesso às evidências na interface.</a:t>
            </a:r>
          </a:p>
        </p:txBody>
      </p:sp>
      <p:sp>
        <p:nvSpPr>
          <p:cNvPr id="19" name="Rounded Rectangle 18"/>
          <p:cNvSpPr/>
          <p:nvPr/>
        </p:nvSpPr>
        <p:spPr>
          <a:xfrm>
            <a:off x="6053328"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053328" y="1078992"/>
            <a:ext cx="2688336" cy="402336"/>
          </a:xfrm>
          <a:prstGeom prst="roundRect">
            <a:avLst>
              <a:gd name="adj" fmla="val 5000"/>
            </a:avLst>
          </a:prstGeom>
          <a:solidFill>
            <a:srgbClr val="7676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053328" y="1316736"/>
            <a:ext cx="2688336" cy="164592"/>
          </a:xfrm>
          <a:prstGeom prst="roundRect">
            <a:avLst>
              <a:gd name="adj" fmla="val 0"/>
            </a:avLst>
          </a:prstGeom>
          <a:solidFill>
            <a:srgbClr val="7676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199632" y="1170432"/>
            <a:ext cx="2395728" cy="256032"/>
          </a:xfrm>
          <a:prstGeom prst="rect">
            <a:avLst/>
          </a:prstGeom>
          <a:noFill/>
        </p:spPr>
        <p:txBody>
          <a:bodyPr wrap="square" anchor="t" lIns="0" rIns="0" tIns="0" bIns="0">
            <a:spAutoFit/>
          </a:bodyPr>
          <a:lstStyle/>
          <a:p>
            <a:pPr algn="l"/>
            <a:r>
              <a:rPr sz="950" b="1" i="0">
                <a:solidFill>
                  <a:srgbClr val="FFFFFF"/>
                </a:solidFill>
                <a:latin typeface="Arial"/>
              </a:rPr>
              <a:t>AINDA PRECISA DE VALIDAÇÃO</a:t>
            </a:r>
          </a:p>
        </p:txBody>
      </p:sp>
      <p:sp>
        <p:nvSpPr>
          <p:cNvPr id="23" name="TextBox 22"/>
          <p:cNvSpPr txBox="1"/>
          <p:nvPr/>
        </p:nvSpPr>
        <p:spPr>
          <a:xfrm>
            <a:off x="6199632" y="1627632"/>
            <a:ext cx="2395728" cy="54864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  Conjunto de referência com as respostas esperadas preenchidas.</a:t>
            </a:r>
          </a:p>
        </p:txBody>
      </p:sp>
      <p:sp>
        <p:nvSpPr>
          <p:cNvPr id="24" name="TextBox 23"/>
          <p:cNvSpPr txBox="1"/>
          <p:nvPr/>
        </p:nvSpPr>
        <p:spPr>
          <a:xfrm>
            <a:off x="6199632" y="2121408"/>
            <a:ext cx="2395728" cy="54864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  Comparação controlada entre as estratégias de recuperação.</a:t>
            </a:r>
          </a:p>
        </p:txBody>
      </p:sp>
      <p:sp>
        <p:nvSpPr>
          <p:cNvPr id="25" name="TextBox 24"/>
          <p:cNvSpPr txBox="1"/>
          <p:nvPr/>
        </p:nvSpPr>
        <p:spPr>
          <a:xfrm>
            <a:off x="6199632" y="2615184"/>
            <a:ext cx="2395728" cy="54864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  Teste com usuários reais.</a:t>
            </a:r>
          </a:p>
        </p:txBody>
      </p:sp>
      <p:sp>
        <p:nvSpPr>
          <p:cNvPr id="26" name="TextBox 25"/>
          <p:cNvSpPr txBox="1"/>
          <p:nvPr/>
        </p:nvSpPr>
        <p:spPr>
          <a:xfrm>
            <a:off x="6199632" y="3108960"/>
            <a:ext cx="2395728" cy="548640"/>
          </a:xfrm>
          <a:prstGeom prst="rect">
            <a:avLst/>
          </a:prstGeom>
          <a:noFill/>
        </p:spPr>
        <p:txBody>
          <a:bodyPr wrap="square" anchor="t" lIns="0" rIns="0" tIns="0" bIns="0">
            <a:spAutoFit/>
          </a:bodyPr>
          <a:lstStyle/>
          <a:p>
            <a:pPr algn="l">
              <a:lnSpc>
                <a:spcPct val="108000"/>
              </a:lnSpc>
            </a:pPr>
            <a:r>
              <a:rPr sz="1100" b="0" i="0">
                <a:solidFill>
                  <a:srgbClr val="4A4A4A"/>
                </a:solidFill>
                <a:latin typeface="Arial"/>
              </a:rPr>
              <a:t>•  Acesso ao segundo modo de operação pelo serviço.</a:t>
            </a:r>
          </a:p>
        </p:txBody>
      </p:sp>
      <p:sp>
        <p:nvSpPr>
          <p:cNvPr id="27" name="TextBox 26"/>
          <p:cNvSpPr txBox="1"/>
          <p:nvPr/>
        </p:nvSpPr>
        <p:spPr>
          <a:xfrm>
            <a:off x="402336" y="4261104"/>
            <a:ext cx="8339328" cy="292608"/>
          </a:xfrm>
          <a:prstGeom prst="rect">
            <a:avLst/>
          </a:prstGeom>
          <a:noFill/>
        </p:spPr>
        <p:txBody>
          <a:bodyPr wrap="square" anchor="t" lIns="0" rIns="0" tIns="0" bIns="0">
            <a:spAutoFit/>
          </a:bodyPr>
          <a:lstStyle/>
          <a:p>
            <a:pPr algn="l"/>
            <a:r>
              <a:rPr sz="1150" b="0" i="0">
                <a:solidFill>
                  <a:srgbClr val="4A4A4A"/>
                </a:solidFill>
                <a:latin typeface="Arial"/>
              </a:rPr>
              <a:t>Os relatórios de etapas anteriores não comprovam o desempenho da versão atual: são versões diferentes do sistema.</a:t>
            </a:r>
          </a:p>
        </p:txBody>
      </p:sp>
      <p:sp>
        <p:nvSpPr>
          <p:cNvPr id="28" name="TextBox 2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Aprendizados da implementação</a:t>
            </a:r>
          </a:p>
        </p:txBody>
      </p:sp>
      <p:sp>
        <p:nvSpPr>
          <p:cNvPr id="3" name="Oval 2"/>
          <p:cNvSpPr/>
          <p:nvPr/>
        </p:nvSpPr>
        <p:spPr>
          <a:xfrm>
            <a:off x="420624" y="1143000"/>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TextBox 3"/>
          <p:cNvSpPr txBox="1"/>
          <p:nvPr/>
        </p:nvSpPr>
        <p:spPr>
          <a:xfrm>
            <a:off x="420624" y="1175004"/>
            <a:ext cx="219456" cy="182880"/>
          </a:xfrm>
          <a:prstGeom prst="rect">
            <a:avLst/>
          </a:prstGeom>
          <a:noFill/>
        </p:spPr>
        <p:txBody>
          <a:bodyPr wrap="square" anchor="t" lIns="0" rIns="0" tIns="0" bIns="0">
            <a:spAutoFit/>
          </a:bodyPr>
          <a:lstStyle/>
          <a:p>
            <a:pPr algn="ctr"/>
            <a:r>
              <a:rPr sz="950" b="1" i="0">
                <a:solidFill>
                  <a:srgbClr val="1B3FA8"/>
                </a:solidFill>
                <a:latin typeface="Arial"/>
              </a:rPr>
              <a:t>1</a:t>
            </a:r>
          </a:p>
        </p:txBody>
      </p:sp>
      <p:sp>
        <p:nvSpPr>
          <p:cNvPr id="5" name="TextBox 4"/>
          <p:cNvSpPr txBox="1"/>
          <p:nvPr/>
        </p:nvSpPr>
        <p:spPr>
          <a:xfrm>
            <a:off x="804672" y="1088136"/>
            <a:ext cx="3383280" cy="256032"/>
          </a:xfrm>
          <a:prstGeom prst="rect">
            <a:avLst/>
          </a:prstGeom>
          <a:noFill/>
        </p:spPr>
        <p:txBody>
          <a:bodyPr wrap="square" anchor="t" lIns="0" rIns="0" tIns="0" bIns="0">
            <a:spAutoFit/>
          </a:bodyPr>
          <a:lstStyle/>
          <a:p>
            <a:pPr algn="l"/>
            <a:r>
              <a:rPr sz="1250" b="1" i="0">
                <a:solidFill>
                  <a:srgbClr val="1A1A1A"/>
                </a:solidFill>
                <a:latin typeface="Arial"/>
              </a:rPr>
              <a:t>A qualidade mora na preparação do dado</a:t>
            </a:r>
          </a:p>
        </p:txBody>
      </p:sp>
      <p:sp>
        <p:nvSpPr>
          <p:cNvPr id="6" name="TextBox 5"/>
          <p:cNvSpPr txBox="1"/>
          <p:nvPr/>
        </p:nvSpPr>
        <p:spPr>
          <a:xfrm>
            <a:off x="804672" y="1335024"/>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O desempenho do sistema foi decidido menos pelo modelo escolhido e mais por como o acervo foi lido, separado e indexado.</a:t>
            </a:r>
          </a:p>
        </p:txBody>
      </p:sp>
      <p:sp>
        <p:nvSpPr>
          <p:cNvPr id="7" name="Rectangle 6"/>
          <p:cNvSpPr/>
          <p:nvPr/>
        </p:nvSpPr>
        <p:spPr>
          <a:xfrm>
            <a:off x="402336" y="1673352"/>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20624" y="1723644"/>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420624" y="1755648"/>
            <a:ext cx="219456" cy="182880"/>
          </a:xfrm>
          <a:prstGeom prst="rect">
            <a:avLst/>
          </a:prstGeom>
          <a:noFill/>
        </p:spPr>
        <p:txBody>
          <a:bodyPr wrap="square" anchor="t" lIns="0" rIns="0" tIns="0" bIns="0">
            <a:spAutoFit/>
          </a:bodyPr>
          <a:lstStyle/>
          <a:p>
            <a:pPr algn="ctr"/>
            <a:r>
              <a:rPr sz="950" b="1" i="0">
                <a:solidFill>
                  <a:srgbClr val="1B3FA8"/>
                </a:solidFill>
                <a:latin typeface="Arial"/>
              </a:rPr>
              <a:t>2</a:t>
            </a:r>
          </a:p>
        </p:txBody>
      </p:sp>
      <p:sp>
        <p:nvSpPr>
          <p:cNvPr id="10" name="TextBox 9"/>
          <p:cNvSpPr txBox="1"/>
          <p:nvPr/>
        </p:nvSpPr>
        <p:spPr>
          <a:xfrm>
            <a:off x="804672" y="1668780"/>
            <a:ext cx="3383280" cy="256032"/>
          </a:xfrm>
          <a:prstGeom prst="rect">
            <a:avLst/>
          </a:prstGeom>
          <a:noFill/>
        </p:spPr>
        <p:txBody>
          <a:bodyPr wrap="square" anchor="t" lIns="0" rIns="0" tIns="0" bIns="0">
            <a:spAutoFit/>
          </a:bodyPr>
          <a:lstStyle/>
          <a:p>
            <a:pPr algn="l"/>
            <a:r>
              <a:rPr sz="1250" b="1" i="0">
                <a:solidFill>
                  <a:srgbClr val="1A1A1A"/>
                </a:solidFill>
                <a:latin typeface="Arial"/>
              </a:rPr>
              <a:t>Recuperar bem importa mais do que gerar bem</a:t>
            </a:r>
          </a:p>
        </p:txBody>
      </p:sp>
      <p:sp>
        <p:nvSpPr>
          <p:cNvPr id="11" name="TextBox 10"/>
          <p:cNvSpPr txBox="1"/>
          <p:nvPr/>
        </p:nvSpPr>
        <p:spPr>
          <a:xfrm>
            <a:off x="804672" y="1915668"/>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Um modelo melhor não compensa contexto ruim. A etapa de recuperação é onde o resultado se ganha ou se perde.</a:t>
            </a:r>
          </a:p>
        </p:txBody>
      </p:sp>
      <p:sp>
        <p:nvSpPr>
          <p:cNvPr id="12" name="Rectangle 11"/>
          <p:cNvSpPr/>
          <p:nvPr/>
        </p:nvSpPr>
        <p:spPr>
          <a:xfrm>
            <a:off x="402336" y="2253996"/>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0624" y="2304288"/>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420624" y="2336292"/>
            <a:ext cx="219456" cy="182880"/>
          </a:xfrm>
          <a:prstGeom prst="rect">
            <a:avLst/>
          </a:prstGeom>
          <a:noFill/>
        </p:spPr>
        <p:txBody>
          <a:bodyPr wrap="square" anchor="t" lIns="0" rIns="0" tIns="0" bIns="0">
            <a:spAutoFit/>
          </a:bodyPr>
          <a:lstStyle/>
          <a:p>
            <a:pPr algn="ctr"/>
            <a:r>
              <a:rPr sz="950" b="1" i="0">
                <a:solidFill>
                  <a:srgbClr val="1B3FA8"/>
                </a:solidFill>
                <a:latin typeface="Arial"/>
              </a:rPr>
              <a:t>3</a:t>
            </a:r>
          </a:p>
        </p:txBody>
      </p:sp>
      <p:sp>
        <p:nvSpPr>
          <p:cNvPr id="15" name="TextBox 14"/>
          <p:cNvSpPr txBox="1"/>
          <p:nvPr/>
        </p:nvSpPr>
        <p:spPr>
          <a:xfrm>
            <a:off x="804672" y="2249424"/>
            <a:ext cx="3383280" cy="256032"/>
          </a:xfrm>
          <a:prstGeom prst="rect">
            <a:avLst/>
          </a:prstGeom>
          <a:noFill/>
        </p:spPr>
        <p:txBody>
          <a:bodyPr wrap="square" anchor="t" lIns="0" rIns="0" tIns="0" bIns="0">
            <a:spAutoFit/>
          </a:bodyPr>
          <a:lstStyle/>
          <a:p>
            <a:pPr algn="l"/>
            <a:r>
              <a:rPr sz="1250" b="1" i="0">
                <a:solidFill>
                  <a:srgbClr val="1A1A1A"/>
                </a:solidFill>
                <a:latin typeface="Arial"/>
              </a:rPr>
              <a:t>Em estatística, contexto é parte do dado</a:t>
            </a:r>
          </a:p>
        </p:txBody>
      </p:sp>
      <p:sp>
        <p:nvSpPr>
          <p:cNvPr id="16" name="TextBox 15"/>
          <p:cNvSpPr txBox="1"/>
          <p:nvPr/>
        </p:nvSpPr>
        <p:spPr>
          <a:xfrm>
            <a:off x="804672" y="2496312"/>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Período, unidade e recorte territorial não são detalhes de redação: sem eles o número não é utilizável.</a:t>
            </a:r>
          </a:p>
        </p:txBody>
      </p:sp>
      <p:sp>
        <p:nvSpPr>
          <p:cNvPr id="17" name="Rectangle 16"/>
          <p:cNvSpPr/>
          <p:nvPr/>
        </p:nvSpPr>
        <p:spPr>
          <a:xfrm>
            <a:off x="402336" y="2834640"/>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0624" y="2884932"/>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420624" y="2916936"/>
            <a:ext cx="219456" cy="182880"/>
          </a:xfrm>
          <a:prstGeom prst="rect">
            <a:avLst/>
          </a:prstGeom>
          <a:noFill/>
        </p:spPr>
        <p:txBody>
          <a:bodyPr wrap="square" anchor="t" lIns="0" rIns="0" tIns="0" bIns="0">
            <a:spAutoFit/>
          </a:bodyPr>
          <a:lstStyle/>
          <a:p>
            <a:pPr algn="ctr"/>
            <a:r>
              <a:rPr sz="950" b="1" i="0">
                <a:solidFill>
                  <a:srgbClr val="1B3FA8"/>
                </a:solidFill>
                <a:latin typeface="Arial"/>
              </a:rPr>
              <a:t>4</a:t>
            </a:r>
          </a:p>
        </p:txBody>
      </p:sp>
      <p:sp>
        <p:nvSpPr>
          <p:cNvPr id="20" name="TextBox 19"/>
          <p:cNvSpPr txBox="1"/>
          <p:nvPr/>
        </p:nvSpPr>
        <p:spPr>
          <a:xfrm>
            <a:off x="804672" y="2830068"/>
            <a:ext cx="3383280" cy="256032"/>
          </a:xfrm>
          <a:prstGeom prst="rect">
            <a:avLst/>
          </a:prstGeom>
          <a:noFill/>
        </p:spPr>
        <p:txBody>
          <a:bodyPr wrap="square" anchor="t" lIns="0" rIns="0" tIns="0" bIns="0">
            <a:spAutoFit/>
          </a:bodyPr>
          <a:lstStyle/>
          <a:p>
            <a:pPr algn="l"/>
            <a:r>
              <a:rPr sz="1250" b="1" i="0">
                <a:solidFill>
                  <a:srgbClr val="1A1A1A"/>
                </a:solidFill>
                <a:latin typeface="Arial"/>
              </a:rPr>
              <a:t>Rastreabilidade precisa ser construída desde o início</a:t>
            </a:r>
          </a:p>
        </p:txBody>
      </p:sp>
      <p:sp>
        <p:nvSpPr>
          <p:cNvPr id="21" name="TextBox 20"/>
          <p:cNvSpPr txBox="1"/>
          <p:nvPr/>
        </p:nvSpPr>
        <p:spPr>
          <a:xfrm>
            <a:off x="804672" y="3076956"/>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A citação de fonte não é um recurso acrescentado no fim. Ela depende de metadados criados na preparação.</a:t>
            </a:r>
          </a:p>
        </p:txBody>
      </p:sp>
      <p:sp>
        <p:nvSpPr>
          <p:cNvPr id="22" name="Rectangle 21"/>
          <p:cNvSpPr/>
          <p:nvPr/>
        </p:nvSpPr>
        <p:spPr>
          <a:xfrm>
            <a:off x="402336" y="3415284"/>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20624" y="3465576"/>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420624" y="3497580"/>
            <a:ext cx="219456" cy="182880"/>
          </a:xfrm>
          <a:prstGeom prst="rect">
            <a:avLst/>
          </a:prstGeom>
          <a:noFill/>
        </p:spPr>
        <p:txBody>
          <a:bodyPr wrap="square" anchor="t" lIns="0" rIns="0" tIns="0" bIns="0">
            <a:spAutoFit/>
          </a:bodyPr>
          <a:lstStyle/>
          <a:p>
            <a:pPr algn="ctr"/>
            <a:r>
              <a:rPr sz="950" b="1" i="0">
                <a:solidFill>
                  <a:srgbClr val="1B3FA8"/>
                </a:solidFill>
                <a:latin typeface="Arial"/>
              </a:rPr>
              <a:t>5</a:t>
            </a:r>
          </a:p>
        </p:txBody>
      </p:sp>
      <p:sp>
        <p:nvSpPr>
          <p:cNvPr id="25" name="TextBox 24"/>
          <p:cNvSpPr txBox="1"/>
          <p:nvPr/>
        </p:nvSpPr>
        <p:spPr>
          <a:xfrm>
            <a:off x="804672" y="3410712"/>
            <a:ext cx="3383280" cy="256032"/>
          </a:xfrm>
          <a:prstGeom prst="rect">
            <a:avLst/>
          </a:prstGeom>
          <a:noFill/>
        </p:spPr>
        <p:txBody>
          <a:bodyPr wrap="square" anchor="t" lIns="0" rIns="0" tIns="0" bIns="0">
            <a:spAutoFit/>
          </a:bodyPr>
          <a:lstStyle/>
          <a:p>
            <a:pPr algn="l"/>
            <a:r>
              <a:rPr sz="1250" b="1" i="0">
                <a:solidFill>
                  <a:srgbClr val="1A1A1A"/>
                </a:solidFill>
                <a:latin typeface="Arial"/>
              </a:rPr>
              <a:t>Medir é mais difícil do que construir</a:t>
            </a:r>
          </a:p>
        </p:txBody>
      </p:sp>
      <p:sp>
        <p:nvSpPr>
          <p:cNvPr id="26" name="TextBox 25"/>
          <p:cNvSpPr txBox="1"/>
          <p:nvPr/>
        </p:nvSpPr>
        <p:spPr>
          <a:xfrm>
            <a:off x="804672" y="3657600"/>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Sem um conjunto de referência com respostas esperadas, não há como afirmar que uma configuração é melhor que outra.</a:t>
            </a:r>
          </a:p>
        </p:txBody>
      </p:sp>
      <p:sp>
        <p:nvSpPr>
          <p:cNvPr id="27" name="Rectangle 26"/>
          <p:cNvSpPr/>
          <p:nvPr/>
        </p:nvSpPr>
        <p:spPr>
          <a:xfrm>
            <a:off x="402336" y="3995928"/>
            <a:ext cx="8339328" cy="10973"/>
          </a:xfrm>
          <a:prstGeom prst="rect">
            <a:avLst/>
          </a:prstGeom>
          <a:solidFill>
            <a:srgbClr val="D6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20624" y="4046220"/>
            <a:ext cx="219456" cy="219456"/>
          </a:xfrm>
          <a:prstGeom prst="ellipse">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420624" y="4078224"/>
            <a:ext cx="219456" cy="182880"/>
          </a:xfrm>
          <a:prstGeom prst="rect">
            <a:avLst/>
          </a:prstGeom>
          <a:noFill/>
        </p:spPr>
        <p:txBody>
          <a:bodyPr wrap="square" anchor="t" lIns="0" rIns="0" tIns="0" bIns="0">
            <a:spAutoFit/>
          </a:bodyPr>
          <a:lstStyle/>
          <a:p>
            <a:pPr algn="ctr"/>
            <a:r>
              <a:rPr sz="950" b="1" i="0">
                <a:solidFill>
                  <a:srgbClr val="1B3FA8"/>
                </a:solidFill>
                <a:latin typeface="Arial"/>
              </a:rPr>
              <a:t>6</a:t>
            </a:r>
          </a:p>
        </p:txBody>
      </p:sp>
      <p:sp>
        <p:nvSpPr>
          <p:cNvPr id="30" name="TextBox 29"/>
          <p:cNvSpPr txBox="1"/>
          <p:nvPr/>
        </p:nvSpPr>
        <p:spPr>
          <a:xfrm>
            <a:off x="804672" y="3991356"/>
            <a:ext cx="3383280" cy="256032"/>
          </a:xfrm>
          <a:prstGeom prst="rect">
            <a:avLst/>
          </a:prstGeom>
          <a:noFill/>
        </p:spPr>
        <p:txBody>
          <a:bodyPr wrap="square" anchor="t" lIns="0" rIns="0" tIns="0" bIns="0">
            <a:spAutoFit/>
          </a:bodyPr>
          <a:lstStyle/>
          <a:p>
            <a:pPr algn="l"/>
            <a:r>
              <a:rPr sz="1250" b="1" i="0">
                <a:solidFill>
                  <a:srgbClr val="1A1A1A"/>
                </a:solidFill>
                <a:latin typeface="Arial"/>
              </a:rPr>
              <a:t>A aplicação é um artefato de comunicação, não só de engenharia</a:t>
            </a:r>
          </a:p>
        </p:txBody>
      </p:sp>
      <p:sp>
        <p:nvSpPr>
          <p:cNvPr id="31" name="TextBox 30"/>
          <p:cNvSpPr txBox="1"/>
          <p:nvPr/>
        </p:nvSpPr>
        <p:spPr>
          <a:xfrm>
            <a:off x="804672" y="4238244"/>
            <a:ext cx="7936992"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A forma de apresentar a resposta — com fonte, com aviso de limite, com botão de conferência — faz parte da confiabilidade.</a:t>
            </a:r>
          </a:p>
        </p:txBody>
      </p:sp>
      <p:sp>
        <p:nvSpPr>
          <p:cNvPr id="32" name="TextBox 31"/>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que é a Nadia</a:t>
            </a:r>
          </a:p>
        </p:txBody>
      </p:sp>
      <p:sp>
        <p:nvSpPr>
          <p:cNvPr id="3" name="Rounded Rectangle 2"/>
          <p:cNvSpPr/>
          <p:nvPr/>
        </p:nvSpPr>
        <p:spPr>
          <a:xfrm>
            <a:off x="402336" y="1060704"/>
            <a:ext cx="8339328" cy="1005840"/>
          </a:xfrm>
          <a:prstGeom prst="roundRect">
            <a:avLst>
              <a:gd name="adj" fmla="val 5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188720"/>
            <a:ext cx="7863840" cy="768096"/>
          </a:xfrm>
          <a:prstGeom prst="rect">
            <a:avLst/>
          </a:prstGeom>
          <a:noFill/>
        </p:spPr>
        <p:txBody>
          <a:bodyPr wrap="square" anchor="t" lIns="0" rIns="0" tIns="0" bIns="0">
            <a:spAutoFit/>
          </a:bodyPr>
          <a:lstStyle/>
          <a:p>
            <a:pPr algn="l">
              <a:lnSpc>
                <a:spcPct val="116000"/>
              </a:lnSpc>
            </a:pPr>
            <a:r>
              <a:rPr sz="1350" b="1" i="0">
                <a:solidFill>
                  <a:srgbClr val="1B3FA8"/>
                </a:solidFill>
                <a:latin typeface="Arial"/>
              </a:rPr>
              <a:t>Nadia é a assistente de consulta documental da Fundação SEADE. Ela recebe perguntas em linguagem natural sobre os dados de São Paulo e responde a partir dos documentos oficiais do acervo, indicando a fonte e a página de cada informação utilizada.</a:t>
            </a:r>
          </a:p>
        </p:txBody>
      </p:sp>
      <p:sp>
        <p:nvSpPr>
          <p:cNvPr id="5" name="TextBox 4"/>
          <p:cNvSpPr txBox="1"/>
          <p:nvPr/>
        </p:nvSpPr>
        <p:spPr>
          <a:xfrm>
            <a:off x="402336" y="2231136"/>
            <a:ext cx="3931920" cy="256032"/>
          </a:xfrm>
          <a:prstGeom prst="rect">
            <a:avLst/>
          </a:prstGeom>
          <a:noFill/>
        </p:spPr>
        <p:txBody>
          <a:bodyPr wrap="square" anchor="t" lIns="0" rIns="0" tIns="0" bIns="0">
            <a:spAutoFit/>
          </a:bodyPr>
          <a:lstStyle/>
          <a:p>
            <a:pPr algn="l"/>
            <a:r>
              <a:rPr sz="1000" b="1" i="0">
                <a:solidFill>
                  <a:srgbClr val="2A5FFF"/>
                </a:solidFill>
                <a:latin typeface="Arial"/>
              </a:rPr>
              <a:t>PARA QUEM</a:t>
            </a:r>
          </a:p>
        </p:txBody>
      </p:sp>
      <p:sp>
        <p:nvSpPr>
          <p:cNvPr id="6" name="TextBox 5"/>
          <p:cNvSpPr txBox="1"/>
          <p:nvPr/>
        </p:nvSpPr>
        <p:spPr>
          <a:xfrm>
            <a:off x="402336" y="2487168"/>
            <a:ext cx="3931920" cy="237744"/>
          </a:xfrm>
          <a:prstGeom prst="rect">
            <a:avLst/>
          </a:prstGeom>
          <a:noFill/>
        </p:spPr>
        <p:txBody>
          <a:bodyPr wrap="square" anchor="t" lIns="0" rIns="0" tIns="0" bIns="0">
            <a:spAutoFit/>
          </a:bodyPr>
          <a:lstStyle/>
          <a:p>
            <a:pPr algn="l"/>
            <a:r>
              <a:rPr sz="1200" b="1" i="0">
                <a:solidFill>
                  <a:srgbClr val="1A1A1A"/>
                </a:solidFill>
                <a:latin typeface="Arial"/>
              </a:rPr>
              <a:t>Analistas e gestores públicos</a:t>
            </a:r>
          </a:p>
        </p:txBody>
      </p:sp>
      <p:sp>
        <p:nvSpPr>
          <p:cNvPr id="7" name="TextBox 6"/>
          <p:cNvSpPr txBox="1"/>
          <p:nvPr/>
        </p:nvSpPr>
        <p:spPr>
          <a:xfrm>
            <a:off x="402336" y="2715768"/>
            <a:ext cx="3931920"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Consultas rápidas a indicadores sem abrir boletim por boletim.</a:t>
            </a:r>
          </a:p>
        </p:txBody>
      </p:sp>
      <p:sp>
        <p:nvSpPr>
          <p:cNvPr id="8" name="TextBox 7"/>
          <p:cNvSpPr txBox="1"/>
          <p:nvPr/>
        </p:nvSpPr>
        <p:spPr>
          <a:xfrm>
            <a:off x="402336" y="3072384"/>
            <a:ext cx="3931920" cy="237744"/>
          </a:xfrm>
          <a:prstGeom prst="rect">
            <a:avLst/>
          </a:prstGeom>
          <a:noFill/>
        </p:spPr>
        <p:txBody>
          <a:bodyPr wrap="square" anchor="t" lIns="0" rIns="0" tIns="0" bIns="0">
            <a:spAutoFit/>
          </a:bodyPr>
          <a:lstStyle/>
          <a:p>
            <a:pPr algn="l"/>
            <a:r>
              <a:rPr sz="1200" b="1" i="0">
                <a:solidFill>
                  <a:srgbClr val="1A1A1A"/>
                </a:solidFill>
                <a:latin typeface="Arial"/>
              </a:rPr>
              <a:t>Pesquisadores e estudantes</a:t>
            </a:r>
          </a:p>
        </p:txBody>
      </p:sp>
      <p:sp>
        <p:nvSpPr>
          <p:cNvPr id="9" name="TextBox 8"/>
          <p:cNvSpPr txBox="1"/>
          <p:nvPr/>
        </p:nvSpPr>
        <p:spPr>
          <a:xfrm>
            <a:off x="402336" y="3300984"/>
            <a:ext cx="3931920"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Ponto de partida com a referência exata para aprofundar.</a:t>
            </a:r>
          </a:p>
        </p:txBody>
      </p:sp>
      <p:sp>
        <p:nvSpPr>
          <p:cNvPr id="10" name="TextBox 9"/>
          <p:cNvSpPr txBox="1"/>
          <p:nvPr/>
        </p:nvSpPr>
        <p:spPr>
          <a:xfrm>
            <a:off x="402336" y="3657600"/>
            <a:ext cx="3931920" cy="237744"/>
          </a:xfrm>
          <a:prstGeom prst="rect">
            <a:avLst/>
          </a:prstGeom>
          <a:noFill/>
        </p:spPr>
        <p:txBody>
          <a:bodyPr wrap="square" anchor="t" lIns="0" rIns="0" tIns="0" bIns="0">
            <a:spAutoFit/>
          </a:bodyPr>
          <a:lstStyle/>
          <a:p>
            <a:pPr algn="l"/>
            <a:r>
              <a:rPr sz="1200" b="1" i="0">
                <a:solidFill>
                  <a:srgbClr val="1A1A1A"/>
                </a:solidFill>
                <a:latin typeface="Arial"/>
              </a:rPr>
              <a:t>Imprensa e cidadão</a:t>
            </a:r>
          </a:p>
        </p:txBody>
      </p:sp>
      <p:sp>
        <p:nvSpPr>
          <p:cNvPr id="11" name="TextBox 10"/>
          <p:cNvSpPr txBox="1"/>
          <p:nvPr/>
        </p:nvSpPr>
        <p:spPr>
          <a:xfrm>
            <a:off x="402336" y="3886200"/>
            <a:ext cx="3931920"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Acesso ao dado oficial com indicação da origem.</a:t>
            </a:r>
          </a:p>
        </p:txBody>
      </p:sp>
      <p:sp>
        <p:nvSpPr>
          <p:cNvPr id="12" name="TextBox 11"/>
          <p:cNvSpPr txBox="1"/>
          <p:nvPr/>
        </p:nvSpPr>
        <p:spPr>
          <a:xfrm>
            <a:off x="4754880" y="2231136"/>
            <a:ext cx="3986784" cy="256032"/>
          </a:xfrm>
          <a:prstGeom prst="rect">
            <a:avLst/>
          </a:prstGeom>
          <a:noFill/>
        </p:spPr>
        <p:txBody>
          <a:bodyPr wrap="square" anchor="t" lIns="0" rIns="0" tIns="0" bIns="0">
            <a:spAutoFit/>
          </a:bodyPr>
          <a:lstStyle/>
          <a:p>
            <a:pPr algn="l"/>
            <a:r>
              <a:rPr sz="1000" b="1" i="0">
                <a:solidFill>
                  <a:srgbClr val="2A5FFF"/>
                </a:solidFill>
                <a:latin typeface="Arial"/>
              </a:rPr>
              <a:t>O QUE ELA RESPONDE</a:t>
            </a:r>
          </a:p>
        </p:txBody>
      </p:sp>
      <p:sp>
        <p:nvSpPr>
          <p:cNvPr id="13" name="TextBox 12"/>
          <p:cNvSpPr txBox="1"/>
          <p:nvPr/>
        </p:nvSpPr>
        <p:spPr>
          <a:xfrm>
            <a:off x="4754880" y="2487168"/>
            <a:ext cx="3986784" cy="237744"/>
          </a:xfrm>
          <a:prstGeom prst="rect">
            <a:avLst/>
          </a:prstGeom>
          <a:noFill/>
        </p:spPr>
        <p:txBody>
          <a:bodyPr wrap="square" anchor="t" lIns="0" rIns="0" tIns="0" bIns="0">
            <a:spAutoFit/>
          </a:bodyPr>
          <a:lstStyle/>
          <a:p>
            <a:pPr algn="l"/>
            <a:r>
              <a:rPr sz="1200" b="1" i="0">
                <a:solidFill>
                  <a:srgbClr val="1A1A1A"/>
                </a:solidFill>
                <a:latin typeface="Arial"/>
              </a:rPr>
              <a:t>Boletins de Conjuntura Paulista</a:t>
            </a:r>
          </a:p>
        </p:txBody>
      </p:sp>
      <p:sp>
        <p:nvSpPr>
          <p:cNvPr id="14" name="TextBox 13"/>
          <p:cNvSpPr txBox="1"/>
          <p:nvPr/>
        </p:nvSpPr>
        <p:spPr>
          <a:xfrm>
            <a:off x="4754880" y="2715768"/>
            <a:ext cx="3986784"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Cerca de 22 edições do SEADE, de 2020 a 2025.</a:t>
            </a:r>
          </a:p>
        </p:txBody>
      </p:sp>
      <p:sp>
        <p:nvSpPr>
          <p:cNvPr id="15" name="TextBox 14"/>
          <p:cNvSpPr txBox="1"/>
          <p:nvPr/>
        </p:nvSpPr>
        <p:spPr>
          <a:xfrm>
            <a:off x="4754880" y="3072384"/>
            <a:ext cx="3986784" cy="237744"/>
          </a:xfrm>
          <a:prstGeom prst="rect">
            <a:avLst/>
          </a:prstGeom>
          <a:noFill/>
        </p:spPr>
        <p:txBody>
          <a:bodyPr wrap="square" anchor="t" lIns="0" rIns="0" tIns="0" bIns="0">
            <a:spAutoFit/>
          </a:bodyPr>
          <a:lstStyle/>
          <a:p>
            <a:pPr algn="l"/>
            <a:r>
              <a:rPr sz="1200" b="1" i="0">
                <a:solidFill>
                  <a:srgbClr val="1A1A1A"/>
                </a:solidFill>
                <a:latin typeface="Arial"/>
              </a:rPr>
              <a:t>Indicadores econômicos e de trabalho</a:t>
            </a:r>
          </a:p>
        </p:txBody>
      </p:sp>
      <p:sp>
        <p:nvSpPr>
          <p:cNvPr id="16" name="TextBox 15"/>
          <p:cNvSpPr txBox="1"/>
          <p:nvPr/>
        </p:nvSpPr>
        <p:spPr>
          <a:xfrm>
            <a:off x="4754880" y="3300984"/>
            <a:ext cx="3986784"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PIB, emprego, desocupação, atividade e comparações.</a:t>
            </a:r>
          </a:p>
        </p:txBody>
      </p:sp>
      <p:sp>
        <p:nvSpPr>
          <p:cNvPr id="17" name="TextBox 16"/>
          <p:cNvSpPr txBox="1"/>
          <p:nvPr/>
        </p:nvSpPr>
        <p:spPr>
          <a:xfrm>
            <a:off x="4754880" y="3657600"/>
            <a:ext cx="3986784" cy="237744"/>
          </a:xfrm>
          <a:prstGeom prst="rect">
            <a:avLst/>
          </a:prstGeom>
          <a:noFill/>
        </p:spPr>
        <p:txBody>
          <a:bodyPr wrap="square" anchor="t" lIns="0" rIns="0" tIns="0" bIns="0">
            <a:spAutoFit/>
          </a:bodyPr>
          <a:lstStyle/>
          <a:p>
            <a:pPr algn="l"/>
            <a:r>
              <a:rPr sz="1200" b="1" i="0">
                <a:solidFill>
                  <a:srgbClr val="1A1A1A"/>
                </a:solidFill>
                <a:latin typeface="Arial"/>
              </a:rPr>
              <a:t>Sempre com fonte</a:t>
            </a:r>
          </a:p>
        </p:txBody>
      </p:sp>
      <p:sp>
        <p:nvSpPr>
          <p:cNvPr id="18" name="TextBox 17"/>
          <p:cNvSpPr txBox="1"/>
          <p:nvPr/>
        </p:nvSpPr>
        <p:spPr>
          <a:xfrm>
            <a:off x="4754880" y="3886200"/>
            <a:ext cx="3986784" cy="310896"/>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Resposta acompanhada do arquivo e da página de origem.</a:t>
            </a:r>
          </a:p>
        </p:txBody>
      </p:sp>
      <p:sp>
        <p:nvSpPr>
          <p:cNvPr id="19" name="TextBox 18"/>
          <p:cNvSpPr txBox="1"/>
          <p:nvPr/>
        </p:nvSpPr>
        <p:spPr>
          <a:xfrm>
            <a:off x="402336" y="4261104"/>
            <a:ext cx="8339328" cy="292608"/>
          </a:xfrm>
          <a:prstGeom prst="rect">
            <a:avLst/>
          </a:prstGeom>
          <a:noFill/>
        </p:spPr>
        <p:txBody>
          <a:bodyPr wrap="square" anchor="t" lIns="0" rIns="0" tIns="0" bIns="0">
            <a:spAutoFit/>
          </a:bodyPr>
          <a:lstStyle/>
          <a:p>
            <a:pPr algn="l"/>
            <a:r>
              <a:rPr sz="1150" b="0" i="0">
                <a:solidFill>
                  <a:srgbClr val="4A4A4A"/>
                </a:solidFill>
                <a:latin typeface="Arial"/>
              </a:rPr>
              <a:t>Ponto de honestidade: o alcance da Nadia é o acervo indexado. Fora dele, o comportamento correto é dizer que não sabe.</a:t>
            </a:r>
          </a:p>
        </p:txBody>
      </p:sp>
      <p:sp>
        <p:nvSpPr>
          <p:cNvPr id="20" name="TextBox 19"/>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A interface: funcionalidades</a:t>
            </a:r>
          </a:p>
        </p:txBody>
      </p:sp>
      <p:pic>
        <p:nvPicPr>
          <p:cNvPr id="3" name="Picture 2" descr="image5.png"/>
          <p:cNvPicPr>
            <a:picLocks noChangeAspect="1"/>
          </p:cNvPicPr>
          <p:nvPr/>
        </p:nvPicPr>
        <p:blipFill>
          <a:blip r:embed="rId2"/>
          <a:stretch>
            <a:fillRect/>
          </a:stretch>
        </p:blipFill>
        <p:spPr>
          <a:xfrm>
            <a:off x="365760" y="1042416"/>
            <a:ext cx="4846320" cy="3365895"/>
          </a:xfrm>
          <a:prstGeom prst="rect">
            <a:avLst/>
          </a:prstGeom>
        </p:spPr>
      </p:pic>
      <p:sp>
        <p:nvSpPr>
          <p:cNvPr id="4" name="Rounded Rectangle 3"/>
          <p:cNvSpPr/>
          <p:nvPr/>
        </p:nvSpPr>
        <p:spPr>
          <a:xfrm>
            <a:off x="365760" y="1042416"/>
            <a:ext cx="4846320" cy="3090672"/>
          </a:xfrm>
          <a:prstGeom prst="roundRect">
            <a:avLst>
              <a:gd name="adj" fmla="val 6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5596128" y="1161288"/>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5833872" y="1088136"/>
            <a:ext cx="2907792" cy="237744"/>
          </a:xfrm>
          <a:prstGeom prst="rect">
            <a:avLst/>
          </a:prstGeom>
          <a:noFill/>
        </p:spPr>
        <p:txBody>
          <a:bodyPr wrap="square" anchor="t" lIns="0" rIns="0" tIns="0" bIns="0">
            <a:spAutoFit/>
          </a:bodyPr>
          <a:lstStyle/>
          <a:p>
            <a:pPr algn="l"/>
            <a:r>
              <a:rPr sz="1200" b="1" i="0">
                <a:solidFill>
                  <a:srgbClr val="1A1A1A"/>
                </a:solidFill>
                <a:latin typeface="Arial"/>
              </a:rPr>
              <a:t>Perguntas em linguagem natural</a:t>
            </a:r>
          </a:p>
        </p:txBody>
      </p:sp>
      <p:sp>
        <p:nvSpPr>
          <p:cNvPr id="7" name="TextBox 6"/>
          <p:cNvSpPr txBox="1"/>
          <p:nvPr/>
        </p:nvSpPr>
        <p:spPr>
          <a:xfrm>
            <a:off x="5833872" y="1316736"/>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Campo único, sem sintaxe e sem filtros obrigatórios.</a:t>
            </a:r>
          </a:p>
        </p:txBody>
      </p:sp>
      <p:sp>
        <p:nvSpPr>
          <p:cNvPr id="8" name="Oval 7"/>
          <p:cNvSpPr/>
          <p:nvPr/>
        </p:nvSpPr>
        <p:spPr>
          <a:xfrm>
            <a:off x="5596128" y="1723644"/>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5833872" y="1650492"/>
            <a:ext cx="2907792" cy="237744"/>
          </a:xfrm>
          <a:prstGeom prst="rect">
            <a:avLst/>
          </a:prstGeom>
          <a:noFill/>
        </p:spPr>
        <p:txBody>
          <a:bodyPr wrap="square" anchor="t" lIns="0" rIns="0" tIns="0" bIns="0">
            <a:spAutoFit/>
          </a:bodyPr>
          <a:lstStyle/>
          <a:p>
            <a:pPr algn="l"/>
            <a:r>
              <a:rPr sz="1200" b="1" i="0">
                <a:solidFill>
                  <a:srgbClr val="1A1A1A"/>
                </a:solidFill>
                <a:latin typeface="Arial"/>
              </a:rPr>
              <a:t>Histórico de análises</a:t>
            </a:r>
          </a:p>
        </p:txBody>
      </p:sp>
      <p:sp>
        <p:nvSpPr>
          <p:cNvPr id="10" name="TextBox 9"/>
          <p:cNvSpPr txBox="1"/>
          <p:nvPr/>
        </p:nvSpPr>
        <p:spPr>
          <a:xfrm>
            <a:off x="5833872" y="1879092"/>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As consultas anteriores ficam acessíveis na lateral.</a:t>
            </a:r>
          </a:p>
        </p:txBody>
      </p:sp>
      <p:sp>
        <p:nvSpPr>
          <p:cNvPr id="11" name="Oval 10"/>
          <p:cNvSpPr/>
          <p:nvPr/>
        </p:nvSpPr>
        <p:spPr>
          <a:xfrm>
            <a:off x="5596128" y="2286000"/>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5833872" y="2212848"/>
            <a:ext cx="2907792" cy="237744"/>
          </a:xfrm>
          <a:prstGeom prst="rect">
            <a:avLst/>
          </a:prstGeom>
          <a:noFill/>
        </p:spPr>
        <p:txBody>
          <a:bodyPr wrap="square" anchor="t" lIns="0" rIns="0" tIns="0" bIns="0">
            <a:spAutoFit/>
          </a:bodyPr>
          <a:lstStyle/>
          <a:p>
            <a:pPr algn="l"/>
            <a:r>
              <a:rPr sz="1200" b="1" i="0">
                <a:solidFill>
                  <a:srgbClr val="1A1A1A"/>
                </a:solidFill>
                <a:latin typeface="Arial"/>
              </a:rPr>
              <a:t>Fontes da resposta</a:t>
            </a:r>
          </a:p>
        </p:txBody>
      </p:sp>
      <p:sp>
        <p:nvSpPr>
          <p:cNvPr id="13" name="TextBox 12"/>
          <p:cNvSpPr txBox="1"/>
          <p:nvPr/>
        </p:nvSpPr>
        <p:spPr>
          <a:xfrm>
            <a:off x="5833872" y="2441448"/>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Botão que abre as referências usadas na resposta.</a:t>
            </a:r>
          </a:p>
        </p:txBody>
      </p:sp>
      <p:sp>
        <p:nvSpPr>
          <p:cNvPr id="14" name="Oval 13"/>
          <p:cNvSpPr/>
          <p:nvPr/>
        </p:nvSpPr>
        <p:spPr>
          <a:xfrm>
            <a:off x="5596128" y="2848356"/>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5833872" y="2775204"/>
            <a:ext cx="2907792" cy="237744"/>
          </a:xfrm>
          <a:prstGeom prst="rect">
            <a:avLst/>
          </a:prstGeom>
          <a:noFill/>
        </p:spPr>
        <p:txBody>
          <a:bodyPr wrap="square" anchor="t" lIns="0" rIns="0" tIns="0" bIns="0">
            <a:spAutoFit/>
          </a:bodyPr>
          <a:lstStyle/>
          <a:p>
            <a:pPr algn="l"/>
            <a:r>
              <a:rPr sz="1200" b="1" i="0">
                <a:solidFill>
                  <a:srgbClr val="1A1A1A"/>
                </a:solidFill>
                <a:latin typeface="Arial"/>
              </a:rPr>
              <a:t>Ver evidências</a:t>
            </a:r>
          </a:p>
        </p:txBody>
      </p:sp>
      <p:sp>
        <p:nvSpPr>
          <p:cNvPr id="16" name="TextBox 15"/>
          <p:cNvSpPr txBox="1"/>
          <p:nvPr/>
        </p:nvSpPr>
        <p:spPr>
          <a:xfrm>
            <a:off x="5833872" y="3003804"/>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Acesso ao trecho de origem que sustenta cada valor.</a:t>
            </a:r>
          </a:p>
        </p:txBody>
      </p:sp>
      <p:sp>
        <p:nvSpPr>
          <p:cNvPr id="17" name="Oval 16"/>
          <p:cNvSpPr/>
          <p:nvPr/>
        </p:nvSpPr>
        <p:spPr>
          <a:xfrm>
            <a:off x="5596128" y="3410712"/>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5833872" y="3337560"/>
            <a:ext cx="2907792" cy="237744"/>
          </a:xfrm>
          <a:prstGeom prst="rect">
            <a:avLst/>
          </a:prstGeom>
          <a:noFill/>
        </p:spPr>
        <p:txBody>
          <a:bodyPr wrap="square" anchor="t" lIns="0" rIns="0" tIns="0" bIns="0">
            <a:spAutoFit/>
          </a:bodyPr>
          <a:lstStyle/>
          <a:p>
            <a:pPr algn="l"/>
            <a:r>
              <a:rPr sz="1200" b="1" i="0">
                <a:solidFill>
                  <a:srgbClr val="1A1A1A"/>
                </a:solidFill>
                <a:latin typeface="Arial"/>
              </a:rPr>
              <a:t>Validação numérica</a:t>
            </a:r>
          </a:p>
        </p:txBody>
      </p:sp>
      <p:sp>
        <p:nvSpPr>
          <p:cNvPr id="19" name="TextBox 18"/>
          <p:cNvSpPr txBox="1"/>
          <p:nvPr/>
        </p:nvSpPr>
        <p:spPr>
          <a:xfrm>
            <a:off x="5833872" y="3566160"/>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Conferência dos números contra o dado recuperado.</a:t>
            </a:r>
          </a:p>
        </p:txBody>
      </p:sp>
      <p:sp>
        <p:nvSpPr>
          <p:cNvPr id="20" name="Oval 19"/>
          <p:cNvSpPr/>
          <p:nvPr/>
        </p:nvSpPr>
        <p:spPr>
          <a:xfrm>
            <a:off x="5596128" y="3973068"/>
            <a:ext cx="118872" cy="118872"/>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5833872" y="3899916"/>
            <a:ext cx="2907792" cy="237744"/>
          </a:xfrm>
          <a:prstGeom prst="rect">
            <a:avLst/>
          </a:prstGeom>
          <a:noFill/>
        </p:spPr>
        <p:txBody>
          <a:bodyPr wrap="square" anchor="t" lIns="0" rIns="0" tIns="0" bIns="0">
            <a:spAutoFit/>
          </a:bodyPr>
          <a:lstStyle/>
          <a:p>
            <a:pPr algn="l"/>
            <a:r>
              <a:rPr sz="1200" b="1" i="0">
                <a:solidFill>
                  <a:srgbClr val="1A1A1A"/>
                </a:solidFill>
                <a:latin typeface="Arial"/>
              </a:rPr>
              <a:t>Copiar e exportar</a:t>
            </a:r>
          </a:p>
        </p:txBody>
      </p:sp>
      <p:sp>
        <p:nvSpPr>
          <p:cNvPr id="22" name="TextBox 21"/>
          <p:cNvSpPr txBox="1"/>
          <p:nvPr/>
        </p:nvSpPr>
        <p:spPr>
          <a:xfrm>
            <a:off x="5833872" y="4128516"/>
            <a:ext cx="2907792" cy="292608"/>
          </a:xfrm>
          <a:prstGeom prst="rect">
            <a:avLst/>
          </a:prstGeom>
          <a:noFill/>
        </p:spPr>
        <p:txBody>
          <a:bodyPr wrap="square" anchor="t" lIns="0" rIns="0" tIns="0" bIns="0">
            <a:spAutoFit/>
          </a:bodyPr>
          <a:lstStyle/>
          <a:p>
            <a:pPr algn="l">
              <a:lnSpc>
                <a:spcPct val="105000"/>
              </a:lnSpc>
            </a:pPr>
            <a:r>
              <a:rPr sz="1000" b="0" i="0">
                <a:solidFill>
                  <a:srgbClr val="4A4A4A"/>
                </a:solidFill>
                <a:latin typeface="Arial"/>
              </a:rPr>
              <a:t>A resposta pode ser levada para outro documento.</a:t>
            </a:r>
          </a:p>
        </p:txBody>
      </p:sp>
      <p:sp>
        <p:nvSpPr>
          <p:cNvPr id="23" name="TextBox 22"/>
          <p:cNvSpPr txBox="1"/>
          <p:nvPr/>
        </p:nvSpPr>
        <p:spPr>
          <a:xfrm>
            <a:off x="365760" y="4187952"/>
            <a:ext cx="4846320" cy="201168"/>
          </a:xfrm>
          <a:prstGeom prst="rect">
            <a:avLst/>
          </a:prstGeom>
          <a:noFill/>
        </p:spPr>
        <p:txBody>
          <a:bodyPr wrap="square" anchor="t" lIns="0" rIns="0" tIns="0" bIns="0">
            <a:spAutoFit/>
          </a:bodyPr>
          <a:lstStyle/>
          <a:p>
            <a:pPr algn="l"/>
            <a:r>
              <a:rPr sz="900" b="0" i="0">
                <a:solidFill>
                  <a:srgbClr val="767676"/>
                </a:solidFill>
                <a:latin typeface="Arial"/>
              </a:rPr>
              <a:t>Tela inicial da aplicação em execução local, conectada ao índice.</a:t>
            </a:r>
          </a:p>
        </p:txBody>
      </p:sp>
      <p:sp>
        <p:nvSpPr>
          <p:cNvPr id="24" name="TextBox 23"/>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Os três tipos de pergunta que ela atende</a:t>
            </a:r>
          </a:p>
        </p:txBody>
      </p:sp>
      <p:sp>
        <p:nvSpPr>
          <p:cNvPr id="3" name="Rounded Rectangle 2"/>
          <p:cNvSpPr/>
          <p:nvPr/>
        </p:nvSpPr>
        <p:spPr>
          <a:xfrm>
            <a:off x="402336"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402336" y="1078992"/>
            <a:ext cx="2688336" cy="54864"/>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66928" y="1261872"/>
            <a:ext cx="2359152" cy="256032"/>
          </a:xfrm>
          <a:prstGeom prst="rect">
            <a:avLst/>
          </a:prstGeom>
          <a:noFill/>
        </p:spPr>
        <p:txBody>
          <a:bodyPr wrap="square" anchor="t" lIns="0" rIns="0" tIns="0" bIns="0">
            <a:spAutoFit/>
          </a:bodyPr>
          <a:lstStyle/>
          <a:p>
            <a:pPr algn="l"/>
            <a:r>
              <a:rPr sz="1400" b="1" i="0">
                <a:solidFill>
                  <a:srgbClr val="1B3FA8"/>
                </a:solidFill>
                <a:latin typeface="Arial"/>
              </a:rPr>
              <a:t>Consulta pontual</a:t>
            </a:r>
          </a:p>
        </p:txBody>
      </p:sp>
      <p:sp>
        <p:nvSpPr>
          <p:cNvPr id="6" name="TextBox 5"/>
          <p:cNvSpPr txBox="1"/>
          <p:nvPr/>
        </p:nvSpPr>
        <p:spPr>
          <a:xfrm>
            <a:off x="566928" y="1536192"/>
            <a:ext cx="2359152" cy="274320"/>
          </a:xfrm>
          <a:prstGeom prst="rect">
            <a:avLst/>
          </a:prstGeom>
          <a:noFill/>
        </p:spPr>
        <p:txBody>
          <a:bodyPr wrap="square" anchor="t" lIns="0" rIns="0" tIns="0" bIns="0">
            <a:spAutoFit/>
          </a:bodyPr>
          <a:lstStyle/>
          <a:p>
            <a:pPr algn="l">
              <a:lnSpc>
                <a:spcPct val="106000"/>
              </a:lnSpc>
            </a:pPr>
            <a:r>
              <a:rPr sz="1050" b="0" i="0">
                <a:solidFill>
                  <a:srgbClr val="767676"/>
                </a:solidFill>
                <a:latin typeface="Arial"/>
              </a:rPr>
              <a:t>Um valor específico, em um período definido.</a:t>
            </a:r>
          </a:p>
        </p:txBody>
      </p:sp>
      <p:sp>
        <p:nvSpPr>
          <p:cNvPr id="7" name="Rounded Rectangle 6"/>
          <p:cNvSpPr/>
          <p:nvPr/>
        </p:nvSpPr>
        <p:spPr>
          <a:xfrm>
            <a:off x="566928" y="1883664"/>
            <a:ext cx="2359152" cy="914400"/>
          </a:xfrm>
          <a:prstGeom prst="roundRect">
            <a:avLst>
              <a:gd name="adj" fmla="val 5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94944" y="2011680"/>
            <a:ext cx="2103120" cy="676656"/>
          </a:xfrm>
          <a:prstGeom prst="rect">
            <a:avLst/>
          </a:prstGeom>
          <a:noFill/>
        </p:spPr>
        <p:txBody>
          <a:bodyPr wrap="square" anchor="t" lIns="0" rIns="0" tIns="0" bIns="0">
            <a:spAutoFit/>
          </a:bodyPr>
          <a:lstStyle/>
          <a:p>
            <a:pPr algn="l">
              <a:lnSpc>
                <a:spcPct val="114000"/>
              </a:lnSpc>
            </a:pPr>
            <a:r>
              <a:rPr sz="1150" b="0" i="1">
                <a:solidFill>
                  <a:srgbClr val="1A1A1A"/>
                </a:solidFill>
                <a:latin typeface="Arial"/>
              </a:rPr>
              <a:t>“Qual foi a variação do PIB paulista no 1º trimestre de 2024?”</a:t>
            </a:r>
          </a:p>
        </p:txBody>
      </p:sp>
      <p:sp>
        <p:nvSpPr>
          <p:cNvPr id="9" name="TextBox 8"/>
          <p:cNvSpPr txBox="1"/>
          <p:nvPr/>
        </p:nvSpPr>
        <p:spPr>
          <a:xfrm>
            <a:off x="566928" y="2926080"/>
            <a:ext cx="2359152" cy="256032"/>
          </a:xfrm>
          <a:prstGeom prst="rect">
            <a:avLst/>
          </a:prstGeom>
          <a:noFill/>
        </p:spPr>
        <p:txBody>
          <a:bodyPr wrap="square" anchor="t" lIns="0" rIns="0" tIns="0" bIns="0">
            <a:spAutoFit/>
          </a:bodyPr>
          <a:lstStyle/>
          <a:p>
            <a:pPr algn="l"/>
            <a:r>
              <a:rPr sz="850" b="1" i="0">
                <a:solidFill>
                  <a:srgbClr val="2A5FFF"/>
                </a:solidFill>
                <a:latin typeface="Arial"/>
              </a:rPr>
              <a:t>COMO A NADIA RESPONDE</a:t>
            </a:r>
          </a:p>
        </p:txBody>
      </p:sp>
      <p:sp>
        <p:nvSpPr>
          <p:cNvPr id="10" name="TextBox 9"/>
          <p:cNvSpPr txBox="1"/>
          <p:nvPr/>
        </p:nvSpPr>
        <p:spPr>
          <a:xfrm>
            <a:off x="566928" y="3182112"/>
            <a:ext cx="2359152" cy="786384"/>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Recupera o trecho e a tabela do período e devolve o valor com a fonte.</a:t>
            </a:r>
          </a:p>
        </p:txBody>
      </p:sp>
      <p:sp>
        <p:nvSpPr>
          <p:cNvPr id="11" name="Rounded Rectangle 10"/>
          <p:cNvSpPr/>
          <p:nvPr/>
        </p:nvSpPr>
        <p:spPr>
          <a:xfrm>
            <a:off x="3227832"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3227832" y="1078992"/>
            <a:ext cx="2688336" cy="54864"/>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92424" y="1261872"/>
            <a:ext cx="2359152" cy="256032"/>
          </a:xfrm>
          <a:prstGeom prst="rect">
            <a:avLst/>
          </a:prstGeom>
          <a:noFill/>
        </p:spPr>
        <p:txBody>
          <a:bodyPr wrap="square" anchor="t" lIns="0" rIns="0" tIns="0" bIns="0">
            <a:spAutoFit/>
          </a:bodyPr>
          <a:lstStyle/>
          <a:p>
            <a:pPr algn="l"/>
            <a:r>
              <a:rPr sz="1400" b="1" i="0">
                <a:solidFill>
                  <a:srgbClr val="1B3FA8"/>
                </a:solidFill>
                <a:latin typeface="Arial"/>
              </a:rPr>
              <a:t>Evolução no tempo</a:t>
            </a:r>
          </a:p>
        </p:txBody>
      </p:sp>
      <p:sp>
        <p:nvSpPr>
          <p:cNvPr id="14" name="TextBox 13"/>
          <p:cNvSpPr txBox="1"/>
          <p:nvPr/>
        </p:nvSpPr>
        <p:spPr>
          <a:xfrm>
            <a:off x="3392424" y="1536192"/>
            <a:ext cx="2359152" cy="274320"/>
          </a:xfrm>
          <a:prstGeom prst="rect">
            <a:avLst/>
          </a:prstGeom>
          <a:noFill/>
        </p:spPr>
        <p:txBody>
          <a:bodyPr wrap="square" anchor="t" lIns="0" rIns="0" tIns="0" bIns="0">
            <a:spAutoFit/>
          </a:bodyPr>
          <a:lstStyle/>
          <a:p>
            <a:pPr algn="l">
              <a:lnSpc>
                <a:spcPct val="106000"/>
              </a:lnSpc>
            </a:pPr>
            <a:r>
              <a:rPr sz="1050" b="0" i="0">
                <a:solidFill>
                  <a:srgbClr val="767676"/>
                </a:solidFill>
                <a:latin typeface="Arial"/>
              </a:rPr>
              <a:t>Comportamento de um indicador ao longo de períodos.</a:t>
            </a:r>
          </a:p>
        </p:txBody>
      </p:sp>
      <p:sp>
        <p:nvSpPr>
          <p:cNvPr id="15" name="Rounded Rectangle 14"/>
          <p:cNvSpPr/>
          <p:nvPr/>
        </p:nvSpPr>
        <p:spPr>
          <a:xfrm>
            <a:off x="3392424" y="1883664"/>
            <a:ext cx="2359152" cy="914400"/>
          </a:xfrm>
          <a:prstGeom prst="roundRect">
            <a:avLst>
              <a:gd name="adj" fmla="val 5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20440" y="2011680"/>
            <a:ext cx="2103120" cy="676656"/>
          </a:xfrm>
          <a:prstGeom prst="rect">
            <a:avLst/>
          </a:prstGeom>
          <a:noFill/>
        </p:spPr>
        <p:txBody>
          <a:bodyPr wrap="square" anchor="t" lIns="0" rIns="0" tIns="0" bIns="0">
            <a:spAutoFit/>
          </a:bodyPr>
          <a:lstStyle/>
          <a:p>
            <a:pPr algn="l">
              <a:lnSpc>
                <a:spcPct val="114000"/>
              </a:lnSpc>
            </a:pPr>
            <a:r>
              <a:rPr sz="1150" b="0" i="1">
                <a:solidFill>
                  <a:srgbClr val="1A1A1A"/>
                </a:solidFill>
                <a:latin typeface="Arial"/>
              </a:rPr>
              <a:t>“Como evoluiu a taxa de desemprego em São Paulo ao longo de 2024?”</a:t>
            </a:r>
          </a:p>
        </p:txBody>
      </p:sp>
      <p:sp>
        <p:nvSpPr>
          <p:cNvPr id="17" name="TextBox 16"/>
          <p:cNvSpPr txBox="1"/>
          <p:nvPr/>
        </p:nvSpPr>
        <p:spPr>
          <a:xfrm>
            <a:off x="3392424" y="2926080"/>
            <a:ext cx="2359152" cy="256032"/>
          </a:xfrm>
          <a:prstGeom prst="rect">
            <a:avLst/>
          </a:prstGeom>
          <a:noFill/>
        </p:spPr>
        <p:txBody>
          <a:bodyPr wrap="square" anchor="t" lIns="0" rIns="0" tIns="0" bIns="0">
            <a:spAutoFit/>
          </a:bodyPr>
          <a:lstStyle/>
          <a:p>
            <a:pPr algn="l"/>
            <a:r>
              <a:rPr sz="850" b="1" i="0">
                <a:solidFill>
                  <a:srgbClr val="2A5FFF"/>
                </a:solidFill>
                <a:latin typeface="Arial"/>
              </a:rPr>
              <a:t>COMO A NADIA RESPONDE</a:t>
            </a:r>
          </a:p>
        </p:txBody>
      </p:sp>
      <p:sp>
        <p:nvSpPr>
          <p:cNvPr id="18" name="TextBox 17"/>
          <p:cNvSpPr txBox="1"/>
          <p:nvPr/>
        </p:nvSpPr>
        <p:spPr>
          <a:xfrm>
            <a:off x="3392424" y="3182112"/>
            <a:ext cx="2359152" cy="786384"/>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Reúne as séries dos boletins do recorte e descreve a trajetória.</a:t>
            </a:r>
          </a:p>
        </p:txBody>
      </p:sp>
      <p:sp>
        <p:nvSpPr>
          <p:cNvPr id="19" name="Rounded Rectangle 18"/>
          <p:cNvSpPr/>
          <p:nvPr/>
        </p:nvSpPr>
        <p:spPr>
          <a:xfrm>
            <a:off x="6053328" y="1078992"/>
            <a:ext cx="2688336" cy="3054096"/>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053328" y="1078992"/>
            <a:ext cx="2688336" cy="54864"/>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7920" y="1261872"/>
            <a:ext cx="2359152" cy="256032"/>
          </a:xfrm>
          <a:prstGeom prst="rect">
            <a:avLst/>
          </a:prstGeom>
          <a:noFill/>
        </p:spPr>
        <p:txBody>
          <a:bodyPr wrap="square" anchor="t" lIns="0" rIns="0" tIns="0" bIns="0">
            <a:spAutoFit/>
          </a:bodyPr>
          <a:lstStyle/>
          <a:p>
            <a:pPr algn="l"/>
            <a:r>
              <a:rPr sz="1400" b="1" i="0">
                <a:solidFill>
                  <a:srgbClr val="1B3FA8"/>
                </a:solidFill>
                <a:latin typeface="Arial"/>
              </a:rPr>
              <a:t>Análise comparada</a:t>
            </a:r>
          </a:p>
        </p:txBody>
      </p:sp>
      <p:sp>
        <p:nvSpPr>
          <p:cNvPr id="22" name="TextBox 21"/>
          <p:cNvSpPr txBox="1"/>
          <p:nvPr/>
        </p:nvSpPr>
        <p:spPr>
          <a:xfrm>
            <a:off x="6217920" y="1536192"/>
            <a:ext cx="2359152" cy="274320"/>
          </a:xfrm>
          <a:prstGeom prst="rect">
            <a:avLst/>
          </a:prstGeom>
          <a:noFill/>
        </p:spPr>
        <p:txBody>
          <a:bodyPr wrap="square" anchor="t" lIns="0" rIns="0" tIns="0" bIns="0">
            <a:spAutoFit/>
          </a:bodyPr>
          <a:lstStyle/>
          <a:p>
            <a:pPr algn="l">
              <a:lnSpc>
                <a:spcPct val="106000"/>
              </a:lnSpc>
            </a:pPr>
            <a:r>
              <a:rPr sz="1050" b="0" i="0">
                <a:solidFill>
                  <a:srgbClr val="767676"/>
                </a:solidFill>
                <a:latin typeface="Arial"/>
              </a:rPr>
              <a:t>Confronto entre períodos, territórios ou indicadores.</a:t>
            </a:r>
          </a:p>
        </p:txBody>
      </p:sp>
      <p:sp>
        <p:nvSpPr>
          <p:cNvPr id="23" name="Rounded Rectangle 22"/>
          <p:cNvSpPr/>
          <p:nvPr/>
        </p:nvSpPr>
        <p:spPr>
          <a:xfrm>
            <a:off x="6217920" y="1883664"/>
            <a:ext cx="2359152" cy="914400"/>
          </a:xfrm>
          <a:prstGeom prst="roundRect">
            <a:avLst>
              <a:gd name="adj" fmla="val 5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45936" y="2011680"/>
            <a:ext cx="2103120" cy="676656"/>
          </a:xfrm>
          <a:prstGeom prst="rect">
            <a:avLst/>
          </a:prstGeom>
          <a:noFill/>
        </p:spPr>
        <p:txBody>
          <a:bodyPr wrap="square" anchor="t" lIns="0" rIns="0" tIns="0" bIns="0">
            <a:spAutoFit/>
          </a:bodyPr>
          <a:lstStyle/>
          <a:p>
            <a:pPr algn="l">
              <a:lnSpc>
                <a:spcPct val="114000"/>
              </a:lnSpc>
            </a:pPr>
            <a:r>
              <a:rPr sz="1150" b="0" i="1">
                <a:solidFill>
                  <a:srgbClr val="1A1A1A"/>
                </a:solidFill>
                <a:latin typeface="Arial"/>
              </a:rPr>
              <a:t>“Como o desempenho econômico paulista se compara ao brasileiro?”</a:t>
            </a:r>
          </a:p>
        </p:txBody>
      </p:sp>
      <p:sp>
        <p:nvSpPr>
          <p:cNvPr id="25" name="TextBox 24"/>
          <p:cNvSpPr txBox="1"/>
          <p:nvPr/>
        </p:nvSpPr>
        <p:spPr>
          <a:xfrm>
            <a:off x="6217920" y="2926080"/>
            <a:ext cx="2359152" cy="256032"/>
          </a:xfrm>
          <a:prstGeom prst="rect">
            <a:avLst/>
          </a:prstGeom>
          <a:noFill/>
        </p:spPr>
        <p:txBody>
          <a:bodyPr wrap="square" anchor="t" lIns="0" rIns="0" tIns="0" bIns="0">
            <a:spAutoFit/>
          </a:bodyPr>
          <a:lstStyle/>
          <a:p>
            <a:pPr algn="l"/>
            <a:r>
              <a:rPr sz="850" b="1" i="0">
                <a:solidFill>
                  <a:srgbClr val="2A5FFF"/>
                </a:solidFill>
                <a:latin typeface="Arial"/>
              </a:rPr>
              <a:t>COMO A NADIA RESPONDE</a:t>
            </a:r>
          </a:p>
        </p:txBody>
      </p:sp>
      <p:sp>
        <p:nvSpPr>
          <p:cNvPr id="26" name="TextBox 25"/>
          <p:cNvSpPr txBox="1"/>
          <p:nvPr/>
        </p:nvSpPr>
        <p:spPr>
          <a:xfrm>
            <a:off x="6217920" y="3182112"/>
            <a:ext cx="2359152" cy="786384"/>
          </a:xfrm>
          <a:prstGeom prst="rect">
            <a:avLst/>
          </a:prstGeom>
          <a:noFill/>
        </p:spPr>
        <p:txBody>
          <a:bodyPr wrap="square" anchor="t" lIns="0" rIns="0" tIns="0" bIns="0">
            <a:spAutoFit/>
          </a:bodyPr>
          <a:lstStyle/>
          <a:p>
            <a:pPr algn="l">
              <a:lnSpc>
                <a:spcPct val="110000"/>
              </a:lnSpc>
            </a:pPr>
            <a:r>
              <a:rPr sz="1100" b="0" i="0">
                <a:solidFill>
                  <a:srgbClr val="4A4A4A"/>
                </a:solidFill>
                <a:latin typeface="Arial"/>
              </a:rPr>
              <a:t>Busca os dois conjuntos de dados e redige a comparação com as fontes.</a:t>
            </a:r>
          </a:p>
        </p:txBody>
      </p:sp>
      <p:sp>
        <p:nvSpPr>
          <p:cNvPr id="27" name="TextBox 26"/>
          <p:cNvSpPr txBox="1"/>
          <p:nvPr/>
        </p:nvSpPr>
        <p:spPr>
          <a:xfrm>
            <a:off x="402336" y="4261104"/>
            <a:ext cx="8339328" cy="292608"/>
          </a:xfrm>
          <a:prstGeom prst="rect">
            <a:avLst/>
          </a:prstGeom>
          <a:noFill/>
        </p:spPr>
        <p:txBody>
          <a:bodyPr wrap="square" anchor="t" lIns="0" rIns="0" tIns="0" bIns="0">
            <a:spAutoFit/>
          </a:bodyPr>
          <a:lstStyle/>
          <a:p>
            <a:pPr algn="l"/>
            <a:r>
              <a:rPr sz="1150" b="0" i="0">
                <a:solidFill>
                  <a:srgbClr val="4A4A4A"/>
                </a:solidFill>
                <a:latin typeface="Arial"/>
              </a:rPr>
              <a:t>Os três tipos usam caminhos de recuperação diferentes — é o que justifica tratar texto, tabela e série separadamente.</a:t>
            </a:r>
          </a:p>
        </p:txBody>
      </p:sp>
      <p:sp>
        <p:nvSpPr>
          <p:cNvPr id="28" name="TextBox 2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Demonstração: pergunta sobre o PIB paulista</a:t>
            </a:r>
          </a:p>
        </p:txBody>
      </p:sp>
      <p:pic>
        <p:nvPicPr>
          <p:cNvPr id="3" name="Picture 2" descr="image8.png"/>
          <p:cNvPicPr>
            <a:picLocks noChangeAspect="1"/>
          </p:cNvPicPr>
          <p:nvPr/>
        </p:nvPicPr>
        <p:blipFill>
          <a:blip r:embed="rId2"/>
          <a:stretch>
            <a:fillRect/>
          </a:stretch>
        </p:blipFill>
        <p:spPr>
          <a:xfrm>
            <a:off x="777240" y="1042416"/>
            <a:ext cx="7330342" cy="3127248"/>
          </a:xfrm>
          <a:prstGeom prst="rect">
            <a:avLst/>
          </a:prstGeom>
        </p:spPr>
      </p:pic>
      <p:sp>
        <p:nvSpPr>
          <p:cNvPr id="4" name="Rounded Rectangle 3"/>
          <p:cNvSpPr/>
          <p:nvPr/>
        </p:nvSpPr>
        <p:spPr>
          <a:xfrm>
            <a:off x="777240" y="1042416"/>
            <a:ext cx="7552944" cy="3127248"/>
          </a:xfrm>
          <a:prstGeom prst="roundRect">
            <a:avLst>
              <a:gd name="adj" fmla="val 6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4242816"/>
            <a:ext cx="7552944" cy="182880"/>
          </a:xfrm>
          <a:prstGeom prst="rect">
            <a:avLst/>
          </a:prstGeom>
          <a:noFill/>
        </p:spPr>
        <p:txBody>
          <a:bodyPr wrap="square" anchor="t" lIns="0" rIns="0" tIns="0" bIns="0">
            <a:spAutoFit/>
          </a:bodyPr>
          <a:lstStyle/>
          <a:p>
            <a:pPr algn="l"/>
            <a:r>
              <a:rPr sz="1000" b="0" i="0">
                <a:solidFill>
                  <a:srgbClr val="4A4A4A"/>
                </a:solidFill>
                <a:latin typeface="Arial"/>
              </a:rPr>
              <a:t>Resposta real obtida na aplicação: o período de comparação é explícito e o boletim de origem é nomeado.</a:t>
            </a:r>
          </a:p>
        </p:txBody>
      </p:sp>
      <p:sp>
        <p:nvSpPr>
          <p:cNvPr id="6" name="Oval 5"/>
          <p:cNvSpPr/>
          <p:nvPr/>
        </p:nvSpPr>
        <p:spPr>
          <a:xfrm>
            <a:off x="777240" y="4480560"/>
            <a:ext cx="91440" cy="91440"/>
          </a:xfrm>
          <a:prstGeom prst="ellipse">
            <a:avLst/>
          </a:prstGeom>
          <a:solidFill>
            <a:srgbClr val="1E9E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41832" y="4453128"/>
            <a:ext cx="7406640" cy="182880"/>
          </a:xfrm>
          <a:prstGeom prst="rect">
            <a:avLst/>
          </a:prstGeom>
          <a:noFill/>
        </p:spPr>
        <p:txBody>
          <a:bodyPr wrap="square" anchor="t" lIns="0" rIns="0" tIns="0" bIns="0">
            <a:spAutoFit/>
          </a:bodyPr>
          <a:lstStyle/>
          <a:p>
            <a:pPr algn="l"/>
            <a:r>
              <a:rPr sz="900" b="0" i="0">
                <a:solidFill>
                  <a:srgbClr val="767676"/>
                </a:solidFill>
                <a:latin typeface="Arial"/>
              </a:rPr>
              <a:t>Captura real da interface · resposta em 41,9 s, com 9 fontes.</a:t>
            </a:r>
          </a:p>
        </p:txBody>
      </p:sp>
      <p:sp>
        <p:nvSpPr>
          <p:cNvPr id="8" name="TextBox 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Demonstração: mercado de trabalho</a:t>
            </a:r>
          </a:p>
        </p:txBody>
      </p:sp>
      <p:pic>
        <p:nvPicPr>
          <p:cNvPr id="3" name="Picture 2" descr="image9.png"/>
          <p:cNvPicPr>
            <a:picLocks noChangeAspect="1"/>
          </p:cNvPicPr>
          <p:nvPr/>
        </p:nvPicPr>
        <p:blipFill>
          <a:blip r:embed="rId2"/>
          <a:stretch>
            <a:fillRect/>
          </a:stretch>
        </p:blipFill>
        <p:spPr>
          <a:xfrm>
            <a:off x="777240" y="1042416"/>
            <a:ext cx="7736330" cy="3127248"/>
          </a:xfrm>
          <a:prstGeom prst="rect">
            <a:avLst/>
          </a:prstGeom>
        </p:spPr>
      </p:pic>
      <p:sp>
        <p:nvSpPr>
          <p:cNvPr id="4" name="Rounded Rectangle 3"/>
          <p:cNvSpPr/>
          <p:nvPr/>
        </p:nvSpPr>
        <p:spPr>
          <a:xfrm>
            <a:off x="777240" y="1042416"/>
            <a:ext cx="7552944" cy="3127248"/>
          </a:xfrm>
          <a:prstGeom prst="roundRect">
            <a:avLst>
              <a:gd name="adj" fmla="val 6000"/>
            </a:avLst>
          </a:prstGeom>
          <a:no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4242816"/>
            <a:ext cx="7552944" cy="182880"/>
          </a:xfrm>
          <a:prstGeom prst="rect">
            <a:avLst/>
          </a:prstGeom>
          <a:noFill/>
        </p:spPr>
        <p:txBody>
          <a:bodyPr wrap="square" anchor="t" lIns="0" rIns="0" tIns="0" bIns="0">
            <a:spAutoFit/>
          </a:bodyPr>
          <a:lstStyle/>
          <a:p>
            <a:pPr algn="l"/>
            <a:r>
              <a:rPr sz="1000" b="0" i="0">
                <a:solidFill>
                  <a:srgbClr val="4A4A4A"/>
                </a:solidFill>
                <a:latin typeface="Arial"/>
              </a:rPr>
              <a:t>Cada valor recebe sua própria evidência: desocupação, variação em ponto percentual, população ocupada e força de trabalho.</a:t>
            </a:r>
          </a:p>
        </p:txBody>
      </p:sp>
      <p:sp>
        <p:nvSpPr>
          <p:cNvPr id="6" name="Oval 5"/>
          <p:cNvSpPr/>
          <p:nvPr/>
        </p:nvSpPr>
        <p:spPr>
          <a:xfrm>
            <a:off x="777240" y="4480560"/>
            <a:ext cx="91440" cy="91440"/>
          </a:xfrm>
          <a:prstGeom prst="ellipse">
            <a:avLst/>
          </a:prstGeom>
          <a:solidFill>
            <a:srgbClr val="1E9E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41832" y="4453128"/>
            <a:ext cx="7406640" cy="182880"/>
          </a:xfrm>
          <a:prstGeom prst="rect">
            <a:avLst/>
          </a:prstGeom>
          <a:noFill/>
        </p:spPr>
        <p:txBody>
          <a:bodyPr wrap="square" anchor="t" lIns="0" rIns="0" tIns="0" bIns="0">
            <a:spAutoFit/>
          </a:bodyPr>
          <a:lstStyle/>
          <a:p>
            <a:pPr algn="l"/>
            <a:r>
              <a:rPr sz="900" b="0" i="0">
                <a:solidFill>
                  <a:srgbClr val="767676"/>
                </a:solidFill>
                <a:latin typeface="Arial"/>
              </a:rPr>
              <a:t>Captura real da interface · resposta em 45,7 s, com 11 fontes.</a:t>
            </a:r>
          </a:p>
        </p:txBody>
      </p:sp>
      <p:sp>
        <p:nvSpPr>
          <p:cNvPr id="8" name="TextBox 7"/>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Arquitetura do aplicativo</a:t>
            </a:r>
          </a:p>
        </p:txBody>
      </p:sp>
      <p:sp>
        <p:nvSpPr>
          <p:cNvPr id="3" name="Rounded Rectangle 2"/>
          <p:cNvSpPr/>
          <p:nvPr/>
        </p:nvSpPr>
        <p:spPr>
          <a:xfrm>
            <a:off x="402336" y="1060704"/>
            <a:ext cx="8339328" cy="969264"/>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402336" y="1060704"/>
            <a:ext cx="50292" cy="969264"/>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21792" y="1161288"/>
            <a:ext cx="2011680" cy="219456"/>
          </a:xfrm>
          <a:prstGeom prst="rect">
            <a:avLst/>
          </a:prstGeom>
          <a:noFill/>
        </p:spPr>
        <p:txBody>
          <a:bodyPr wrap="square" anchor="t" lIns="0" rIns="0" tIns="0" bIns="0">
            <a:spAutoFit/>
          </a:bodyPr>
          <a:lstStyle/>
          <a:p>
            <a:pPr algn="l"/>
            <a:r>
              <a:rPr sz="900" b="1" i="0">
                <a:solidFill>
                  <a:srgbClr val="2A5FFF"/>
                </a:solidFill>
                <a:latin typeface="Arial"/>
              </a:rPr>
              <a:t>INTERFACE</a:t>
            </a:r>
          </a:p>
        </p:txBody>
      </p:sp>
      <p:sp>
        <p:nvSpPr>
          <p:cNvPr id="6" name="TextBox 5"/>
          <p:cNvSpPr txBox="1"/>
          <p:nvPr/>
        </p:nvSpPr>
        <p:spPr>
          <a:xfrm>
            <a:off x="621792" y="1362456"/>
            <a:ext cx="7863840" cy="237744"/>
          </a:xfrm>
          <a:prstGeom prst="rect">
            <a:avLst/>
          </a:prstGeom>
          <a:noFill/>
        </p:spPr>
        <p:txBody>
          <a:bodyPr wrap="square" anchor="t" lIns="0" rIns="0" tIns="0" bIns="0">
            <a:spAutoFit/>
          </a:bodyPr>
          <a:lstStyle/>
          <a:p>
            <a:pPr algn="l"/>
            <a:r>
              <a:rPr sz="1250" b="1" i="0">
                <a:solidFill>
                  <a:srgbClr val="1A1A1A"/>
                </a:solidFill>
                <a:latin typeface="Arial"/>
              </a:rPr>
              <a:t>Aplicação web em React</a:t>
            </a:r>
          </a:p>
        </p:txBody>
      </p:sp>
      <p:sp>
        <p:nvSpPr>
          <p:cNvPr id="7" name="TextBox 6"/>
          <p:cNvSpPr txBox="1"/>
          <p:nvPr/>
        </p:nvSpPr>
        <p:spPr>
          <a:xfrm>
            <a:off x="621792" y="1609344"/>
            <a:ext cx="7863840" cy="365760"/>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Pergunta, histórico, resposta com citação, ver evidências e exportação.</a:t>
            </a:r>
          </a:p>
        </p:txBody>
      </p:sp>
      <p:sp>
        <p:nvSpPr>
          <p:cNvPr id="8" name="Rounded Rectangle 7"/>
          <p:cNvSpPr/>
          <p:nvPr/>
        </p:nvSpPr>
        <p:spPr>
          <a:xfrm>
            <a:off x="402336" y="2103120"/>
            <a:ext cx="8339328" cy="93268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402336" y="2103120"/>
            <a:ext cx="50292" cy="932688"/>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21792" y="2203704"/>
            <a:ext cx="2011680" cy="219456"/>
          </a:xfrm>
          <a:prstGeom prst="rect">
            <a:avLst/>
          </a:prstGeom>
          <a:noFill/>
        </p:spPr>
        <p:txBody>
          <a:bodyPr wrap="square" anchor="t" lIns="0" rIns="0" tIns="0" bIns="0">
            <a:spAutoFit/>
          </a:bodyPr>
          <a:lstStyle/>
          <a:p>
            <a:pPr algn="l"/>
            <a:r>
              <a:rPr sz="900" b="1" i="0">
                <a:solidFill>
                  <a:srgbClr val="2A5FFF"/>
                </a:solidFill>
                <a:latin typeface="Arial"/>
              </a:rPr>
              <a:t>SERVIÇOS</a:t>
            </a:r>
          </a:p>
        </p:txBody>
      </p:sp>
      <p:sp>
        <p:nvSpPr>
          <p:cNvPr id="11" name="TextBox 10"/>
          <p:cNvSpPr txBox="1"/>
          <p:nvPr/>
        </p:nvSpPr>
        <p:spPr>
          <a:xfrm>
            <a:off x="621792" y="2404872"/>
            <a:ext cx="7863840" cy="237744"/>
          </a:xfrm>
          <a:prstGeom prst="rect">
            <a:avLst/>
          </a:prstGeom>
          <a:noFill/>
        </p:spPr>
        <p:txBody>
          <a:bodyPr wrap="square" anchor="t" lIns="0" rIns="0" tIns="0" bIns="0">
            <a:spAutoFit/>
          </a:bodyPr>
          <a:lstStyle/>
          <a:p>
            <a:pPr algn="l"/>
            <a:r>
              <a:rPr sz="1250" b="1" i="0">
                <a:solidFill>
                  <a:srgbClr val="1A1A1A"/>
                </a:solidFill>
                <a:latin typeface="Arial"/>
              </a:rPr>
              <a:t>Camada de serviço em Python com FastAPI</a:t>
            </a:r>
          </a:p>
        </p:txBody>
      </p:sp>
      <p:sp>
        <p:nvSpPr>
          <p:cNvPr id="12" name="TextBox 11"/>
          <p:cNvSpPr txBox="1"/>
          <p:nvPr/>
        </p:nvSpPr>
        <p:spPr>
          <a:xfrm>
            <a:off x="621792" y="2651760"/>
            <a:ext cx="7863840" cy="365760"/>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Interpreta a pergunta, aciona os recuperadores e monta a resposta final.</a:t>
            </a:r>
          </a:p>
        </p:txBody>
      </p:sp>
      <p:sp>
        <p:nvSpPr>
          <p:cNvPr id="13" name="Rounded Rectangle 12"/>
          <p:cNvSpPr/>
          <p:nvPr/>
        </p:nvSpPr>
        <p:spPr>
          <a:xfrm>
            <a:off x="402336" y="3108960"/>
            <a:ext cx="8339328" cy="93268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02336" y="3108960"/>
            <a:ext cx="50292" cy="932688"/>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1792" y="3209544"/>
            <a:ext cx="2011680" cy="219456"/>
          </a:xfrm>
          <a:prstGeom prst="rect">
            <a:avLst/>
          </a:prstGeom>
          <a:noFill/>
        </p:spPr>
        <p:txBody>
          <a:bodyPr wrap="square" anchor="t" lIns="0" rIns="0" tIns="0" bIns="0">
            <a:spAutoFit/>
          </a:bodyPr>
          <a:lstStyle/>
          <a:p>
            <a:pPr algn="l"/>
            <a:r>
              <a:rPr sz="900" b="1" i="0">
                <a:solidFill>
                  <a:srgbClr val="2A5FFF"/>
                </a:solidFill>
                <a:latin typeface="Arial"/>
              </a:rPr>
              <a:t>ÍNDICE E MODELO</a:t>
            </a:r>
          </a:p>
        </p:txBody>
      </p:sp>
      <p:sp>
        <p:nvSpPr>
          <p:cNvPr id="16" name="TextBox 15"/>
          <p:cNvSpPr txBox="1"/>
          <p:nvPr/>
        </p:nvSpPr>
        <p:spPr>
          <a:xfrm>
            <a:off x="621792" y="3410712"/>
            <a:ext cx="7863840" cy="237744"/>
          </a:xfrm>
          <a:prstGeom prst="rect">
            <a:avLst/>
          </a:prstGeom>
          <a:noFill/>
        </p:spPr>
        <p:txBody>
          <a:bodyPr wrap="square" anchor="t" lIns="0" rIns="0" tIns="0" bIns="0">
            <a:spAutoFit/>
          </a:bodyPr>
          <a:lstStyle/>
          <a:p>
            <a:pPr algn="l"/>
            <a:r>
              <a:rPr sz="1250" b="1" i="0">
                <a:solidFill>
                  <a:srgbClr val="1A1A1A"/>
                </a:solidFill>
                <a:latin typeface="Arial"/>
              </a:rPr>
              <a:t>Índice vetorial local em ChromaDB · modelo de linguagem configurável</a:t>
            </a:r>
          </a:p>
        </p:txBody>
      </p:sp>
      <p:sp>
        <p:nvSpPr>
          <p:cNvPr id="17" name="TextBox 16"/>
          <p:cNvSpPr txBox="1"/>
          <p:nvPr/>
        </p:nvSpPr>
        <p:spPr>
          <a:xfrm>
            <a:off x="621792" y="3657600"/>
            <a:ext cx="7863840" cy="365760"/>
          </a:xfrm>
          <a:prstGeom prst="rect">
            <a:avLst/>
          </a:prstGeom>
          <a:noFill/>
        </p:spPr>
        <p:txBody>
          <a:bodyPr wrap="square" anchor="t" lIns="0" rIns="0" tIns="0" bIns="0">
            <a:spAutoFit/>
          </a:bodyPr>
          <a:lstStyle/>
          <a:p>
            <a:pPr algn="l">
              <a:lnSpc>
                <a:spcPct val="106000"/>
              </a:lnSpc>
            </a:pPr>
            <a:r>
              <a:rPr sz="1050" b="0" i="0">
                <a:solidFill>
                  <a:srgbClr val="4A4A4A"/>
                </a:solidFill>
                <a:latin typeface="Arial"/>
              </a:rPr>
              <a:t>Trechos indexados com metadados de origem; o modelo é definido por configuração, não fixo no código.</a:t>
            </a:r>
          </a:p>
        </p:txBody>
      </p:sp>
      <p:sp>
        <p:nvSpPr>
          <p:cNvPr id="18" name="TextBox 17"/>
          <p:cNvSpPr txBox="1"/>
          <p:nvPr/>
        </p:nvSpPr>
        <p:spPr>
          <a:xfrm>
            <a:off x="402336" y="4187952"/>
            <a:ext cx="7863840" cy="219456"/>
          </a:xfrm>
          <a:prstGeom prst="rect">
            <a:avLst/>
          </a:prstGeom>
          <a:noFill/>
        </p:spPr>
        <p:txBody>
          <a:bodyPr wrap="square" anchor="t" lIns="0" rIns="0" tIns="0" bIns="0">
            <a:spAutoFit/>
          </a:bodyPr>
          <a:lstStyle/>
          <a:p>
            <a:pPr algn="l"/>
            <a:r>
              <a:rPr sz="900" b="1" i="0">
                <a:solidFill>
                  <a:srgbClr val="2A5FFF"/>
                </a:solidFill>
                <a:latin typeface="Arial"/>
              </a:rPr>
              <a:t>FLUXO DE UMA PERGUNTA</a:t>
            </a:r>
          </a:p>
        </p:txBody>
      </p:sp>
      <p:sp>
        <p:nvSpPr>
          <p:cNvPr id="19" name="Rounded Rectangle 18"/>
          <p:cNvSpPr/>
          <p:nvPr/>
        </p:nvSpPr>
        <p:spPr>
          <a:xfrm>
            <a:off x="402336" y="4407408"/>
            <a:ext cx="1225296" cy="292608"/>
          </a:xfrm>
          <a:prstGeom prst="roundRect">
            <a:avLst>
              <a:gd name="adj" fmla="val 2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02336"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Pergunta</a:t>
            </a:r>
          </a:p>
        </p:txBody>
      </p:sp>
      <p:sp>
        <p:nvSpPr>
          <p:cNvPr id="21" name="TextBox 20"/>
          <p:cNvSpPr txBox="1"/>
          <p:nvPr/>
        </p:nvSpPr>
        <p:spPr>
          <a:xfrm>
            <a:off x="1627632" y="4453128"/>
            <a:ext cx="91440" cy="201168"/>
          </a:xfrm>
          <a:prstGeom prst="rect">
            <a:avLst/>
          </a:prstGeom>
          <a:noFill/>
        </p:spPr>
        <p:txBody>
          <a:bodyPr wrap="square" anchor="t" lIns="0" rIns="0" tIns="0" bIns="0">
            <a:spAutoFit/>
          </a:bodyPr>
          <a:lstStyle/>
          <a:p>
            <a:pPr algn="ctr"/>
            <a:r>
              <a:rPr sz="1100" b="1" i="0">
                <a:solidFill>
                  <a:srgbClr val="93AFFF"/>
                </a:solidFill>
                <a:latin typeface="Arial"/>
              </a:rPr>
              <a:t>&gt;</a:t>
            </a:r>
          </a:p>
        </p:txBody>
      </p:sp>
      <p:sp>
        <p:nvSpPr>
          <p:cNvPr id="22" name="Rounded Rectangle 21"/>
          <p:cNvSpPr/>
          <p:nvPr/>
        </p:nvSpPr>
        <p:spPr>
          <a:xfrm>
            <a:off x="1719072" y="4407408"/>
            <a:ext cx="1225296" cy="292608"/>
          </a:xfrm>
          <a:prstGeom prst="roundRect">
            <a:avLst>
              <a:gd name="adj" fmla="val 2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719072"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Interpretação</a:t>
            </a:r>
          </a:p>
        </p:txBody>
      </p:sp>
      <p:sp>
        <p:nvSpPr>
          <p:cNvPr id="24" name="TextBox 23"/>
          <p:cNvSpPr txBox="1"/>
          <p:nvPr/>
        </p:nvSpPr>
        <p:spPr>
          <a:xfrm>
            <a:off x="2944368" y="4453128"/>
            <a:ext cx="91440" cy="201168"/>
          </a:xfrm>
          <a:prstGeom prst="rect">
            <a:avLst/>
          </a:prstGeom>
          <a:noFill/>
        </p:spPr>
        <p:txBody>
          <a:bodyPr wrap="square" anchor="t" lIns="0" rIns="0" tIns="0" bIns="0">
            <a:spAutoFit/>
          </a:bodyPr>
          <a:lstStyle/>
          <a:p>
            <a:pPr algn="ctr"/>
            <a:r>
              <a:rPr sz="1100" b="1" i="0">
                <a:solidFill>
                  <a:srgbClr val="93AFFF"/>
                </a:solidFill>
                <a:latin typeface="Arial"/>
              </a:rPr>
              <a:t>&gt;</a:t>
            </a:r>
          </a:p>
        </p:txBody>
      </p:sp>
      <p:sp>
        <p:nvSpPr>
          <p:cNvPr id="25" name="Rounded Rectangle 24"/>
          <p:cNvSpPr/>
          <p:nvPr/>
        </p:nvSpPr>
        <p:spPr>
          <a:xfrm>
            <a:off x="3035808" y="4407408"/>
            <a:ext cx="1225296" cy="292608"/>
          </a:xfrm>
          <a:prstGeom prst="roundRect">
            <a:avLst>
              <a:gd name="adj" fmla="val 2000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035808"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Texto</a:t>
            </a:r>
          </a:p>
        </p:txBody>
      </p:sp>
      <p:sp>
        <p:nvSpPr>
          <p:cNvPr id="27" name="TextBox 26"/>
          <p:cNvSpPr txBox="1"/>
          <p:nvPr/>
        </p:nvSpPr>
        <p:spPr>
          <a:xfrm>
            <a:off x="4261104" y="4453128"/>
            <a:ext cx="91440" cy="201168"/>
          </a:xfrm>
          <a:prstGeom prst="rect">
            <a:avLst/>
          </a:prstGeom>
          <a:noFill/>
        </p:spPr>
        <p:txBody>
          <a:bodyPr wrap="square" anchor="t" lIns="0" rIns="0" tIns="0" bIns="0">
            <a:spAutoFit/>
          </a:bodyPr>
          <a:lstStyle/>
          <a:p>
            <a:pPr algn="ctr"/>
            <a:r>
              <a:rPr sz="1100" b="1" i="0">
                <a:solidFill>
                  <a:srgbClr val="93AFFF"/>
                </a:solidFill>
                <a:latin typeface="Arial"/>
              </a:rPr>
              <a:t>&gt;</a:t>
            </a:r>
          </a:p>
        </p:txBody>
      </p:sp>
      <p:sp>
        <p:nvSpPr>
          <p:cNvPr id="28" name="Rounded Rectangle 27"/>
          <p:cNvSpPr/>
          <p:nvPr/>
        </p:nvSpPr>
        <p:spPr>
          <a:xfrm>
            <a:off x="4352544" y="4407408"/>
            <a:ext cx="1225296" cy="292608"/>
          </a:xfrm>
          <a:prstGeom prst="roundRect">
            <a:avLst>
              <a:gd name="adj" fmla="val 2000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352544"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Tabelas</a:t>
            </a:r>
          </a:p>
        </p:txBody>
      </p:sp>
      <p:sp>
        <p:nvSpPr>
          <p:cNvPr id="30" name="TextBox 29"/>
          <p:cNvSpPr txBox="1"/>
          <p:nvPr/>
        </p:nvSpPr>
        <p:spPr>
          <a:xfrm>
            <a:off x="5577840" y="4453128"/>
            <a:ext cx="91440" cy="201168"/>
          </a:xfrm>
          <a:prstGeom prst="rect">
            <a:avLst/>
          </a:prstGeom>
          <a:noFill/>
        </p:spPr>
        <p:txBody>
          <a:bodyPr wrap="square" anchor="t" lIns="0" rIns="0" tIns="0" bIns="0">
            <a:spAutoFit/>
          </a:bodyPr>
          <a:lstStyle/>
          <a:p>
            <a:pPr algn="ctr"/>
            <a:r>
              <a:rPr sz="1100" b="1" i="0">
                <a:solidFill>
                  <a:srgbClr val="93AFFF"/>
                </a:solidFill>
                <a:latin typeface="Arial"/>
              </a:rPr>
              <a:t>&gt;</a:t>
            </a:r>
          </a:p>
        </p:txBody>
      </p:sp>
      <p:sp>
        <p:nvSpPr>
          <p:cNvPr id="31" name="Rounded Rectangle 30"/>
          <p:cNvSpPr/>
          <p:nvPr/>
        </p:nvSpPr>
        <p:spPr>
          <a:xfrm>
            <a:off x="5669280" y="4407408"/>
            <a:ext cx="1225296" cy="292608"/>
          </a:xfrm>
          <a:prstGeom prst="roundRect">
            <a:avLst>
              <a:gd name="adj" fmla="val 2000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669280"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Séries</a:t>
            </a:r>
          </a:p>
        </p:txBody>
      </p:sp>
      <p:sp>
        <p:nvSpPr>
          <p:cNvPr id="33" name="TextBox 32"/>
          <p:cNvSpPr txBox="1"/>
          <p:nvPr/>
        </p:nvSpPr>
        <p:spPr>
          <a:xfrm>
            <a:off x="6894576" y="4453128"/>
            <a:ext cx="91440" cy="201168"/>
          </a:xfrm>
          <a:prstGeom prst="rect">
            <a:avLst/>
          </a:prstGeom>
          <a:noFill/>
        </p:spPr>
        <p:txBody>
          <a:bodyPr wrap="square" anchor="t" lIns="0" rIns="0" tIns="0" bIns="0">
            <a:spAutoFit/>
          </a:bodyPr>
          <a:lstStyle/>
          <a:p>
            <a:pPr algn="ctr"/>
            <a:r>
              <a:rPr sz="1100" b="1" i="0">
                <a:solidFill>
                  <a:srgbClr val="93AFFF"/>
                </a:solidFill>
                <a:latin typeface="Arial"/>
              </a:rPr>
              <a:t>&gt;</a:t>
            </a:r>
          </a:p>
        </p:txBody>
      </p:sp>
      <p:sp>
        <p:nvSpPr>
          <p:cNvPr id="34" name="Rounded Rectangle 33"/>
          <p:cNvSpPr/>
          <p:nvPr/>
        </p:nvSpPr>
        <p:spPr>
          <a:xfrm>
            <a:off x="6986016" y="4407408"/>
            <a:ext cx="1225296" cy="292608"/>
          </a:xfrm>
          <a:prstGeom prst="roundRect">
            <a:avLst>
              <a:gd name="adj" fmla="val 2000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986016" y="4471416"/>
            <a:ext cx="1225296" cy="201168"/>
          </a:xfrm>
          <a:prstGeom prst="rect">
            <a:avLst/>
          </a:prstGeom>
          <a:noFill/>
        </p:spPr>
        <p:txBody>
          <a:bodyPr wrap="square" anchor="t" lIns="0" rIns="0" tIns="0" bIns="0">
            <a:spAutoFit/>
          </a:bodyPr>
          <a:lstStyle/>
          <a:p>
            <a:pPr algn="ctr"/>
            <a:r>
              <a:rPr sz="950" b="1" i="0">
                <a:solidFill>
                  <a:srgbClr val="FFFFFF"/>
                </a:solidFill>
                <a:latin typeface="Arial"/>
              </a:rPr>
              <a:t>Resposta citada</a:t>
            </a:r>
          </a:p>
        </p:txBody>
      </p:sp>
      <p:sp>
        <p:nvSpPr>
          <p:cNvPr id="36" name="TextBox 35"/>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Estratégias de recuperação e seu status real</a:t>
            </a:r>
          </a:p>
        </p:txBody>
      </p:sp>
      <p:sp>
        <p:nvSpPr>
          <p:cNvPr id="3" name="TextBox 2"/>
          <p:cNvSpPr txBox="1"/>
          <p:nvPr/>
        </p:nvSpPr>
        <p:spPr>
          <a:xfrm>
            <a:off x="402336" y="1042416"/>
            <a:ext cx="5486400" cy="237744"/>
          </a:xfrm>
          <a:prstGeom prst="rect">
            <a:avLst/>
          </a:prstGeom>
          <a:noFill/>
        </p:spPr>
        <p:txBody>
          <a:bodyPr wrap="square" anchor="t" lIns="0" rIns="0" tIns="0" bIns="0">
            <a:spAutoFit/>
          </a:bodyPr>
          <a:lstStyle/>
          <a:p>
            <a:pPr algn="l"/>
            <a:r>
              <a:rPr sz="900" b="1" i="0">
                <a:solidFill>
                  <a:srgbClr val="2A5FFF"/>
                </a:solidFill>
                <a:latin typeface="Arial"/>
              </a:rPr>
              <a:t>ESTRATÉGIA</a:t>
            </a:r>
          </a:p>
        </p:txBody>
      </p:sp>
      <p:sp>
        <p:nvSpPr>
          <p:cNvPr id="4" name="TextBox 3"/>
          <p:cNvSpPr txBox="1"/>
          <p:nvPr/>
        </p:nvSpPr>
        <p:spPr>
          <a:xfrm>
            <a:off x="4846320" y="1042416"/>
            <a:ext cx="1463040" cy="237744"/>
          </a:xfrm>
          <a:prstGeom prst="rect">
            <a:avLst/>
          </a:prstGeom>
          <a:noFill/>
        </p:spPr>
        <p:txBody>
          <a:bodyPr wrap="square" anchor="t" lIns="0" rIns="0" tIns="0" bIns="0">
            <a:spAutoFit/>
          </a:bodyPr>
          <a:lstStyle/>
          <a:p>
            <a:pPr algn="l"/>
            <a:r>
              <a:rPr sz="900" b="1" i="0">
                <a:solidFill>
                  <a:srgbClr val="2A5FFF"/>
                </a:solidFill>
                <a:latin typeface="Arial"/>
              </a:rPr>
              <a:t>STATUS</a:t>
            </a:r>
          </a:p>
        </p:txBody>
      </p:sp>
      <p:sp>
        <p:nvSpPr>
          <p:cNvPr id="5" name="TextBox 4"/>
          <p:cNvSpPr txBox="1"/>
          <p:nvPr/>
        </p:nvSpPr>
        <p:spPr>
          <a:xfrm>
            <a:off x="6309360" y="1042416"/>
            <a:ext cx="2432304" cy="237744"/>
          </a:xfrm>
          <a:prstGeom prst="rect">
            <a:avLst/>
          </a:prstGeom>
          <a:noFill/>
        </p:spPr>
        <p:txBody>
          <a:bodyPr wrap="square" anchor="t" lIns="0" rIns="0" tIns="0" bIns="0">
            <a:spAutoFit/>
          </a:bodyPr>
          <a:lstStyle/>
          <a:p>
            <a:pPr algn="l"/>
            <a:r>
              <a:rPr sz="900" b="1" i="0">
                <a:solidFill>
                  <a:srgbClr val="2A5FFF"/>
                </a:solidFill>
                <a:latin typeface="Arial"/>
              </a:rPr>
              <a:t>O QUE É</a:t>
            </a:r>
          </a:p>
        </p:txBody>
      </p:sp>
      <p:sp>
        <p:nvSpPr>
          <p:cNvPr id="6" name="Rectangle 5"/>
          <p:cNvSpPr/>
          <p:nvPr/>
        </p:nvSpPr>
        <p:spPr>
          <a:xfrm>
            <a:off x="402336" y="1280160"/>
            <a:ext cx="8339328" cy="10973"/>
          </a:xfrm>
          <a:prstGeom prst="rect">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02336" y="1371600"/>
            <a:ext cx="8339328" cy="731520"/>
          </a:xfrm>
          <a:prstGeom prst="roundRect">
            <a:avLst>
              <a:gd name="adj" fmla="val 4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402336" y="1371600"/>
            <a:ext cx="45720" cy="731520"/>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85216" y="1618488"/>
            <a:ext cx="1463040" cy="256032"/>
          </a:xfrm>
          <a:prstGeom prst="rect">
            <a:avLst/>
          </a:prstGeom>
          <a:noFill/>
        </p:spPr>
        <p:txBody>
          <a:bodyPr wrap="square" anchor="t" lIns="0" rIns="0" tIns="0" bIns="0">
            <a:spAutoFit/>
          </a:bodyPr>
          <a:lstStyle/>
          <a:p>
            <a:pPr algn="l"/>
            <a:r>
              <a:rPr sz="1250" b="1" i="0">
                <a:solidFill>
                  <a:srgbClr val="1A1A1A"/>
                </a:solidFill>
                <a:latin typeface="Arial"/>
              </a:rPr>
              <a:t>Principal</a:t>
            </a:r>
          </a:p>
        </p:txBody>
      </p:sp>
      <p:sp>
        <p:nvSpPr>
          <p:cNvPr id="10" name="Oval 9"/>
          <p:cNvSpPr/>
          <p:nvPr/>
        </p:nvSpPr>
        <p:spPr>
          <a:xfrm>
            <a:off x="4846320" y="1664208"/>
            <a:ext cx="91440" cy="91440"/>
          </a:xfrm>
          <a:prstGeom prst="ellipse">
            <a:avLst/>
          </a:prstGeom>
          <a:solidFill>
            <a:srgbClr val="1E9E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5029200" y="1554480"/>
            <a:ext cx="1243584" cy="402336"/>
          </a:xfrm>
          <a:prstGeom prst="rect">
            <a:avLst/>
          </a:prstGeom>
          <a:noFill/>
        </p:spPr>
        <p:txBody>
          <a:bodyPr wrap="square" anchor="t" lIns="0" rIns="0" tIns="0" bIns="0">
            <a:spAutoFit/>
          </a:bodyPr>
          <a:lstStyle/>
          <a:p>
            <a:pPr algn="l">
              <a:lnSpc>
                <a:spcPct val="106000"/>
              </a:lnSpc>
            </a:pPr>
            <a:r>
              <a:rPr sz="950" b="1" i="0">
                <a:solidFill>
                  <a:srgbClr val="1A1A1A"/>
                </a:solidFill>
                <a:latin typeface="Arial"/>
              </a:rPr>
              <a:t>Implementada e em uso</a:t>
            </a:r>
          </a:p>
        </p:txBody>
      </p:sp>
      <p:sp>
        <p:nvSpPr>
          <p:cNvPr id="12" name="TextBox 11"/>
          <p:cNvSpPr txBox="1"/>
          <p:nvPr/>
        </p:nvSpPr>
        <p:spPr>
          <a:xfrm>
            <a:off x="6309360" y="1499616"/>
            <a:ext cx="2377440" cy="512064"/>
          </a:xfrm>
          <a:prstGeom prst="rect">
            <a:avLst/>
          </a:prstGeom>
          <a:noFill/>
        </p:spPr>
        <p:txBody>
          <a:bodyPr wrap="square" anchor="t" lIns="0" rIns="0" tIns="0" bIns="0">
            <a:spAutoFit/>
          </a:bodyPr>
          <a:lstStyle/>
          <a:p>
            <a:pPr algn="l">
              <a:lnSpc>
                <a:spcPct val="105000"/>
              </a:lnSpc>
            </a:pPr>
            <a:r>
              <a:rPr sz="900" b="0" i="0">
                <a:solidFill>
                  <a:srgbClr val="4A4A4A"/>
                </a:solidFill>
                <a:latin typeface="Arial"/>
              </a:rPr>
              <a:t>Busca híbrida — semelhança e palavras-chave — com recuperadores dedicados a texto, a tabelas e a séries temporais.</a:t>
            </a:r>
          </a:p>
        </p:txBody>
      </p:sp>
      <p:sp>
        <p:nvSpPr>
          <p:cNvPr id="13" name="Rounded Rectangle 12"/>
          <p:cNvSpPr/>
          <p:nvPr/>
        </p:nvSpPr>
        <p:spPr>
          <a:xfrm>
            <a:off x="402336" y="2139696"/>
            <a:ext cx="8339328" cy="731520"/>
          </a:xfrm>
          <a:prstGeom prst="roundRect">
            <a:avLst>
              <a:gd name="adj" fmla="val 4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02336" y="2139696"/>
            <a:ext cx="45720" cy="731520"/>
          </a:xfrm>
          <a:prstGeom prst="roundRect">
            <a:avLst>
              <a:gd name="adj" fmla="val 0"/>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85216" y="2386584"/>
            <a:ext cx="1463040" cy="256032"/>
          </a:xfrm>
          <a:prstGeom prst="rect">
            <a:avLst/>
          </a:prstGeom>
          <a:noFill/>
        </p:spPr>
        <p:txBody>
          <a:bodyPr wrap="square" anchor="t" lIns="0" rIns="0" tIns="0" bIns="0">
            <a:spAutoFit/>
          </a:bodyPr>
          <a:lstStyle/>
          <a:p>
            <a:pPr algn="l"/>
            <a:r>
              <a:rPr sz="1250" b="1" i="0">
                <a:solidFill>
                  <a:srgbClr val="1A1A1A"/>
                </a:solidFill>
                <a:latin typeface="Arial"/>
              </a:rPr>
              <a:t>Modo agêntico</a:t>
            </a:r>
          </a:p>
        </p:txBody>
      </p:sp>
      <p:sp>
        <p:nvSpPr>
          <p:cNvPr id="16" name="Oval 15"/>
          <p:cNvSpPr/>
          <p:nvPr/>
        </p:nvSpPr>
        <p:spPr>
          <a:xfrm>
            <a:off x="4846320" y="2432304"/>
            <a:ext cx="91440" cy="91440"/>
          </a:xfrm>
          <a:prstGeom prst="ellipse">
            <a:avLst/>
          </a:prstGeom>
          <a:solidFill>
            <a:srgbClr val="D9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5029200" y="2322576"/>
            <a:ext cx="1243584" cy="402336"/>
          </a:xfrm>
          <a:prstGeom prst="rect">
            <a:avLst/>
          </a:prstGeom>
          <a:noFill/>
        </p:spPr>
        <p:txBody>
          <a:bodyPr wrap="square" anchor="t" lIns="0" rIns="0" tIns="0" bIns="0">
            <a:spAutoFit/>
          </a:bodyPr>
          <a:lstStyle/>
          <a:p>
            <a:pPr algn="l">
              <a:lnSpc>
                <a:spcPct val="106000"/>
              </a:lnSpc>
            </a:pPr>
            <a:r>
              <a:rPr sz="950" b="1" i="0">
                <a:solidFill>
                  <a:srgbClr val="1A1A1A"/>
                </a:solidFill>
                <a:latin typeface="Arial"/>
              </a:rPr>
              <a:t>Implementada, sem acesso pelo serviço</a:t>
            </a:r>
          </a:p>
        </p:txBody>
      </p:sp>
      <p:sp>
        <p:nvSpPr>
          <p:cNvPr id="18" name="TextBox 17"/>
          <p:cNvSpPr txBox="1"/>
          <p:nvPr/>
        </p:nvSpPr>
        <p:spPr>
          <a:xfrm>
            <a:off x="6309360" y="2267712"/>
            <a:ext cx="2377440" cy="512064"/>
          </a:xfrm>
          <a:prstGeom prst="rect">
            <a:avLst/>
          </a:prstGeom>
          <a:noFill/>
        </p:spPr>
        <p:txBody>
          <a:bodyPr wrap="square" anchor="t" lIns="0" rIns="0" tIns="0" bIns="0">
            <a:spAutoFit/>
          </a:bodyPr>
          <a:lstStyle/>
          <a:p>
            <a:pPr algn="l">
              <a:lnSpc>
                <a:spcPct val="105000"/>
              </a:lnSpc>
            </a:pPr>
            <a:r>
              <a:rPr sz="900" b="0" i="0">
                <a:solidFill>
                  <a:srgbClr val="4A4A4A"/>
                </a:solidFill>
                <a:latin typeface="Arial"/>
              </a:rPr>
              <a:t>O modelo decide, em passos, quais ferramentas acionar. Existe em linha de comando; a exposição pelo serviço não foi concluída.</a:t>
            </a:r>
          </a:p>
        </p:txBody>
      </p:sp>
      <p:sp>
        <p:nvSpPr>
          <p:cNvPr id="19" name="Rounded Rectangle 18"/>
          <p:cNvSpPr/>
          <p:nvPr/>
        </p:nvSpPr>
        <p:spPr>
          <a:xfrm>
            <a:off x="402336" y="2907792"/>
            <a:ext cx="8339328" cy="731520"/>
          </a:xfrm>
          <a:prstGeom prst="roundRect">
            <a:avLst>
              <a:gd name="adj" fmla="val 4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402336" y="2907792"/>
            <a:ext cx="45720" cy="731520"/>
          </a:xfrm>
          <a:prstGeom prst="roundRect">
            <a:avLst>
              <a:gd name="adj" fmla="val 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85216" y="3154680"/>
            <a:ext cx="1463040" cy="256032"/>
          </a:xfrm>
          <a:prstGeom prst="rect">
            <a:avLst/>
          </a:prstGeom>
          <a:noFill/>
        </p:spPr>
        <p:txBody>
          <a:bodyPr wrap="square" anchor="t" lIns="0" rIns="0" tIns="0" bIns="0">
            <a:spAutoFit/>
          </a:bodyPr>
          <a:lstStyle/>
          <a:p>
            <a:pPr algn="l"/>
            <a:r>
              <a:rPr sz="1250" b="1" i="0">
                <a:solidFill>
                  <a:srgbClr val="1A1A1A"/>
                </a:solidFill>
                <a:latin typeface="Arial"/>
              </a:rPr>
              <a:t>RAPTOR</a:t>
            </a:r>
          </a:p>
        </p:txBody>
      </p:sp>
      <p:sp>
        <p:nvSpPr>
          <p:cNvPr id="22" name="Oval 21"/>
          <p:cNvSpPr/>
          <p:nvPr/>
        </p:nvSpPr>
        <p:spPr>
          <a:xfrm>
            <a:off x="4846320" y="3200400"/>
            <a:ext cx="91440" cy="91440"/>
          </a:xfrm>
          <a:prstGeom prst="ellipse">
            <a:avLst/>
          </a:prstGeom>
          <a:solidFill>
            <a:srgbClr val="76767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5029200" y="3090672"/>
            <a:ext cx="1243584" cy="402336"/>
          </a:xfrm>
          <a:prstGeom prst="rect">
            <a:avLst/>
          </a:prstGeom>
          <a:noFill/>
        </p:spPr>
        <p:txBody>
          <a:bodyPr wrap="square" anchor="t" lIns="0" rIns="0" tIns="0" bIns="0">
            <a:spAutoFit/>
          </a:bodyPr>
          <a:lstStyle/>
          <a:p>
            <a:pPr algn="l">
              <a:lnSpc>
                <a:spcPct val="106000"/>
              </a:lnSpc>
            </a:pPr>
            <a:r>
              <a:rPr sz="950" b="1" i="0">
                <a:solidFill>
                  <a:srgbClr val="767676"/>
                </a:solidFill>
                <a:latin typeface="Arial"/>
              </a:rPr>
              <a:t>Estudada, não implementada</a:t>
            </a:r>
          </a:p>
        </p:txBody>
      </p:sp>
      <p:sp>
        <p:nvSpPr>
          <p:cNvPr id="24" name="TextBox 23"/>
          <p:cNvSpPr txBox="1"/>
          <p:nvPr/>
        </p:nvSpPr>
        <p:spPr>
          <a:xfrm>
            <a:off x="6309360" y="3035808"/>
            <a:ext cx="2377440" cy="512064"/>
          </a:xfrm>
          <a:prstGeom prst="rect">
            <a:avLst/>
          </a:prstGeom>
          <a:noFill/>
        </p:spPr>
        <p:txBody>
          <a:bodyPr wrap="square" anchor="t" lIns="0" rIns="0" tIns="0" bIns="0">
            <a:spAutoFit/>
          </a:bodyPr>
          <a:lstStyle/>
          <a:p>
            <a:pPr algn="l">
              <a:lnSpc>
                <a:spcPct val="105000"/>
              </a:lnSpc>
            </a:pPr>
            <a:r>
              <a:rPr sz="900" b="0" i="0">
                <a:solidFill>
                  <a:srgbClr val="4A4A4A"/>
                </a:solidFill>
                <a:latin typeface="Arial"/>
              </a:rPr>
              <a:t>Combina trechos e resumos de um índice hierárquico. Consta como alternativa em estudo; não foi implementada nem medida.</a:t>
            </a:r>
          </a:p>
        </p:txBody>
      </p:sp>
      <p:sp>
        <p:nvSpPr>
          <p:cNvPr id="25" name="Rounded Rectangle 24"/>
          <p:cNvSpPr/>
          <p:nvPr/>
        </p:nvSpPr>
        <p:spPr>
          <a:xfrm>
            <a:off x="402336" y="3675888"/>
            <a:ext cx="8339328" cy="731520"/>
          </a:xfrm>
          <a:prstGeom prst="roundRect">
            <a:avLst>
              <a:gd name="adj" fmla="val 4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02336" y="3675888"/>
            <a:ext cx="45720" cy="731520"/>
          </a:xfrm>
          <a:prstGeom prst="roundRect">
            <a:avLst>
              <a:gd name="adj" fmla="val 0"/>
            </a:avLst>
          </a:prstGeom>
          <a:solidFill>
            <a:srgbClr val="93A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85216" y="3922776"/>
            <a:ext cx="1463040" cy="256032"/>
          </a:xfrm>
          <a:prstGeom prst="rect">
            <a:avLst/>
          </a:prstGeom>
          <a:noFill/>
        </p:spPr>
        <p:txBody>
          <a:bodyPr wrap="square" anchor="t" lIns="0" rIns="0" tIns="0" bIns="0">
            <a:spAutoFit/>
          </a:bodyPr>
          <a:lstStyle/>
          <a:p>
            <a:pPr algn="l"/>
            <a:r>
              <a:rPr sz="1250" b="1" i="0">
                <a:solidFill>
                  <a:srgbClr val="1A1A1A"/>
                </a:solidFill>
                <a:latin typeface="Arial"/>
              </a:rPr>
              <a:t>Self-RAG</a:t>
            </a:r>
          </a:p>
        </p:txBody>
      </p:sp>
      <p:sp>
        <p:nvSpPr>
          <p:cNvPr id="28" name="Oval 27"/>
          <p:cNvSpPr/>
          <p:nvPr/>
        </p:nvSpPr>
        <p:spPr>
          <a:xfrm>
            <a:off x="4846320" y="3968496"/>
            <a:ext cx="91440" cy="91440"/>
          </a:xfrm>
          <a:prstGeom prst="ellipse">
            <a:avLst/>
          </a:prstGeom>
          <a:solidFill>
            <a:srgbClr val="76767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5029200" y="3858768"/>
            <a:ext cx="1243584" cy="402336"/>
          </a:xfrm>
          <a:prstGeom prst="rect">
            <a:avLst/>
          </a:prstGeom>
          <a:noFill/>
        </p:spPr>
        <p:txBody>
          <a:bodyPr wrap="square" anchor="t" lIns="0" rIns="0" tIns="0" bIns="0">
            <a:spAutoFit/>
          </a:bodyPr>
          <a:lstStyle/>
          <a:p>
            <a:pPr algn="l">
              <a:lnSpc>
                <a:spcPct val="106000"/>
              </a:lnSpc>
            </a:pPr>
            <a:r>
              <a:rPr sz="950" b="1" i="0">
                <a:solidFill>
                  <a:srgbClr val="767676"/>
                </a:solidFill>
                <a:latin typeface="Arial"/>
              </a:rPr>
              <a:t>Estudada, não implementada</a:t>
            </a:r>
          </a:p>
        </p:txBody>
      </p:sp>
      <p:sp>
        <p:nvSpPr>
          <p:cNvPr id="30" name="TextBox 29"/>
          <p:cNvSpPr txBox="1"/>
          <p:nvPr/>
        </p:nvSpPr>
        <p:spPr>
          <a:xfrm>
            <a:off x="6309360" y="3803904"/>
            <a:ext cx="2377440" cy="512064"/>
          </a:xfrm>
          <a:prstGeom prst="rect">
            <a:avLst/>
          </a:prstGeom>
          <a:noFill/>
        </p:spPr>
        <p:txBody>
          <a:bodyPr wrap="square" anchor="t" lIns="0" rIns="0" tIns="0" bIns="0">
            <a:spAutoFit/>
          </a:bodyPr>
          <a:lstStyle/>
          <a:p>
            <a:pPr algn="l">
              <a:lnSpc>
                <a:spcPct val="105000"/>
              </a:lnSpc>
            </a:pPr>
            <a:r>
              <a:rPr sz="900" b="0" i="0">
                <a:solidFill>
                  <a:srgbClr val="4A4A4A"/>
                </a:solidFill>
                <a:latin typeface="Arial"/>
              </a:rPr>
              <a:t>Filtraria a relevância do trecho recuperado e verificaria o suporte da resposta. Consta como estudo, sem implementação.</a:t>
            </a:r>
          </a:p>
        </p:txBody>
      </p:sp>
      <p:sp>
        <p:nvSpPr>
          <p:cNvPr id="31" name="Rounded Rectangle 30"/>
          <p:cNvSpPr/>
          <p:nvPr/>
        </p:nvSpPr>
        <p:spPr>
          <a:xfrm>
            <a:off x="402336" y="4334256"/>
            <a:ext cx="8339328" cy="365760"/>
          </a:xfrm>
          <a:prstGeom prst="roundRect">
            <a:avLst>
              <a:gd name="adj" fmla="val 6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85216" y="4416552"/>
            <a:ext cx="7973568" cy="237744"/>
          </a:xfrm>
          <a:prstGeom prst="rect">
            <a:avLst/>
          </a:prstGeom>
          <a:noFill/>
        </p:spPr>
        <p:txBody>
          <a:bodyPr wrap="square" anchor="t" lIns="0" rIns="0" tIns="0" bIns="0">
            <a:spAutoFit/>
          </a:bodyPr>
          <a:lstStyle/>
          <a:p>
            <a:pPr algn="l"/>
            <a:r>
              <a:rPr sz="1050" b="1" i="0">
                <a:solidFill>
                  <a:srgbClr val="1B3FA8"/>
                </a:solidFill>
                <a:latin typeface="Arial"/>
              </a:rPr>
              <a:t>As duas últimas constam como estudo: não foram implementadas nem avaliadas nesta etapa do projeto.</a:t>
            </a:r>
          </a:p>
        </p:txBody>
      </p:sp>
      <p:sp>
        <p:nvSpPr>
          <p:cNvPr id="33" name="TextBox 32"/>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O que já foi avaliado — e o que ainda não foi</a:t>
            </a:r>
          </a:p>
        </p:txBody>
      </p:sp>
      <p:sp>
        <p:nvSpPr>
          <p:cNvPr id="3" name="Rounded Rectangle 2"/>
          <p:cNvSpPr/>
          <p:nvPr/>
        </p:nvSpPr>
        <p:spPr>
          <a:xfrm>
            <a:off x="402336" y="1060704"/>
            <a:ext cx="3986784" cy="1316736"/>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03504" y="1188720"/>
            <a:ext cx="3584448" cy="237744"/>
          </a:xfrm>
          <a:prstGeom prst="rect">
            <a:avLst/>
          </a:prstGeom>
          <a:noFill/>
        </p:spPr>
        <p:txBody>
          <a:bodyPr wrap="square" anchor="t" lIns="0" rIns="0" tIns="0" bIns="0">
            <a:spAutoFit/>
          </a:bodyPr>
          <a:lstStyle/>
          <a:p>
            <a:pPr algn="l"/>
            <a:r>
              <a:rPr sz="950" b="1" i="0">
                <a:solidFill>
                  <a:srgbClr val="2A5FFF"/>
                </a:solidFill>
                <a:latin typeface="Arial"/>
              </a:rPr>
              <a:t>BASE DE AVALIAÇÃO PREPARADA</a:t>
            </a:r>
          </a:p>
        </p:txBody>
      </p:sp>
      <p:sp>
        <p:nvSpPr>
          <p:cNvPr id="5" name="TextBox 4"/>
          <p:cNvSpPr txBox="1"/>
          <p:nvPr/>
        </p:nvSpPr>
        <p:spPr>
          <a:xfrm>
            <a:off x="603504" y="1481328"/>
            <a:ext cx="1005840" cy="603504"/>
          </a:xfrm>
          <a:prstGeom prst="rect">
            <a:avLst/>
          </a:prstGeom>
          <a:noFill/>
        </p:spPr>
        <p:txBody>
          <a:bodyPr wrap="square" anchor="t" lIns="0" rIns="0" tIns="0" bIns="0">
            <a:spAutoFit/>
          </a:bodyPr>
          <a:lstStyle/>
          <a:p>
            <a:pPr algn="l"/>
            <a:r>
              <a:rPr sz="4200" b="1" i="0">
                <a:solidFill>
                  <a:srgbClr val="2A5FFF"/>
                </a:solidFill>
                <a:latin typeface="Arial"/>
              </a:rPr>
              <a:t>10</a:t>
            </a:r>
          </a:p>
        </p:txBody>
      </p:sp>
      <p:sp>
        <p:nvSpPr>
          <p:cNvPr id="6" name="TextBox 5"/>
          <p:cNvSpPr txBox="1"/>
          <p:nvPr/>
        </p:nvSpPr>
        <p:spPr>
          <a:xfrm>
            <a:off x="1627632" y="1517904"/>
            <a:ext cx="2560320" cy="530352"/>
          </a:xfrm>
          <a:prstGeom prst="rect">
            <a:avLst/>
          </a:prstGeom>
          <a:noFill/>
        </p:spPr>
        <p:txBody>
          <a:bodyPr wrap="square" anchor="t" lIns="0" rIns="0" tIns="0" bIns="0">
            <a:spAutoFit/>
          </a:bodyPr>
          <a:lstStyle/>
          <a:p>
            <a:pPr algn="l">
              <a:lnSpc>
                <a:spcPct val="108000"/>
              </a:lnSpc>
            </a:pPr>
            <a:r>
              <a:rPr sz="1100" b="0" i="0">
                <a:solidFill>
                  <a:srgbClr val="1A1A1A"/>
                </a:solidFill>
                <a:latin typeface="Arial"/>
              </a:rPr>
              <a:t>perguntas de referência organizadas em três conjuntos: ajuste, teste e perguntas fora do escopo.</a:t>
            </a:r>
          </a:p>
        </p:txBody>
      </p:sp>
      <p:sp>
        <p:nvSpPr>
          <p:cNvPr id="7" name="Rounded Rectangle 6"/>
          <p:cNvSpPr/>
          <p:nvPr/>
        </p:nvSpPr>
        <p:spPr>
          <a:xfrm>
            <a:off x="402336" y="2487168"/>
            <a:ext cx="3986784" cy="1847088"/>
          </a:xfrm>
          <a:prstGeom prst="roundRect">
            <a:avLst>
              <a:gd name="adj" fmla="val 5000"/>
            </a:avLst>
          </a:prstGeom>
          <a:solidFill>
            <a:srgbClr val="FFFFFF"/>
          </a:solidFill>
          <a:ln w="9525">
            <a:solidFill>
              <a:srgbClr val="D3D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03504" y="2615184"/>
            <a:ext cx="3584448" cy="237744"/>
          </a:xfrm>
          <a:prstGeom prst="rect">
            <a:avLst/>
          </a:prstGeom>
          <a:noFill/>
        </p:spPr>
        <p:txBody>
          <a:bodyPr wrap="square" anchor="t" lIns="0" rIns="0" tIns="0" bIns="0">
            <a:spAutoFit/>
          </a:bodyPr>
          <a:lstStyle/>
          <a:p>
            <a:pPr algn="l"/>
            <a:r>
              <a:rPr sz="950" b="1" i="0">
                <a:solidFill>
                  <a:srgbClr val="2A5FFF"/>
                </a:solidFill>
                <a:latin typeface="Arial"/>
              </a:rPr>
              <a:t>PENDÊNCIA CRÍTICA</a:t>
            </a:r>
          </a:p>
        </p:txBody>
      </p:sp>
      <p:sp>
        <p:nvSpPr>
          <p:cNvPr id="9" name="TextBox 8"/>
          <p:cNvSpPr txBox="1"/>
          <p:nvPr/>
        </p:nvSpPr>
        <p:spPr>
          <a:xfrm>
            <a:off x="603504" y="2889504"/>
            <a:ext cx="3584448" cy="1298448"/>
          </a:xfrm>
          <a:prstGeom prst="rect">
            <a:avLst/>
          </a:prstGeom>
          <a:noFill/>
        </p:spPr>
        <p:txBody>
          <a:bodyPr wrap="square" anchor="t" lIns="0" rIns="0" tIns="0" bIns="0">
            <a:spAutoFit/>
          </a:bodyPr>
          <a:lstStyle/>
          <a:p>
            <a:pPr algn="l">
              <a:lnSpc>
                <a:spcPct val="110000"/>
              </a:lnSpc>
            </a:pPr>
            <a:r>
              <a:rPr sz="1300" b="1" i="0">
                <a:solidFill>
                  <a:srgbClr val="1A1A1A"/>
                </a:solidFill>
                <a:latin typeface="Arial"/>
              </a:rPr>
              <a:t>As respostas esperadas ainda precisam ser preenchidas.</a:t>
            </a:r>
          </a:p>
          <a:p>
            <a:pPr algn="l">
              <a:lnSpc>
                <a:spcPct val="110000"/>
              </a:lnSpc>
              <a:spcBef>
                <a:spcPts val="600"/>
              </a:spcBef>
            </a:pPr>
            <a:r>
              <a:rPr sz="1050" b="0" i="0">
                <a:solidFill>
                  <a:srgbClr val="4A4A4A"/>
                </a:solidFill>
                <a:latin typeface="Arial"/>
              </a:rPr>
              <a:t>Sem esse gabarito não é possível medir fidelidade às fontes, precisão numérica nem tempo de resposta de forma defensável.</a:t>
            </a:r>
          </a:p>
        </p:txBody>
      </p:sp>
      <p:sp>
        <p:nvSpPr>
          <p:cNvPr id="10" name="TextBox 9"/>
          <p:cNvSpPr txBox="1"/>
          <p:nvPr/>
        </p:nvSpPr>
        <p:spPr>
          <a:xfrm>
            <a:off x="4754880" y="1060704"/>
            <a:ext cx="3986784" cy="237744"/>
          </a:xfrm>
          <a:prstGeom prst="rect">
            <a:avLst/>
          </a:prstGeom>
          <a:noFill/>
        </p:spPr>
        <p:txBody>
          <a:bodyPr wrap="square" anchor="t" lIns="0" rIns="0" tIns="0" bIns="0">
            <a:spAutoFit/>
          </a:bodyPr>
          <a:lstStyle/>
          <a:p>
            <a:pPr algn="l"/>
            <a:r>
              <a:rPr sz="950" b="1" i="0">
                <a:solidFill>
                  <a:srgbClr val="2A5FFF"/>
                </a:solidFill>
                <a:latin typeface="Arial"/>
              </a:rPr>
              <a:t>UMA NOVA RODADA DEVE MEDIR</a:t>
            </a:r>
          </a:p>
        </p:txBody>
      </p:sp>
      <p:sp>
        <p:nvSpPr>
          <p:cNvPr id="11" name="Rounded Rectangle 10"/>
          <p:cNvSpPr/>
          <p:nvPr/>
        </p:nvSpPr>
        <p:spPr>
          <a:xfrm>
            <a:off x="4754880" y="1371600"/>
            <a:ext cx="3986784"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956048" y="1444752"/>
            <a:ext cx="3584448" cy="219456"/>
          </a:xfrm>
          <a:prstGeom prst="rect">
            <a:avLst/>
          </a:prstGeom>
          <a:noFill/>
        </p:spPr>
        <p:txBody>
          <a:bodyPr wrap="square" anchor="t" lIns="0" rIns="0" tIns="0" bIns="0">
            <a:spAutoFit/>
          </a:bodyPr>
          <a:lstStyle/>
          <a:p>
            <a:pPr algn="l"/>
            <a:r>
              <a:rPr sz="1200" b="1" i="0">
                <a:solidFill>
                  <a:srgbClr val="1A1A1A"/>
                </a:solidFill>
                <a:latin typeface="Arial"/>
              </a:rPr>
              <a:t>Fidelidade às fontes</a:t>
            </a:r>
          </a:p>
        </p:txBody>
      </p:sp>
      <p:sp>
        <p:nvSpPr>
          <p:cNvPr id="13" name="TextBox 12"/>
          <p:cNvSpPr txBox="1"/>
          <p:nvPr/>
        </p:nvSpPr>
        <p:spPr>
          <a:xfrm>
            <a:off x="4956048" y="1664208"/>
            <a:ext cx="3584448" cy="219456"/>
          </a:xfrm>
          <a:prstGeom prst="rect">
            <a:avLst/>
          </a:prstGeom>
          <a:noFill/>
        </p:spPr>
        <p:txBody>
          <a:bodyPr wrap="square" anchor="t" lIns="0" rIns="0" tIns="0" bIns="0">
            <a:spAutoFit/>
          </a:bodyPr>
          <a:lstStyle/>
          <a:p>
            <a:pPr algn="l"/>
            <a:r>
              <a:rPr sz="1000" b="0" i="0">
                <a:solidFill>
                  <a:srgbClr val="4A4A4A"/>
                </a:solidFill>
                <a:latin typeface="Arial"/>
              </a:rPr>
              <a:t>A resposta se sustenta no trecho citado?</a:t>
            </a:r>
          </a:p>
        </p:txBody>
      </p:sp>
      <p:sp>
        <p:nvSpPr>
          <p:cNvPr id="14" name="Rounded Rectangle 13"/>
          <p:cNvSpPr/>
          <p:nvPr/>
        </p:nvSpPr>
        <p:spPr>
          <a:xfrm>
            <a:off x="4754880" y="1993392"/>
            <a:ext cx="3986784"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956048" y="2066544"/>
            <a:ext cx="3584448" cy="219456"/>
          </a:xfrm>
          <a:prstGeom prst="rect">
            <a:avLst/>
          </a:prstGeom>
          <a:noFill/>
        </p:spPr>
        <p:txBody>
          <a:bodyPr wrap="square" anchor="t" lIns="0" rIns="0" tIns="0" bIns="0">
            <a:spAutoFit/>
          </a:bodyPr>
          <a:lstStyle/>
          <a:p>
            <a:pPr algn="l"/>
            <a:r>
              <a:rPr sz="1200" b="1" i="0">
                <a:solidFill>
                  <a:srgbClr val="1A1A1A"/>
                </a:solidFill>
                <a:latin typeface="Arial"/>
              </a:rPr>
              <a:t>Precisão numérica</a:t>
            </a:r>
          </a:p>
        </p:txBody>
      </p:sp>
      <p:sp>
        <p:nvSpPr>
          <p:cNvPr id="16" name="TextBox 15"/>
          <p:cNvSpPr txBox="1"/>
          <p:nvPr/>
        </p:nvSpPr>
        <p:spPr>
          <a:xfrm>
            <a:off x="4956048" y="2286000"/>
            <a:ext cx="3584448" cy="219456"/>
          </a:xfrm>
          <a:prstGeom prst="rect">
            <a:avLst/>
          </a:prstGeom>
          <a:noFill/>
        </p:spPr>
        <p:txBody>
          <a:bodyPr wrap="square" anchor="t" lIns="0" rIns="0" tIns="0" bIns="0">
            <a:spAutoFit/>
          </a:bodyPr>
          <a:lstStyle/>
          <a:p>
            <a:pPr algn="l"/>
            <a:r>
              <a:rPr sz="1000" b="0" i="0">
                <a:solidFill>
                  <a:srgbClr val="4A4A4A"/>
                </a:solidFill>
                <a:latin typeface="Arial"/>
              </a:rPr>
              <a:t>O valor confere com a tabela de origem?</a:t>
            </a:r>
          </a:p>
        </p:txBody>
      </p:sp>
      <p:sp>
        <p:nvSpPr>
          <p:cNvPr id="17" name="Rounded Rectangle 16"/>
          <p:cNvSpPr/>
          <p:nvPr/>
        </p:nvSpPr>
        <p:spPr>
          <a:xfrm>
            <a:off x="4754880" y="2615184"/>
            <a:ext cx="3986784"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956048" y="2688336"/>
            <a:ext cx="3584448" cy="219456"/>
          </a:xfrm>
          <a:prstGeom prst="rect">
            <a:avLst/>
          </a:prstGeom>
          <a:noFill/>
        </p:spPr>
        <p:txBody>
          <a:bodyPr wrap="square" anchor="t" lIns="0" rIns="0" tIns="0" bIns="0">
            <a:spAutoFit/>
          </a:bodyPr>
          <a:lstStyle/>
          <a:p>
            <a:pPr algn="l"/>
            <a:r>
              <a:rPr sz="1200" b="1" i="0">
                <a:solidFill>
                  <a:srgbClr val="1A1A1A"/>
                </a:solidFill>
                <a:latin typeface="Arial"/>
              </a:rPr>
              <a:t>Tempo de resposta</a:t>
            </a:r>
          </a:p>
        </p:txBody>
      </p:sp>
      <p:sp>
        <p:nvSpPr>
          <p:cNvPr id="19" name="TextBox 18"/>
          <p:cNvSpPr txBox="1"/>
          <p:nvPr/>
        </p:nvSpPr>
        <p:spPr>
          <a:xfrm>
            <a:off x="4956048" y="2907792"/>
            <a:ext cx="3584448" cy="219456"/>
          </a:xfrm>
          <a:prstGeom prst="rect">
            <a:avLst/>
          </a:prstGeom>
          <a:noFill/>
        </p:spPr>
        <p:txBody>
          <a:bodyPr wrap="square" anchor="t" lIns="0" rIns="0" tIns="0" bIns="0">
            <a:spAutoFit/>
          </a:bodyPr>
          <a:lstStyle/>
          <a:p>
            <a:pPr algn="l"/>
            <a:r>
              <a:rPr sz="1000" b="0" i="0">
                <a:solidFill>
                  <a:srgbClr val="4A4A4A"/>
                </a:solidFill>
                <a:latin typeface="Arial"/>
              </a:rPr>
              <a:t>É aceitável para uso interativo?</a:t>
            </a:r>
          </a:p>
        </p:txBody>
      </p:sp>
      <p:sp>
        <p:nvSpPr>
          <p:cNvPr id="20" name="Rounded Rectangle 19"/>
          <p:cNvSpPr/>
          <p:nvPr/>
        </p:nvSpPr>
        <p:spPr>
          <a:xfrm>
            <a:off x="4754880" y="3236976"/>
            <a:ext cx="3986784"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956048" y="3310128"/>
            <a:ext cx="3584448" cy="219456"/>
          </a:xfrm>
          <a:prstGeom prst="rect">
            <a:avLst/>
          </a:prstGeom>
          <a:noFill/>
        </p:spPr>
        <p:txBody>
          <a:bodyPr wrap="square" anchor="t" lIns="0" rIns="0" tIns="0" bIns="0">
            <a:spAutoFit/>
          </a:bodyPr>
          <a:lstStyle/>
          <a:p>
            <a:pPr algn="l"/>
            <a:r>
              <a:rPr sz="1200" b="1" i="0">
                <a:solidFill>
                  <a:srgbClr val="1A1A1A"/>
                </a:solidFill>
                <a:latin typeface="Arial"/>
              </a:rPr>
              <a:t>Recusa adequada</a:t>
            </a:r>
          </a:p>
        </p:txBody>
      </p:sp>
      <p:sp>
        <p:nvSpPr>
          <p:cNvPr id="22" name="TextBox 21"/>
          <p:cNvSpPr txBox="1"/>
          <p:nvPr/>
        </p:nvSpPr>
        <p:spPr>
          <a:xfrm>
            <a:off x="4956048" y="3529584"/>
            <a:ext cx="3584448" cy="219456"/>
          </a:xfrm>
          <a:prstGeom prst="rect">
            <a:avLst/>
          </a:prstGeom>
          <a:noFill/>
        </p:spPr>
        <p:txBody>
          <a:bodyPr wrap="square" anchor="t" lIns="0" rIns="0" tIns="0" bIns="0">
            <a:spAutoFit/>
          </a:bodyPr>
          <a:lstStyle/>
          <a:p>
            <a:pPr algn="l"/>
            <a:r>
              <a:rPr sz="1000" b="0" i="0">
                <a:solidFill>
                  <a:srgbClr val="4A4A4A"/>
                </a:solidFill>
                <a:latin typeface="Arial"/>
              </a:rPr>
              <a:t>Pergunta fora do acervo é recusada em vez de inventada?</a:t>
            </a:r>
          </a:p>
        </p:txBody>
      </p:sp>
      <p:sp>
        <p:nvSpPr>
          <p:cNvPr id="23" name="TextBox 22"/>
          <p:cNvSpPr txBox="1"/>
          <p:nvPr/>
        </p:nvSpPr>
        <p:spPr>
          <a:xfrm>
            <a:off x="402336" y="4224528"/>
            <a:ext cx="8339328" cy="292608"/>
          </a:xfrm>
          <a:prstGeom prst="rect">
            <a:avLst/>
          </a:prstGeom>
          <a:noFill/>
        </p:spPr>
        <p:txBody>
          <a:bodyPr wrap="square" anchor="t" lIns="0" rIns="0" tIns="0" bIns="0">
            <a:spAutoFit/>
          </a:bodyPr>
          <a:lstStyle/>
          <a:p>
            <a:pPr algn="l"/>
            <a:r>
              <a:rPr sz="1100" b="0" i="0">
                <a:solidFill>
                  <a:srgbClr val="4A4A4A"/>
                </a:solidFill>
                <a:latin typeface="Arial"/>
              </a:rPr>
              <a:t>Os relatórios de etapas anteriores descrevem versões anteriores do sistema: não comprovam o desempenho da versão atual.</a:t>
            </a:r>
          </a:p>
        </p:txBody>
      </p:sp>
      <p:sp>
        <p:nvSpPr>
          <p:cNvPr id="24" name="TextBox 23"/>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192024"/>
            <a:ext cx="8339328" cy="521208"/>
          </a:xfrm>
          <a:prstGeom prst="rect">
            <a:avLst/>
          </a:prstGeom>
          <a:noFill/>
        </p:spPr>
        <p:txBody>
          <a:bodyPr wrap="square" anchor="t" lIns="0" rIns="0" tIns="0" bIns="0">
            <a:spAutoFit/>
          </a:bodyPr>
          <a:lstStyle/>
          <a:p>
            <a:pPr algn="l"/>
            <a:r>
              <a:rPr sz="2400" b="1" i="0">
                <a:solidFill>
                  <a:srgbClr val="2A5FFF"/>
                </a:solidFill>
                <a:latin typeface="Calibri"/>
              </a:rPr>
              <a:t>Próxima etapa: validação com usuários</a:t>
            </a:r>
          </a:p>
        </p:txBody>
      </p:sp>
      <p:sp>
        <p:nvSpPr>
          <p:cNvPr id="3" name="Rounded Rectangle 2"/>
          <p:cNvSpPr/>
          <p:nvPr/>
        </p:nvSpPr>
        <p:spPr>
          <a:xfrm>
            <a:off x="402336" y="1097280"/>
            <a:ext cx="8339328" cy="56692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548640" y="1243584"/>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TextBox 4"/>
          <p:cNvSpPr txBox="1"/>
          <p:nvPr/>
        </p:nvSpPr>
        <p:spPr>
          <a:xfrm>
            <a:off x="548640" y="1289304"/>
            <a:ext cx="274320" cy="219456"/>
          </a:xfrm>
          <a:prstGeom prst="rect">
            <a:avLst/>
          </a:prstGeom>
          <a:noFill/>
        </p:spPr>
        <p:txBody>
          <a:bodyPr wrap="square" anchor="t" lIns="0" rIns="0" tIns="0" bIns="0">
            <a:spAutoFit/>
          </a:bodyPr>
          <a:lstStyle/>
          <a:p>
            <a:pPr algn="ctr"/>
            <a:r>
              <a:rPr sz="1100" b="1" i="0">
                <a:solidFill>
                  <a:srgbClr val="FFFFFF"/>
                </a:solidFill>
                <a:latin typeface="Arial"/>
              </a:rPr>
              <a:t>1</a:t>
            </a:r>
          </a:p>
        </p:txBody>
      </p:sp>
      <p:sp>
        <p:nvSpPr>
          <p:cNvPr id="6" name="TextBox 5"/>
          <p:cNvSpPr txBox="1"/>
          <p:nvPr/>
        </p:nvSpPr>
        <p:spPr>
          <a:xfrm>
            <a:off x="969264" y="1252728"/>
            <a:ext cx="2926080" cy="274320"/>
          </a:xfrm>
          <a:prstGeom prst="rect">
            <a:avLst/>
          </a:prstGeom>
          <a:noFill/>
        </p:spPr>
        <p:txBody>
          <a:bodyPr wrap="square" anchor="t" lIns="0" rIns="0" tIns="0" bIns="0">
            <a:spAutoFit/>
          </a:bodyPr>
          <a:lstStyle/>
          <a:p>
            <a:pPr algn="l"/>
            <a:r>
              <a:rPr sz="1300" b="1" i="0">
                <a:solidFill>
                  <a:srgbClr val="1A1A1A"/>
                </a:solidFill>
                <a:latin typeface="Arial"/>
              </a:rPr>
              <a:t>Preencher o gabarito</a:t>
            </a:r>
          </a:p>
        </p:txBody>
      </p:sp>
      <p:sp>
        <p:nvSpPr>
          <p:cNvPr id="7" name="TextBox 6"/>
          <p:cNvSpPr txBox="1"/>
          <p:nvPr/>
        </p:nvSpPr>
        <p:spPr>
          <a:xfrm>
            <a:off x="4059936" y="1197864"/>
            <a:ext cx="4535424"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Revisar as perguntas de referência e escrever as respostas esperadas, com a fonte de cada uma.</a:t>
            </a:r>
          </a:p>
        </p:txBody>
      </p:sp>
      <p:sp>
        <p:nvSpPr>
          <p:cNvPr id="8" name="Rounded Rectangle 7"/>
          <p:cNvSpPr/>
          <p:nvPr/>
        </p:nvSpPr>
        <p:spPr>
          <a:xfrm>
            <a:off x="402336" y="1719072"/>
            <a:ext cx="8339328"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548640" y="1865376"/>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548640" y="1911096"/>
            <a:ext cx="274320" cy="219456"/>
          </a:xfrm>
          <a:prstGeom prst="rect">
            <a:avLst/>
          </a:prstGeom>
          <a:noFill/>
        </p:spPr>
        <p:txBody>
          <a:bodyPr wrap="square" anchor="t" lIns="0" rIns="0" tIns="0" bIns="0">
            <a:spAutoFit/>
          </a:bodyPr>
          <a:lstStyle/>
          <a:p>
            <a:pPr algn="ctr"/>
            <a:r>
              <a:rPr sz="1100" b="1" i="0">
                <a:solidFill>
                  <a:srgbClr val="FFFFFF"/>
                </a:solidFill>
                <a:latin typeface="Arial"/>
              </a:rPr>
              <a:t>2</a:t>
            </a:r>
          </a:p>
        </p:txBody>
      </p:sp>
      <p:sp>
        <p:nvSpPr>
          <p:cNvPr id="11" name="TextBox 10"/>
          <p:cNvSpPr txBox="1"/>
          <p:nvPr/>
        </p:nvSpPr>
        <p:spPr>
          <a:xfrm>
            <a:off x="969264" y="1874520"/>
            <a:ext cx="2926080" cy="274320"/>
          </a:xfrm>
          <a:prstGeom prst="rect">
            <a:avLst/>
          </a:prstGeom>
          <a:noFill/>
        </p:spPr>
        <p:txBody>
          <a:bodyPr wrap="square" anchor="t" lIns="0" rIns="0" tIns="0" bIns="0">
            <a:spAutoFit/>
          </a:bodyPr>
          <a:lstStyle/>
          <a:p>
            <a:pPr algn="l"/>
            <a:r>
              <a:rPr sz="1300" b="1" i="0">
                <a:solidFill>
                  <a:srgbClr val="1A1A1A"/>
                </a:solidFill>
                <a:latin typeface="Arial"/>
              </a:rPr>
              <a:t>Comparação controlada</a:t>
            </a:r>
          </a:p>
        </p:txBody>
      </p:sp>
      <p:sp>
        <p:nvSpPr>
          <p:cNvPr id="12" name="TextBox 11"/>
          <p:cNvSpPr txBox="1"/>
          <p:nvPr/>
        </p:nvSpPr>
        <p:spPr>
          <a:xfrm>
            <a:off x="4059936" y="1819656"/>
            <a:ext cx="4535424"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Submeter as mesmas perguntas às diferentes estratégias de recuperação e comparar os resultados.</a:t>
            </a:r>
          </a:p>
        </p:txBody>
      </p:sp>
      <p:sp>
        <p:nvSpPr>
          <p:cNvPr id="13" name="Rounded Rectangle 12"/>
          <p:cNvSpPr/>
          <p:nvPr/>
        </p:nvSpPr>
        <p:spPr>
          <a:xfrm>
            <a:off x="402336" y="2340864"/>
            <a:ext cx="8339328" cy="56692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48640" y="2487168"/>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548640" y="2532888"/>
            <a:ext cx="274320" cy="219456"/>
          </a:xfrm>
          <a:prstGeom prst="rect">
            <a:avLst/>
          </a:prstGeom>
          <a:noFill/>
        </p:spPr>
        <p:txBody>
          <a:bodyPr wrap="square" anchor="t" lIns="0" rIns="0" tIns="0" bIns="0">
            <a:spAutoFit/>
          </a:bodyPr>
          <a:lstStyle/>
          <a:p>
            <a:pPr algn="ctr"/>
            <a:r>
              <a:rPr sz="1100" b="1" i="0">
                <a:solidFill>
                  <a:srgbClr val="FFFFFF"/>
                </a:solidFill>
                <a:latin typeface="Arial"/>
              </a:rPr>
              <a:t>3</a:t>
            </a:r>
          </a:p>
        </p:txBody>
      </p:sp>
      <p:sp>
        <p:nvSpPr>
          <p:cNvPr id="16" name="TextBox 15"/>
          <p:cNvSpPr txBox="1"/>
          <p:nvPr/>
        </p:nvSpPr>
        <p:spPr>
          <a:xfrm>
            <a:off x="969264" y="2496312"/>
            <a:ext cx="2926080" cy="274320"/>
          </a:xfrm>
          <a:prstGeom prst="rect">
            <a:avLst/>
          </a:prstGeom>
          <a:noFill/>
        </p:spPr>
        <p:txBody>
          <a:bodyPr wrap="square" anchor="t" lIns="0" rIns="0" tIns="0" bIns="0">
            <a:spAutoFit/>
          </a:bodyPr>
          <a:lstStyle/>
          <a:p>
            <a:pPr algn="l"/>
            <a:r>
              <a:rPr sz="1300" b="1" i="0">
                <a:solidFill>
                  <a:srgbClr val="1A1A1A"/>
                </a:solidFill>
                <a:latin typeface="Arial"/>
              </a:rPr>
              <a:t>Teste com usuários</a:t>
            </a:r>
          </a:p>
        </p:txBody>
      </p:sp>
      <p:sp>
        <p:nvSpPr>
          <p:cNvPr id="17" name="TextBox 16"/>
          <p:cNvSpPr txBox="1"/>
          <p:nvPr/>
        </p:nvSpPr>
        <p:spPr>
          <a:xfrm>
            <a:off x="4059936" y="2441448"/>
            <a:ext cx="4535424"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Observar utilidade percebida, clareza das fontes apresentadas e falhas recorrentes.</a:t>
            </a:r>
          </a:p>
        </p:txBody>
      </p:sp>
      <p:sp>
        <p:nvSpPr>
          <p:cNvPr id="18" name="Rounded Rectangle 17"/>
          <p:cNvSpPr/>
          <p:nvPr/>
        </p:nvSpPr>
        <p:spPr>
          <a:xfrm>
            <a:off x="402336" y="2962656"/>
            <a:ext cx="8339328" cy="566928"/>
          </a:xfrm>
          <a:prstGeom prst="roundRect">
            <a:avLst>
              <a:gd name="adj" fmla="val 5000"/>
            </a:avLst>
          </a:prstGeom>
          <a:solidFill>
            <a:srgbClr val="FFFFFF"/>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48640" y="3108960"/>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548640" y="3154680"/>
            <a:ext cx="274320" cy="219456"/>
          </a:xfrm>
          <a:prstGeom prst="rect">
            <a:avLst/>
          </a:prstGeom>
          <a:noFill/>
        </p:spPr>
        <p:txBody>
          <a:bodyPr wrap="square" anchor="t" lIns="0" rIns="0" tIns="0" bIns="0">
            <a:spAutoFit/>
          </a:bodyPr>
          <a:lstStyle/>
          <a:p>
            <a:pPr algn="ctr"/>
            <a:r>
              <a:rPr sz="1100" b="1" i="0">
                <a:solidFill>
                  <a:srgbClr val="FFFFFF"/>
                </a:solidFill>
                <a:latin typeface="Arial"/>
              </a:rPr>
              <a:t>4</a:t>
            </a:r>
          </a:p>
        </p:txBody>
      </p:sp>
      <p:sp>
        <p:nvSpPr>
          <p:cNvPr id="21" name="TextBox 20"/>
          <p:cNvSpPr txBox="1"/>
          <p:nvPr/>
        </p:nvSpPr>
        <p:spPr>
          <a:xfrm>
            <a:off x="969264" y="3118104"/>
            <a:ext cx="2926080" cy="274320"/>
          </a:xfrm>
          <a:prstGeom prst="rect">
            <a:avLst/>
          </a:prstGeom>
          <a:noFill/>
        </p:spPr>
        <p:txBody>
          <a:bodyPr wrap="square" anchor="t" lIns="0" rIns="0" tIns="0" bIns="0">
            <a:spAutoFit/>
          </a:bodyPr>
          <a:lstStyle/>
          <a:p>
            <a:pPr algn="l"/>
            <a:r>
              <a:rPr sz="1300" b="1" i="0">
                <a:solidFill>
                  <a:srgbClr val="1A1A1A"/>
                </a:solidFill>
                <a:latin typeface="Arial"/>
              </a:rPr>
              <a:t>Ajuste de desempenho</a:t>
            </a:r>
          </a:p>
        </p:txBody>
      </p:sp>
      <p:sp>
        <p:nvSpPr>
          <p:cNvPr id="22" name="TextBox 21"/>
          <p:cNvSpPr txBox="1"/>
          <p:nvPr/>
        </p:nvSpPr>
        <p:spPr>
          <a:xfrm>
            <a:off x="4059936" y="3063240"/>
            <a:ext cx="4535424"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Investigar o tempo de resposta de ponta a ponta, que hoje fica entre 40 e 46 segundos.</a:t>
            </a:r>
          </a:p>
        </p:txBody>
      </p:sp>
      <p:sp>
        <p:nvSpPr>
          <p:cNvPr id="23" name="Rounded Rectangle 22"/>
          <p:cNvSpPr/>
          <p:nvPr/>
        </p:nvSpPr>
        <p:spPr>
          <a:xfrm>
            <a:off x="402336" y="3584448"/>
            <a:ext cx="8339328" cy="566928"/>
          </a:xfrm>
          <a:prstGeom prst="roundRect">
            <a:avLst>
              <a:gd name="adj" fmla="val 5000"/>
            </a:avLst>
          </a:prstGeom>
          <a:solidFill>
            <a:srgbClr val="F2F4F8"/>
          </a:solidFill>
          <a:ln w="9525">
            <a:solidFill>
              <a:srgbClr val="D6DC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548640" y="3730752"/>
            <a:ext cx="274320" cy="274320"/>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548640" y="3776472"/>
            <a:ext cx="274320" cy="219456"/>
          </a:xfrm>
          <a:prstGeom prst="rect">
            <a:avLst/>
          </a:prstGeom>
          <a:noFill/>
        </p:spPr>
        <p:txBody>
          <a:bodyPr wrap="square" anchor="t" lIns="0" rIns="0" tIns="0" bIns="0">
            <a:spAutoFit/>
          </a:bodyPr>
          <a:lstStyle/>
          <a:p>
            <a:pPr algn="ctr"/>
            <a:r>
              <a:rPr sz="1100" b="1" i="0">
                <a:solidFill>
                  <a:srgbClr val="FFFFFF"/>
                </a:solidFill>
                <a:latin typeface="Arial"/>
              </a:rPr>
              <a:t>5</a:t>
            </a:r>
          </a:p>
        </p:txBody>
      </p:sp>
      <p:sp>
        <p:nvSpPr>
          <p:cNvPr id="26" name="TextBox 25"/>
          <p:cNvSpPr txBox="1"/>
          <p:nvPr/>
        </p:nvSpPr>
        <p:spPr>
          <a:xfrm>
            <a:off x="969264" y="3739896"/>
            <a:ext cx="2926080" cy="274320"/>
          </a:xfrm>
          <a:prstGeom prst="rect">
            <a:avLst/>
          </a:prstGeom>
          <a:noFill/>
        </p:spPr>
        <p:txBody>
          <a:bodyPr wrap="square" anchor="t" lIns="0" rIns="0" tIns="0" bIns="0">
            <a:spAutoFit/>
          </a:bodyPr>
          <a:lstStyle/>
          <a:p>
            <a:pPr algn="l"/>
            <a:r>
              <a:rPr sz="1300" b="1" i="0">
                <a:solidFill>
                  <a:srgbClr val="1A1A1A"/>
                </a:solidFill>
                <a:latin typeface="Arial"/>
              </a:rPr>
              <a:t>Concluir a exposição do modo agêntico</a:t>
            </a:r>
          </a:p>
        </p:txBody>
      </p:sp>
      <p:sp>
        <p:nvSpPr>
          <p:cNvPr id="27" name="TextBox 26"/>
          <p:cNvSpPr txBox="1"/>
          <p:nvPr/>
        </p:nvSpPr>
        <p:spPr>
          <a:xfrm>
            <a:off x="4059936" y="3685032"/>
            <a:ext cx="4535424" cy="402336"/>
          </a:xfrm>
          <a:prstGeom prst="rect">
            <a:avLst/>
          </a:prstGeom>
          <a:noFill/>
        </p:spPr>
        <p:txBody>
          <a:bodyPr wrap="square" anchor="t" lIns="0" rIns="0" tIns="0" bIns="0">
            <a:spAutoFit/>
          </a:bodyPr>
          <a:lstStyle/>
          <a:p>
            <a:pPr algn="l">
              <a:lnSpc>
                <a:spcPct val="106000"/>
              </a:lnSpc>
            </a:pPr>
            <a:r>
              <a:rPr sz="1100" b="0" i="0">
                <a:solidFill>
                  <a:srgbClr val="4A4A4A"/>
                </a:solidFill>
                <a:latin typeface="Arial"/>
              </a:rPr>
              <a:t>Fazer o segundo modo de operação responder também pelo serviço, e não apenas pela linha de comando.</a:t>
            </a:r>
          </a:p>
        </p:txBody>
      </p:sp>
      <p:sp>
        <p:nvSpPr>
          <p:cNvPr id="28" name="Rounded Rectangle 27"/>
          <p:cNvSpPr/>
          <p:nvPr/>
        </p:nvSpPr>
        <p:spPr>
          <a:xfrm>
            <a:off x="402336" y="4206240"/>
            <a:ext cx="8339328" cy="420624"/>
          </a:xfrm>
          <a:prstGeom prst="roundRect">
            <a:avLst>
              <a:gd name="adj" fmla="val 6000"/>
            </a:avLst>
          </a:prstGeom>
          <a:solidFill>
            <a:srgbClr val="D3D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85216" y="4297680"/>
            <a:ext cx="7973568" cy="256032"/>
          </a:xfrm>
          <a:prstGeom prst="rect">
            <a:avLst/>
          </a:prstGeom>
          <a:noFill/>
        </p:spPr>
        <p:txBody>
          <a:bodyPr wrap="square" anchor="t" lIns="0" rIns="0" tIns="0" bIns="0">
            <a:spAutoFit/>
          </a:bodyPr>
          <a:lstStyle/>
          <a:p>
            <a:pPr algn="l"/>
            <a:r>
              <a:rPr sz="1100" b="1" i="0">
                <a:solidFill>
                  <a:srgbClr val="1B3FA8"/>
                </a:solidFill>
                <a:latin typeface="Arial"/>
              </a:rPr>
              <a:t>O primeiro passo não depende de tecnologia nova: depende de escrever o que se espera que o sistema responda.</a:t>
            </a:r>
          </a:p>
        </p:txBody>
      </p:sp>
      <p:sp>
        <p:nvSpPr>
          <p:cNvPr id="30" name="TextBox 29"/>
          <p:cNvSpPr txBox="1"/>
          <p:nvPr/>
        </p:nvSpPr>
        <p:spPr>
          <a:xfrm>
            <a:off x="8321040" y="4800600"/>
            <a:ext cx="594360" cy="274320"/>
          </a:xfrm>
          <a:prstGeom prst="rect">
            <a:avLst/>
          </a:prstGeom>
          <a:noFill/>
        </p:spPr>
        <p:txBody>
          <a:bodyPr wrap="square" anchor="t" lIns="0" rIns="0" tIns="0" bIns="0">
            <a:spAutoFit/>
          </a:bodyPr>
          <a:lstStyle/>
          <a:p>
            <a:pPr algn="r"/>
            <a:r>
              <a:rPr sz="900" b="1" i="0">
                <a:solidFill>
                  <a:srgbClr val="595959"/>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4389120"/>
          </a:xfrm>
          <a:prstGeom prst="rect">
            <a:avLst/>
          </a:prstGeom>
          <a:solidFill>
            <a:srgbClr val="12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02336" y="475488"/>
            <a:ext cx="8339328" cy="365760"/>
          </a:xfrm>
          <a:prstGeom prst="rect">
            <a:avLst/>
          </a:prstGeom>
          <a:noFill/>
        </p:spPr>
        <p:txBody>
          <a:bodyPr wrap="square" anchor="t" lIns="0" rIns="0" tIns="0" bIns="0">
            <a:spAutoFit/>
          </a:bodyPr>
          <a:lstStyle/>
          <a:p>
            <a:pPr algn="l"/>
            <a:r>
              <a:rPr sz="1100" b="1" i="0">
                <a:solidFill>
                  <a:srgbClr val="93AFFF"/>
                </a:solidFill>
                <a:latin typeface="Arial"/>
              </a:rPr>
              <a:t>SÍNTESE</a:t>
            </a:r>
          </a:p>
        </p:txBody>
      </p:sp>
      <p:sp>
        <p:nvSpPr>
          <p:cNvPr id="4" name="TextBox 3"/>
          <p:cNvSpPr txBox="1"/>
          <p:nvPr/>
        </p:nvSpPr>
        <p:spPr>
          <a:xfrm>
            <a:off x="402336" y="804672"/>
            <a:ext cx="8339328" cy="457200"/>
          </a:xfrm>
          <a:prstGeom prst="rect">
            <a:avLst/>
          </a:prstGeom>
          <a:noFill/>
        </p:spPr>
        <p:txBody>
          <a:bodyPr wrap="square" anchor="t" lIns="0" rIns="0" tIns="0" bIns="0">
            <a:spAutoFit/>
          </a:bodyPr>
          <a:lstStyle/>
          <a:p>
            <a:pPr algn="l"/>
            <a:r>
              <a:rPr sz="2400" b="1" i="0">
                <a:solidFill>
                  <a:srgbClr val="FFFFFF"/>
                </a:solidFill>
                <a:latin typeface="Calibri"/>
              </a:rPr>
              <a:t>Três coisas para levar desta apresentação</a:t>
            </a:r>
          </a:p>
        </p:txBody>
      </p:sp>
      <p:sp>
        <p:nvSpPr>
          <p:cNvPr id="5" name="Oval 4"/>
          <p:cNvSpPr/>
          <p:nvPr/>
        </p:nvSpPr>
        <p:spPr>
          <a:xfrm>
            <a:off x="402336" y="1371600"/>
            <a:ext cx="292608" cy="29260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402336" y="1417320"/>
            <a:ext cx="292608" cy="219456"/>
          </a:xfrm>
          <a:prstGeom prst="rect">
            <a:avLst/>
          </a:prstGeom>
          <a:noFill/>
        </p:spPr>
        <p:txBody>
          <a:bodyPr wrap="square" anchor="t" lIns="0" rIns="0" tIns="0" bIns="0">
            <a:spAutoFit/>
          </a:bodyPr>
          <a:lstStyle/>
          <a:p>
            <a:pPr algn="ctr"/>
            <a:r>
              <a:rPr sz="1200" b="1" i="0">
                <a:solidFill>
                  <a:srgbClr val="FFFFFF"/>
                </a:solidFill>
                <a:latin typeface="Arial"/>
              </a:rPr>
              <a:t>1</a:t>
            </a:r>
          </a:p>
        </p:txBody>
      </p:sp>
      <p:sp>
        <p:nvSpPr>
          <p:cNvPr id="7" name="TextBox 6"/>
          <p:cNvSpPr txBox="1"/>
          <p:nvPr/>
        </p:nvSpPr>
        <p:spPr>
          <a:xfrm>
            <a:off x="896112" y="1344168"/>
            <a:ext cx="7498080" cy="292608"/>
          </a:xfrm>
          <a:prstGeom prst="rect">
            <a:avLst/>
          </a:prstGeom>
          <a:noFill/>
        </p:spPr>
        <p:txBody>
          <a:bodyPr wrap="square" anchor="t" lIns="0" rIns="0" tIns="0" bIns="0">
            <a:spAutoFit/>
          </a:bodyPr>
          <a:lstStyle/>
          <a:p>
            <a:pPr algn="l"/>
            <a:r>
              <a:rPr sz="1600" b="1" i="0">
                <a:solidFill>
                  <a:srgbClr val="FFFFFF"/>
                </a:solidFill>
                <a:latin typeface="Arial"/>
              </a:rPr>
              <a:t>O método resolve um problema real</a:t>
            </a:r>
          </a:p>
        </p:txBody>
      </p:sp>
      <p:sp>
        <p:nvSpPr>
          <p:cNvPr id="8" name="TextBox 7"/>
          <p:cNvSpPr txBox="1"/>
          <p:nvPr/>
        </p:nvSpPr>
        <p:spPr>
          <a:xfrm>
            <a:off x="896112" y="1673352"/>
            <a:ext cx="7498080" cy="475488"/>
          </a:xfrm>
          <a:prstGeom prst="rect">
            <a:avLst/>
          </a:prstGeom>
          <a:noFill/>
        </p:spPr>
        <p:txBody>
          <a:bodyPr wrap="square" anchor="t" lIns="0" rIns="0" tIns="0" bIns="0">
            <a:spAutoFit/>
          </a:bodyPr>
          <a:lstStyle/>
          <a:p>
            <a:pPr algn="l">
              <a:lnSpc>
                <a:spcPct val="112000"/>
              </a:lnSpc>
            </a:pPr>
            <a:r>
              <a:rPr sz="1150" b="0" i="0">
                <a:solidFill>
                  <a:srgbClr val="D3DFFF"/>
                </a:solidFill>
                <a:latin typeface="Arial"/>
              </a:rPr>
              <a:t>RAG permite consultar documentos oficiais em linguagem natural preservando a fonte — e sem retreinar o modelo a cada atualização do acervo.</a:t>
            </a:r>
          </a:p>
        </p:txBody>
      </p:sp>
      <p:sp>
        <p:nvSpPr>
          <p:cNvPr id="9" name="Oval 8"/>
          <p:cNvSpPr/>
          <p:nvPr/>
        </p:nvSpPr>
        <p:spPr>
          <a:xfrm>
            <a:off x="402336" y="2249424"/>
            <a:ext cx="292608" cy="29260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402336" y="2295144"/>
            <a:ext cx="292608" cy="219456"/>
          </a:xfrm>
          <a:prstGeom prst="rect">
            <a:avLst/>
          </a:prstGeom>
          <a:noFill/>
        </p:spPr>
        <p:txBody>
          <a:bodyPr wrap="square" anchor="t" lIns="0" rIns="0" tIns="0" bIns="0">
            <a:spAutoFit/>
          </a:bodyPr>
          <a:lstStyle/>
          <a:p>
            <a:pPr algn="ctr"/>
            <a:r>
              <a:rPr sz="1200" b="1" i="0">
                <a:solidFill>
                  <a:srgbClr val="FFFFFF"/>
                </a:solidFill>
                <a:latin typeface="Arial"/>
              </a:rPr>
              <a:t>2</a:t>
            </a:r>
          </a:p>
        </p:txBody>
      </p:sp>
      <p:sp>
        <p:nvSpPr>
          <p:cNvPr id="11" name="TextBox 10"/>
          <p:cNvSpPr txBox="1"/>
          <p:nvPr/>
        </p:nvSpPr>
        <p:spPr>
          <a:xfrm>
            <a:off x="896112" y="2221992"/>
            <a:ext cx="7498080" cy="292608"/>
          </a:xfrm>
          <a:prstGeom prst="rect">
            <a:avLst/>
          </a:prstGeom>
          <a:noFill/>
        </p:spPr>
        <p:txBody>
          <a:bodyPr wrap="square" anchor="t" lIns="0" rIns="0" tIns="0" bIns="0">
            <a:spAutoFit/>
          </a:bodyPr>
          <a:lstStyle/>
          <a:p>
            <a:pPr algn="l"/>
            <a:r>
              <a:rPr sz="1600" b="1" i="0">
                <a:solidFill>
                  <a:srgbClr val="FFFFFF"/>
                </a:solidFill>
                <a:latin typeface="Arial"/>
              </a:rPr>
              <a:t>O trabalho difícil está na preparação e na recuperação</a:t>
            </a:r>
          </a:p>
        </p:txBody>
      </p:sp>
      <p:sp>
        <p:nvSpPr>
          <p:cNvPr id="12" name="TextBox 11"/>
          <p:cNvSpPr txBox="1"/>
          <p:nvPr/>
        </p:nvSpPr>
        <p:spPr>
          <a:xfrm>
            <a:off x="896112" y="2551176"/>
            <a:ext cx="7498080" cy="475488"/>
          </a:xfrm>
          <a:prstGeom prst="rect">
            <a:avLst/>
          </a:prstGeom>
          <a:noFill/>
        </p:spPr>
        <p:txBody>
          <a:bodyPr wrap="square" anchor="t" lIns="0" rIns="0" tIns="0" bIns="0">
            <a:spAutoFit/>
          </a:bodyPr>
          <a:lstStyle/>
          <a:p>
            <a:pPr algn="l">
              <a:lnSpc>
                <a:spcPct val="112000"/>
              </a:lnSpc>
            </a:pPr>
            <a:r>
              <a:rPr sz="1150" b="0" i="0">
                <a:solidFill>
                  <a:srgbClr val="D3DFFF"/>
                </a:solidFill>
                <a:latin typeface="Arial"/>
              </a:rPr>
              <a:t>No acervo estatístico, a qualidade depende de separar texto, tabela e série, e de recuperar o trecho certo com o período certo.</a:t>
            </a:r>
          </a:p>
        </p:txBody>
      </p:sp>
      <p:sp>
        <p:nvSpPr>
          <p:cNvPr id="13" name="Oval 12"/>
          <p:cNvSpPr/>
          <p:nvPr/>
        </p:nvSpPr>
        <p:spPr>
          <a:xfrm>
            <a:off x="402336" y="3127248"/>
            <a:ext cx="292608" cy="292608"/>
          </a:xfrm>
          <a:prstGeom prst="ellipse">
            <a:avLst/>
          </a:prstGeom>
          <a:solidFill>
            <a:srgbClr val="2A5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402336" y="3172968"/>
            <a:ext cx="292608" cy="219456"/>
          </a:xfrm>
          <a:prstGeom prst="rect">
            <a:avLst/>
          </a:prstGeom>
          <a:noFill/>
        </p:spPr>
        <p:txBody>
          <a:bodyPr wrap="square" anchor="t" lIns="0" rIns="0" tIns="0" bIns="0">
            <a:spAutoFit/>
          </a:bodyPr>
          <a:lstStyle/>
          <a:p>
            <a:pPr algn="ctr"/>
            <a:r>
              <a:rPr sz="1200" b="1" i="0">
                <a:solidFill>
                  <a:srgbClr val="FFFFFF"/>
                </a:solidFill>
                <a:latin typeface="Arial"/>
              </a:rPr>
              <a:t>3</a:t>
            </a:r>
          </a:p>
        </p:txBody>
      </p:sp>
      <p:sp>
        <p:nvSpPr>
          <p:cNvPr id="15" name="TextBox 14"/>
          <p:cNvSpPr txBox="1"/>
          <p:nvPr/>
        </p:nvSpPr>
        <p:spPr>
          <a:xfrm>
            <a:off x="896112" y="3099816"/>
            <a:ext cx="7498080" cy="292608"/>
          </a:xfrm>
          <a:prstGeom prst="rect">
            <a:avLst/>
          </a:prstGeom>
          <a:noFill/>
        </p:spPr>
        <p:txBody>
          <a:bodyPr wrap="square" anchor="t" lIns="0" rIns="0" tIns="0" bIns="0">
            <a:spAutoFit/>
          </a:bodyPr>
          <a:lstStyle/>
          <a:p>
            <a:pPr algn="l"/>
            <a:r>
              <a:rPr sz="1600" b="1" i="0">
                <a:solidFill>
                  <a:srgbClr val="FFFFFF"/>
                </a:solidFill>
                <a:latin typeface="Arial"/>
              </a:rPr>
              <a:t>A validação é a etapa que falta</a:t>
            </a:r>
          </a:p>
        </p:txBody>
      </p:sp>
      <p:sp>
        <p:nvSpPr>
          <p:cNvPr id="16" name="TextBox 15"/>
          <p:cNvSpPr txBox="1"/>
          <p:nvPr/>
        </p:nvSpPr>
        <p:spPr>
          <a:xfrm>
            <a:off x="896112" y="3429000"/>
            <a:ext cx="7498080" cy="475488"/>
          </a:xfrm>
          <a:prstGeom prst="rect">
            <a:avLst/>
          </a:prstGeom>
          <a:noFill/>
        </p:spPr>
        <p:txBody>
          <a:bodyPr wrap="square" anchor="t" lIns="0" rIns="0" tIns="0" bIns="0">
            <a:spAutoFit/>
          </a:bodyPr>
          <a:lstStyle/>
          <a:p>
            <a:pPr algn="l">
              <a:lnSpc>
                <a:spcPct val="112000"/>
              </a:lnSpc>
            </a:pPr>
            <a:r>
              <a:rPr sz="1150" b="0" i="0">
                <a:solidFill>
                  <a:srgbClr val="D3DFFF"/>
                </a:solidFill>
                <a:latin typeface="Arial"/>
              </a:rPr>
              <a:t>A aplicação funciona e foi demonstrada, mas o gabarito das perguntas de referência ainda precisa ser preenchido para que o desempenho possa ser medido.</a:t>
            </a:r>
          </a:p>
        </p:txBody>
      </p:sp>
      <p:sp>
        <p:nvSpPr>
          <p:cNvPr id="17" name="Rectangle 16"/>
          <p:cNvSpPr/>
          <p:nvPr/>
        </p:nvSpPr>
        <p:spPr>
          <a:xfrm>
            <a:off x="402336" y="4059936"/>
            <a:ext cx="8339328" cy="10973"/>
          </a:xfrm>
          <a:prstGeom prst="rect">
            <a:avLst/>
          </a:prstGeom>
          <a:solidFill>
            <a:srgbClr val="3A5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2336" y="4151376"/>
            <a:ext cx="8339328" cy="237744"/>
          </a:xfrm>
          <a:prstGeom prst="rect">
            <a:avLst/>
          </a:prstGeom>
          <a:noFill/>
        </p:spPr>
        <p:txBody>
          <a:bodyPr wrap="square" anchor="t" lIns="0" rIns="0" tIns="0" bIns="0">
            <a:spAutoFit/>
          </a:bodyPr>
          <a:lstStyle/>
          <a:p>
            <a:pPr algn="l"/>
            <a:r>
              <a:rPr sz="1150" b="1" i="0">
                <a:solidFill>
                  <a:srgbClr val="FFFFFF"/>
                </a:solidFill>
                <a:latin typeface="Arial"/>
              </a:rPr>
              <a:t>Projeto RAG CCDEP  ·  Nadia — consulta aos dados de São Paulo com apoio de inteligência artificial</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SEADE INSTITUCIONAL">
      <a:dk1>
        <a:srgbClr val="000000"/>
      </a:dk1>
      <a:lt1>
        <a:srgbClr val="FFFFFF"/>
      </a:lt1>
      <a:dk2>
        <a:srgbClr val="2A5FFF"/>
      </a:dk2>
      <a:lt2>
        <a:srgbClr val="E7E6E6"/>
      </a:lt2>
      <a:accent1>
        <a:srgbClr val="2A5FFF"/>
      </a:accent1>
      <a:accent2>
        <a:srgbClr val="93AFFF"/>
      </a:accent2>
      <a:accent3>
        <a:srgbClr val="D3DFFF"/>
      </a:accent3>
      <a:accent4>
        <a:srgbClr val="C5C5C5"/>
      </a:accent4>
      <a:accent5>
        <a:srgbClr val="5B9BD5"/>
      </a:accent5>
      <a:accent6>
        <a:srgbClr val="2A5F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